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301" r:id="rId3"/>
    <p:sldId id="337" r:id="rId4"/>
    <p:sldId id="338" r:id="rId5"/>
    <p:sldId id="339" r:id="rId6"/>
    <p:sldId id="340" r:id="rId7"/>
    <p:sldId id="341" r:id="rId8"/>
    <p:sldId id="342" r:id="rId9"/>
    <p:sldId id="343" r:id="rId10"/>
    <p:sldId id="345" r:id="rId11"/>
    <p:sldId id="346" r:id="rId12"/>
    <p:sldId id="348" r:id="rId13"/>
    <p:sldId id="34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52" d="100"/>
          <a:sy n="152" d="100"/>
        </p:scale>
        <p:origin x="604" y="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A30F6A-F92D-4312-9D92-2AFB0982C5E1}" type="datetimeFigureOut">
              <a:rPr lang="en-US" smtClean="0"/>
              <a:t>3/19/2026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D64C54-CBE7-45CC-BCCC-E00971F5CF59}" type="slidenum">
              <a:rPr lang="en-US" smtClean="0"/>
              <a:t>‹#›</a:t>
            </a:fld>
            <a:endParaRPr lang="en-US"/>
          </a:p>
        </p:txBody>
      </p:sp>
    </p:spTree>
    <p:extLst>
      <p:ext uri="{BB962C8B-B14F-4D97-AF65-F5344CB8AC3E}">
        <p14:creationId xmlns:p14="http://schemas.microsoft.com/office/powerpoint/2010/main" val="21835750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single most important thing I want you to take away today: we do NOT need an entirely new security framework for AI. I know that sounds counterintuitive. AI feels new. The attacks feel new. But look at what we actually did today. When we exploited the SQL Agent, the fix was least privilege and input validation — AC-6 and SI-10 from NIST 800-53. Controls that have existed since 2005. When </a:t>
            </a:r>
            <a:r>
              <a:rPr lang="en-US" dirty="0" err="1"/>
              <a:t>EchoLeak</a:t>
            </a:r>
            <a:r>
              <a:rPr lang="en-US" dirty="0"/>
              <a:t> exfiltrated data through rendered markdown, the fix was boundary protection and output filtering — SC-7 and SI-15. These aren't AI-specific inventions. They're security fundamentals applied to a new context. The wheel exists. We just need to point it at AI. And that's exactly what's happening right now across the industry.</a:t>
            </a:r>
          </a:p>
        </p:txBody>
      </p:sp>
      <p:sp>
        <p:nvSpPr>
          <p:cNvPr id="4" name="Slide Number Placeholder 3"/>
          <p:cNvSpPr>
            <a:spLocks noGrp="1"/>
          </p:cNvSpPr>
          <p:nvPr>
            <p:ph type="sldNum" sz="quarter" idx="5"/>
          </p:nvPr>
        </p:nvSpPr>
        <p:spPr/>
        <p:txBody>
          <a:bodyPr/>
          <a:lstStyle/>
          <a:p>
            <a:fld id="{46D64C54-CBE7-45CC-BCCC-E00971F5CF59}" type="slidenum">
              <a:rPr lang="en-US" smtClean="0"/>
              <a:t>2</a:t>
            </a:fld>
            <a:endParaRPr lang="en-US"/>
          </a:p>
        </p:txBody>
      </p:sp>
    </p:spTree>
    <p:extLst>
      <p:ext uri="{BB962C8B-B14F-4D97-AF65-F5344CB8AC3E}">
        <p14:creationId xmlns:p14="http://schemas.microsoft.com/office/powerpoint/2010/main" val="33933478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mapped every attack in this workshop to 800-53 controls — you saw the tables at the end of each module. That wasn't an exercise. That was me showing you that the infrastructure to secure AI already exists in the compliance framework most of you are already audited against. But NIST isn't stopping there. In December 2025, they released the preliminary draft of the Cyber AI Profile — NIST IR 8596. This is huge. It takes the Cybersecurity Framework 2.0 and extends it specifically for AI, organized around three focus areas: Securing AI systems, using AI for cyber defense, and thwarting adversarial AI attacks. They also released IR 8605 — Control Overlays specifically for securing AI systems, which maps directly to 800-53 controls. And in August 2025, 800-53 itself got Release 5.2.0 with new controls that address secure patches and AI-related supply chain concerns. The message from NIST is clear: don't build a new house. Renovate the one you're in.</a:t>
            </a:r>
          </a:p>
        </p:txBody>
      </p:sp>
      <p:sp>
        <p:nvSpPr>
          <p:cNvPr id="4" name="Slide Number Placeholder 3"/>
          <p:cNvSpPr>
            <a:spLocks noGrp="1"/>
          </p:cNvSpPr>
          <p:nvPr>
            <p:ph type="sldNum" sz="quarter" idx="5"/>
          </p:nvPr>
        </p:nvSpPr>
        <p:spPr/>
        <p:txBody>
          <a:bodyPr/>
          <a:lstStyle/>
          <a:p>
            <a:fld id="{46D64C54-CBE7-45CC-BCCC-E00971F5CF59}" type="slidenum">
              <a:rPr lang="en-US" smtClean="0"/>
              <a:t>3</a:t>
            </a:fld>
            <a:endParaRPr lang="en-US"/>
          </a:p>
        </p:txBody>
      </p:sp>
    </p:spTree>
    <p:extLst>
      <p:ext uri="{BB962C8B-B14F-4D97-AF65-F5344CB8AC3E}">
        <p14:creationId xmlns:p14="http://schemas.microsoft.com/office/powerpoint/2010/main" val="36145192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you through how these frameworks actually fit together, because it looks overwhelming until you realize they're all doing different jobs. NIST AI RMF 1.0, released January 2023, is the strategic layer. Four functions: Govern, Map, Measure, Manage. It's how you build an AI risk culture. It's voluntary, flexible, and it's being revised right now. NIST 800-53 and the new Cyber AI Profile are the technical controls layer. This is where the rubber meets the road — what you actually implement. OWASP Top 10 for LLMs, updated for 2025, is your vulnerability awareness layer. Prompt injection is still number one. The 2025 version added Vector and Embedding Weaknesses and System Prompt Leakage. Everything we attacked today is on that list. MITRE ATLAS is your adversary intelligence layer. Think of it as ATT&amp;CK for AI — 15 tactics, 66 techniques, and they just added 14 new techniques in early 2026 specifically for agentic AI threats. ISO 42001 is for organizations that want a certifiable AI management system. And the EU AI Act is the regulatory hammer if you operate in Europe. Here's the key: NIST published crosswalks between all of these. They map to each other. You pick the ones relevant to your context, and they stack.</a:t>
            </a:r>
          </a:p>
        </p:txBody>
      </p:sp>
      <p:sp>
        <p:nvSpPr>
          <p:cNvPr id="4" name="Slide Number Placeholder 3"/>
          <p:cNvSpPr>
            <a:spLocks noGrp="1"/>
          </p:cNvSpPr>
          <p:nvPr>
            <p:ph type="sldNum" sz="quarter" idx="5"/>
          </p:nvPr>
        </p:nvSpPr>
        <p:spPr/>
        <p:txBody>
          <a:bodyPr/>
          <a:lstStyle/>
          <a:p>
            <a:fld id="{46D64C54-CBE7-45CC-BCCC-E00971F5CF59}" type="slidenum">
              <a:rPr lang="en-US" smtClean="0"/>
              <a:t>4</a:t>
            </a:fld>
            <a:endParaRPr lang="en-US"/>
          </a:p>
        </p:txBody>
      </p:sp>
    </p:spTree>
    <p:extLst>
      <p:ext uri="{BB962C8B-B14F-4D97-AF65-F5344CB8AC3E}">
        <p14:creationId xmlns:p14="http://schemas.microsoft.com/office/powerpoint/2010/main" val="41873578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6DBD6-F479-26B0-7DF2-349F6E5910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154EE3-6699-DC26-B4AC-35622F6FA9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1F2E74-DD49-D657-F7A6-2C801C27B871}"/>
              </a:ext>
            </a:extLst>
          </p:cNvPr>
          <p:cNvSpPr>
            <a:spLocks noGrp="1"/>
          </p:cNvSpPr>
          <p:nvPr>
            <p:ph type="body" idx="1"/>
          </p:nvPr>
        </p:nvSpPr>
        <p:spPr/>
        <p:txBody>
          <a:bodyPr/>
          <a:lstStyle/>
          <a:p>
            <a:r>
              <a:rPr lang="en-US" dirty="0"/>
              <a:t>Look at this list. Prompt injection — still number one. We broke every system in this workshop with some form of it. Sensitive Information Disclosure — that was </a:t>
            </a:r>
            <a:r>
              <a:rPr lang="en-US" dirty="0" err="1"/>
              <a:t>EchoLeak</a:t>
            </a:r>
            <a:r>
              <a:rPr lang="en-US" dirty="0"/>
              <a:t>. Data and Model Poisoning — we covered that. Improper Output Handling — that was the rendered markdown attack. Excessive Agency — that was the SQL Agent running UPDATE queries because nobody told it not to. System Prompt Leakage is new for 2025 — and you saw how we extracted system prompts. Vector and Embedding Weaknesses is also new — as RAG systems become standard, the vector databases backing them become attack surfaces. We executed six of these ten categories live today. This isn't theory. This is your Tuesday.</a:t>
            </a:r>
          </a:p>
        </p:txBody>
      </p:sp>
      <p:sp>
        <p:nvSpPr>
          <p:cNvPr id="4" name="Slide Number Placeholder 3">
            <a:extLst>
              <a:ext uri="{FF2B5EF4-FFF2-40B4-BE49-F238E27FC236}">
                <a16:creationId xmlns:a16="http://schemas.microsoft.com/office/drawing/2014/main" id="{12E6FAE7-5E42-154D-FADA-6A8022F0BF80}"/>
              </a:ext>
            </a:extLst>
          </p:cNvPr>
          <p:cNvSpPr>
            <a:spLocks noGrp="1"/>
          </p:cNvSpPr>
          <p:nvPr>
            <p:ph type="sldNum" sz="quarter" idx="5"/>
          </p:nvPr>
        </p:nvSpPr>
        <p:spPr/>
        <p:txBody>
          <a:bodyPr/>
          <a:lstStyle/>
          <a:p>
            <a:fld id="{46D64C54-CBE7-45CC-BCCC-E00971F5CF59}" type="slidenum">
              <a:rPr lang="en-US" smtClean="0"/>
              <a:t>5</a:t>
            </a:fld>
            <a:endParaRPr lang="en-US"/>
          </a:p>
        </p:txBody>
      </p:sp>
    </p:spTree>
    <p:extLst>
      <p:ext uri="{BB962C8B-B14F-4D97-AF65-F5344CB8AC3E}">
        <p14:creationId xmlns:p14="http://schemas.microsoft.com/office/powerpoint/2010/main" val="42563723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BFFD4-5A16-90AC-E204-7000CC276A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5056C3-CBC3-E79A-8C9E-5BE2BC3137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3E450C-D3D8-33ED-4B8F-51B0A9A63F3A}"/>
              </a:ext>
            </a:extLst>
          </p:cNvPr>
          <p:cNvSpPr>
            <a:spLocks noGrp="1"/>
          </p:cNvSpPr>
          <p:nvPr>
            <p:ph type="body" idx="1"/>
          </p:nvPr>
        </p:nvSpPr>
        <p:spPr/>
        <p:txBody>
          <a:bodyPr/>
          <a:lstStyle/>
          <a:p>
            <a:r>
              <a:rPr lang="en-US" dirty="0"/>
              <a:t>Look at this list. Prompt injection — still number one. We broke every system in this workshop with some form of it. Sensitive Information Disclosure — that was </a:t>
            </a:r>
            <a:r>
              <a:rPr lang="en-US" dirty="0" err="1"/>
              <a:t>EchoLeak</a:t>
            </a:r>
            <a:r>
              <a:rPr lang="en-US" dirty="0"/>
              <a:t>. Data and Model Poisoning — we covered that. Improper Output Handling — that was the rendered markdown attack. Excessive Agency — that was the SQL Agent running UPDATE queries because nobody told it not to. System Prompt Leakage is new for 2025 — and you saw how we extracted system prompts. Vector and Embedding Weaknesses is also new — as RAG systems become standard, the vector databases backing them become attack surfaces. We executed six of these ten categories live today. This isn't theory. This is your Tuesday.</a:t>
            </a:r>
          </a:p>
        </p:txBody>
      </p:sp>
      <p:sp>
        <p:nvSpPr>
          <p:cNvPr id="4" name="Slide Number Placeholder 3">
            <a:extLst>
              <a:ext uri="{FF2B5EF4-FFF2-40B4-BE49-F238E27FC236}">
                <a16:creationId xmlns:a16="http://schemas.microsoft.com/office/drawing/2014/main" id="{6ED98760-9C81-56C6-B3D3-874EDC525483}"/>
              </a:ext>
            </a:extLst>
          </p:cNvPr>
          <p:cNvSpPr>
            <a:spLocks noGrp="1"/>
          </p:cNvSpPr>
          <p:nvPr>
            <p:ph type="sldNum" sz="quarter" idx="5"/>
          </p:nvPr>
        </p:nvSpPr>
        <p:spPr/>
        <p:txBody>
          <a:bodyPr/>
          <a:lstStyle/>
          <a:p>
            <a:fld id="{46D64C54-CBE7-45CC-BCCC-E00971F5CF59}" type="slidenum">
              <a:rPr lang="en-US" smtClean="0"/>
              <a:t>6</a:t>
            </a:fld>
            <a:endParaRPr lang="en-US"/>
          </a:p>
        </p:txBody>
      </p:sp>
    </p:spTree>
    <p:extLst>
      <p:ext uri="{BB962C8B-B14F-4D97-AF65-F5344CB8AC3E}">
        <p14:creationId xmlns:p14="http://schemas.microsoft.com/office/powerpoint/2010/main" val="4746429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C084EB-7F33-4DB5-6F06-A4CA331735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F6D578-1775-D1D9-1D91-9D4DA936DC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ECEB8C-961E-D0C4-DBF5-80C6C4BF7C07}"/>
              </a:ext>
            </a:extLst>
          </p:cNvPr>
          <p:cNvSpPr>
            <a:spLocks noGrp="1"/>
          </p:cNvSpPr>
          <p:nvPr>
            <p:ph type="body" idx="1"/>
          </p:nvPr>
        </p:nvSpPr>
        <p:spPr/>
        <p:txBody>
          <a:bodyPr/>
          <a:lstStyle/>
          <a:p>
            <a:r>
              <a:rPr lang="en-US" dirty="0"/>
              <a:t>Let's talk tools. I'm going to give you the actual weapons you can use starting tonight. On the red team side: </a:t>
            </a:r>
            <a:r>
              <a:rPr lang="en-US" dirty="0" err="1"/>
              <a:t>Promptfoo</a:t>
            </a:r>
            <a:r>
              <a:rPr lang="en-US" dirty="0"/>
              <a:t> is the big one right now. OpenAI literally acquired them last week — March 2026. It generates thousands of context-aware attacks tailored to your specific application. It maps findings to OWASP, NIST RMF, MITRE ATLAS, and the EU AI Act. And the core tool stays open source. Garak, backed by NVIDIA, is your dedicated vulnerability scanner — 120+ probe modules, covers everything from DAN jailbreaks to encoding bypasses to training data extraction. </a:t>
            </a:r>
            <a:r>
              <a:rPr lang="en-US" dirty="0" err="1"/>
              <a:t>PyRIT</a:t>
            </a:r>
            <a:r>
              <a:rPr lang="en-US" dirty="0"/>
              <a:t> from Microsoft is great for multi-modal and multi-turn attack orchestration. On the blue team side: LLM Guard gives you runtime protection — it sits between your app and the LLM and scans both inputs and outputs. </a:t>
            </a:r>
            <a:r>
              <a:rPr lang="en-US" dirty="0" err="1"/>
              <a:t>NeMo</a:t>
            </a:r>
            <a:r>
              <a:rPr lang="en-US" dirty="0"/>
              <a:t> Guardrails from NVIDIA lets you define programmable guardrails. And if you remember our cost discussion from the SQL Agent section — classifiers as a security layer — these tools are how you build that pipeline. Every single one of these is either open source or has a free tier. You have no excuse not to start testing.</a:t>
            </a:r>
          </a:p>
        </p:txBody>
      </p:sp>
      <p:sp>
        <p:nvSpPr>
          <p:cNvPr id="4" name="Slide Number Placeholder 3">
            <a:extLst>
              <a:ext uri="{FF2B5EF4-FFF2-40B4-BE49-F238E27FC236}">
                <a16:creationId xmlns:a16="http://schemas.microsoft.com/office/drawing/2014/main" id="{042C8AC5-74C1-1967-96AA-AAA14032A712}"/>
              </a:ext>
            </a:extLst>
          </p:cNvPr>
          <p:cNvSpPr>
            <a:spLocks noGrp="1"/>
          </p:cNvSpPr>
          <p:nvPr>
            <p:ph type="sldNum" sz="quarter" idx="5"/>
          </p:nvPr>
        </p:nvSpPr>
        <p:spPr/>
        <p:txBody>
          <a:bodyPr/>
          <a:lstStyle/>
          <a:p>
            <a:fld id="{46D64C54-CBE7-45CC-BCCC-E00971F5CF59}" type="slidenum">
              <a:rPr lang="en-US" smtClean="0"/>
              <a:t>7</a:t>
            </a:fld>
            <a:endParaRPr lang="en-US"/>
          </a:p>
        </p:txBody>
      </p:sp>
    </p:spTree>
    <p:extLst>
      <p:ext uri="{BB962C8B-B14F-4D97-AF65-F5344CB8AC3E}">
        <p14:creationId xmlns:p14="http://schemas.microsoft.com/office/powerpoint/2010/main" val="960251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A1DB98-B3B6-D595-59B5-4F2A8FF921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09B9C2-41F0-5E45-3D27-CF8F3F7B75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801A85-E31D-E168-F8EF-78FCA1DB8071}"/>
              </a:ext>
            </a:extLst>
          </p:cNvPr>
          <p:cNvSpPr>
            <a:spLocks noGrp="1"/>
          </p:cNvSpPr>
          <p:nvPr>
            <p:ph type="body" idx="1"/>
          </p:nvPr>
        </p:nvSpPr>
        <p:spPr/>
        <p:txBody>
          <a:bodyPr/>
          <a:lstStyle/>
          <a:p>
            <a:r>
              <a:rPr lang="en-US" dirty="0"/>
              <a:t>Here's where we are on policy, and I'm not going to sugarcoat it — it's a mess. The US has no comprehensive federal AI law. President Trump signed an executive order in December 2025 called "Ensuring a National Policy Framework for AI." The stated goal is a "minimally burdensome national standard." In practice, it created a DOJ task force to sue states whose AI laws the administration considers too restrictive. It also threatens to pull broadband funding from states with "onerous" AI laws. Meanwhile, states aren't waiting. California and Texas laws went live January 1st. Colorado's AI Act, which requires reasonable care to prevent algorithmic discrimination, got delayed to June 2026 — partly because of this federal pressure. Over 45 states introduced AI bills last year. On the international side, the EU AI Act is phasing in, with high-risk AI obligations hitting in 2026 and 2027. Here's what this means for you as security practitioners: the regulatory ground is shifting under your feet. The frameworks — NIST, OWASP, ATLAS — are your stable ground. They're voluntary, they're technically sound, and they don't depend on which party is in the White House. Build your program on the frameworks, and you'll survive any policy earthquake.</a:t>
            </a:r>
          </a:p>
        </p:txBody>
      </p:sp>
      <p:sp>
        <p:nvSpPr>
          <p:cNvPr id="4" name="Slide Number Placeholder 3">
            <a:extLst>
              <a:ext uri="{FF2B5EF4-FFF2-40B4-BE49-F238E27FC236}">
                <a16:creationId xmlns:a16="http://schemas.microsoft.com/office/drawing/2014/main" id="{19922F53-BDC7-7D04-2FCE-A76EA87E0BC9}"/>
              </a:ext>
            </a:extLst>
          </p:cNvPr>
          <p:cNvSpPr>
            <a:spLocks noGrp="1"/>
          </p:cNvSpPr>
          <p:nvPr>
            <p:ph type="sldNum" sz="quarter" idx="5"/>
          </p:nvPr>
        </p:nvSpPr>
        <p:spPr/>
        <p:txBody>
          <a:bodyPr/>
          <a:lstStyle/>
          <a:p>
            <a:fld id="{46D64C54-CBE7-45CC-BCCC-E00971F5CF59}" type="slidenum">
              <a:rPr lang="en-US" smtClean="0"/>
              <a:t>8</a:t>
            </a:fld>
            <a:endParaRPr lang="en-US"/>
          </a:p>
        </p:txBody>
      </p:sp>
    </p:spTree>
    <p:extLst>
      <p:ext uri="{BB962C8B-B14F-4D97-AF65-F5344CB8AC3E}">
        <p14:creationId xmlns:p14="http://schemas.microsoft.com/office/powerpoint/2010/main" val="8388778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E51B1-D3D0-3EB4-9FFC-D4D11A793A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97740E-2771-6C0A-5296-B0BB5F339E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A3B667-8CC5-3FF3-2DFB-C8693C0C86F0}"/>
              </a:ext>
            </a:extLst>
          </p:cNvPr>
          <p:cNvSpPr>
            <a:spLocks noGrp="1"/>
          </p:cNvSpPr>
          <p:nvPr>
            <p:ph type="body" idx="1"/>
          </p:nvPr>
        </p:nvSpPr>
        <p:spPr/>
        <p:txBody>
          <a:bodyPr/>
          <a:lstStyle/>
          <a:p>
            <a:r>
              <a:rPr lang="en-US" dirty="0"/>
              <a:t>So what do you actually do in this chaos? Three things. First — don't wait for Congress. If you're waiting for a federal AI law to tell you what to do, you're going to be waiting a long time, and you'll be unprotected the whole time. NIST AI RMF is voluntary. 800-53 controls are well-understood. Implement them now. Second — design for the strictest standard you might face. If you build your AI governance to satisfy the EU AI Act, NIST, AND OWASP, you're covered regardless of what happens in US policy. The cost of building to a higher standard is marginal. The cost of rebuilding after a breach or a regulatory surprise is catastrophic. Third — document everything. This is the one universal truth across every framework, every regulation, every standard on this planet. If you can't prove it, it didn't happen. Log every generated query, every classifier decision, every permission denial. AU-2, AU-3, IR-4. We covered this in every single module today. It's not a coincidence.</a:t>
            </a:r>
          </a:p>
        </p:txBody>
      </p:sp>
      <p:sp>
        <p:nvSpPr>
          <p:cNvPr id="4" name="Slide Number Placeholder 3">
            <a:extLst>
              <a:ext uri="{FF2B5EF4-FFF2-40B4-BE49-F238E27FC236}">
                <a16:creationId xmlns:a16="http://schemas.microsoft.com/office/drawing/2014/main" id="{E91F4766-1E87-4CD2-57AB-D26D352DC5AC}"/>
              </a:ext>
            </a:extLst>
          </p:cNvPr>
          <p:cNvSpPr>
            <a:spLocks noGrp="1"/>
          </p:cNvSpPr>
          <p:nvPr>
            <p:ph type="sldNum" sz="quarter" idx="5"/>
          </p:nvPr>
        </p:nvSpPr>
        <p:spPr/>
        <p:txBody>
          <a:bodyPr/>
          <a:lstStyle/>
          <a:p>
            <a:fld id="{46D64C54-CBE7-45CC-BCCC-E00971F5CF59}" type="slidenum">
              <a:rPr lang="en-US" smtClean="0"/>
              <a:t>9</a:t>
            </a:fld>
            <a:endParaRPr lang="en-US"/>
          </a:p>
        </p:txBody>
      </p:sp>
    </p:spTree>
    <p:extLst>
      <p:ext uri="{BB962C8B-B14F-4D97-AF65-F5344CB8AC3E}">
        <p14:creationId xmlns:p14="http://schemas.microsoft.com/office/powerpoint/2010/main" val="4769783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E6915C-F8FF-5936-56E8-0205B016B0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F2B69-FC33-F02C-4919-7CE382D381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9CA412-89CA-DF19-8049-56E05C0A963B}"/>
              </a:ext>
            </a:extLst>
          </p:cNvPr>
          <p:cNvSpPr>
            <a:spLocks noGrp="1"/>
          </p:cNvSpPr>
          <p:nvPr>
            <p:ph type="body" idx="1"/>
          </p:nvPr>
        </p:nvSpPr>
        <p:spPr/>
        <p:txBody>
          <a:bodyPr/>
          <a:lstStyle/>
          <a:p>
            <a:r>
              <a:rPr lang="en-US" dirty="0"/>
              <a:t>So what do you actually do in this chaos? Three things. First — don't wait for Congress. If you're waiting for a federal AI law to tell you what to do, you're going to be waiting a long time, and you'll be unprotected the whole time. NIST AI RMF is voluntary. 800-53 controls are well-understood. Implement them now. Second — design for the strictest standard you might face. If you build your AI governance to satisfy the EU AI Act, NIST, AND OWASP, you're covered regardless of what happens in US policy. The cost of building to a higher standard is marginal. The cost of rebuilding after a breach or a regulatory surprise is catastrophic. Third — document everything. This is the one universal truth across every framework, every regulation, every standard on this planet. If you can't prove it, it didn't happen. Log every generated query, every classifier decision, every permission denial. AU-2, AU-3, IR-4. We covered this in every single module today. It's not a coincidence.</a:t>
            </a:r>
          </a:p>
        </p:txBody>
      </p:sp>
      <p:sp>
        <p:nvSpPr>
          <p:cNvPr id="4" name="Slide Number Placeholder 3">
            <a:extLst>
              <a:ext uri="{FF2B5EF4-FFF2-40B4-BE49-F238E27FC236}">
                <a16:creationId xmlns:a16="http://schemas.microsoft.com/office/drawing/2014/main" id="{4DA81F86-DAC8-24B3-7ED4-4CC30E011A78}"/>
              </a:ext>
            </a:extLst>
          </p:cNvPr>
          <p:cNvSpPr>
            <a:spLocks noGrp="1"/>
          </p:cNvSpPr>
          <p:nvPr>
            <p:ph type="sldNum" sz="quarter" idx="5"/>
          </p:nvPr>
        </p:nvSpPr>
        <p:spPr/>
        <p:txBody>
          <a:bodyPr/>
          <a:lstStyle/>
          <a:p>
            <a:fld id="{46D64C54-CBE7-45CC-BCCC-E00971F5CF59}" type="slidenum">
              <a:rPr lang="en-US" smtClean="0"/>
              <a:t>10</a:t>
            </a:fld>
            <a:endParaRPr lang="en-US"/>
          </a:p>
        </p:txBody>
      </p:sp>
    </p:spTree>
    <p:extLst>
      <p:ext uri="{BB962C8B-B14F-4D97-AF65-F5344CB8AC3E}">
        <p14:creationId xmlns:p14="http://schemas.microsoft.com/office/powerpoint/2010/main" val="42242446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C2D5F-6864-1073-0EEB-5238C9ECB8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E7E99A-C903-B1BE-CA77-405A2B055B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51C8FB-5F92-C13B-27EC-A78A541BBCF7}"/>
              </a:ext>
            </a:extLst>
          </p:cNvPr>
          <p:cNvSpPr>
            <a:spLocks noGrp="1"/>
          </p:cNvSpPr>
          <p:nvPr>
            <p:ph type="body" idx="1"/>
          </p:nvPr>
        </p:nvSpPr>
        <p:spPr/>
        <p:txBody>
          <a:bodyPr/>
          <a:lstStyle/>
          <a:p>
            <a:r>
              <a:rPr lang="en-US" dirty="0"/>
              <a:t>We started today by saying you didn't need any background. You came to break stuff. And you did. You injected prompts into SQL agents and watched them run unauthorized queries. You exfiltrated data through invisible image tags. You stole models. You poisoned training data. You fooled stop signs. But breaking stuff was never the point. The point was to understand the attacks so deeply that you can defend against them. And now you can. You have the frameworks: NIST AI RMF, 800-53, OWASP Top 10, MITRE ATLAS. You have the tools: </a:t>
            </a:r>
            <a:r>
              <a:rPr lang="en-US" dirty="0" err="1"/>
              <a:t>Promptfoo</a:t>
            </a:r>
            <a:r>
              <a:rPr lang="en-US" dirty="0"/>
              <a:t>, Garak, </a:t>
            </a:r>
            <a:r>
              <a:rPr lang="en-US" dirty="0" err="1"/>
              <a:t>PyRIT</a:t>
            </a:r>
            <a:r>
              <a:rPr lang="en-US" dirty="0"/>
              <a:t>, LLM Guard. You have the knowledge: every attack we ran today maps to controls that exist right now. So here's what I want you to do. Go test something — pick one AI system at your org and red team it. Go map something — take one vulnerability and map it to a NIST control and show it to your CISO. Go build something — deploy one defensive layer. Go teach someone — because you now know more about AI security than the vast majority of people in this industry. AI is moving fast. The attackers are moving fast. But after today, so are you. Thank you.</a:t>
            </a:r>
          </a:p>
        </p:txBody>
      </p:sp>
      <p:sp>
        <p:nvSpPr>
          <p:cNvPr id="4" name="Slide Number Placeholder 3">
            <a:extLst>
              <a:ext uri="{FF2B5EF4-FFF2-40B4-BE49-F238E27FC236}">
                <a16:creationId xmlns:a16="http://schemas.microsoft.com/office/drawing/2014/main" id="{A086B466-4394-3994-26B1-9286C1D4D502}"/>
              </a:ext>
            </a:extLst>
          </p:cNvPr>
          <p:cNvSpPr>
            <a:spLocks noGrp="1"/>
          </p:cNvSpPr>
          <p:nvPr>
            <p:ph type="sldNum" sz="quarter" idx="5"/>
          </p:nvPr>
        </p:nvSpPr>
        <p:spPr/>
        <p:txBody>
          <a:bodyPr/>
          <a:lstStyle/>
          <a:p>
            <a:fld id="{46D64C54-CBE7-45CC-BCCC-E00971F5CF59}" type="slidenum">
              <a:rPr lang="en-US" smtClean="0"/>
              <a:t>11</a:t>
            </a:fld>
            <a:endParaRPr lang="en-US"/>
          </a:p>
        </p:txBody>
      </p:sp>
    </p:spTree>
    <p:extLst>
      <p:ext uri="{BB962C8B-B14F-4D97-AF65-F5344CB8AC3E}">
        <p14:creationId xmlns:p14="http://schemas.microsoft.com/office/powerpoint/2010/main" val="18695313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475F9-9DA7-BFA0-B351-9E3BC51CF8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B5C877-B93A-888B-A077-86EC439316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7F2F50-5C14-5A7D-C94E-6AB93C14A4D6}"/>
              </a:ext>
            </a:extLst>
          </p:cNvPr>
          <p:cNvSpPr>
            <a:spLocks noGrp="1"/>
          </p:cNvSpPr>
          <p:nvPr>
            <p:ph type="body" idx="1"/>
          </p:nvPr>
        </p:nvSpPr>
        <p:spPr/>
        <p:txBody>
          <a:bodyPr/>
          <a:lstStyle/>
          <a:p>
            <a:r>
              <a:rPr lang="en-US" dirty="0"/>
              <a:t>We started today by saying you didn't need any background. You came to break stuff. And you did. You injected prompts into SQL agents and watched them run unauthorized queries. You exfiltrated data through invisible image tags. You stole models. You poisoned training data. You fooled stop signs. But breaking stuff was never the point. The point was to understand the attacks so deeply that you can defend against them. And now you can. You have the frameworks: NIST AI RMF, 800-53, OWASP Top 10, MITRE ATLAS. You have the tools: </a:t>
            </a:r>
            <a:r>
              <a:rPr lang="en-US" dirty="0" err="1"/>
              <a:t>Promptfoo</a:t>
            </a:r>
            <a:r>
              <a:rPr lang="en-US" dirty="0"/>
              <a:t>, Garak, </a:t>
            </a:r>
            <a:r>
              <a:rPr lang="en-US" dirty="0" err="1"/>
              <a:t>PyRIT</a:t>
            </a:r>
            <a:r>
              <a:rPr lang="en-US" dirty="0"/>
              <a:t>, LLM Guard. You have the knowledge: every attack we ran today maps to controls that exist right now. So here's what I want you to do. Go test something — pick one AI system at your org and red team it. Go map something — take one vulnerability and map it to a NIST control and show it to your CISO. Go build something — deploy one defensive layer. Go teach someone — because you now know more about AI security than the vast majority of people in this industry. AI is moving fast. The attackers are moving fast. But after today, so are you. Thank you.</a:t>
            </a:r>
          </a:p>
        </p:txBody>
      </p:sp>
      <p:sp>
        <p:nvSpPr>
          <p:cNvPr id="4" name="Slide Number Placeholder 3">
            <a:extLst>
              <a:ext uri="{FF2B5EF4-FFF2-40B4-BE49-F238E27FC236}">
                <a16:creationId xmlns:a16="http://schemas.microsoft.com/office/drawing/2014/main" id="{C51C7ECA-AC36-CB6A-2795-3BCDE74ED580}"/>
              </a:ext>
            </a:extLst>
          </p:cNvPr>
          <p:cNvSpPr>
            <a:spLocks noGrp="1"/>
          </p:cNvSpPr>
          <p:nvPr>
            <p:ph type="sldNum" sz="quarter" idx="5"/>
          </p:nvPr>
        </p:nvSpPr>
        <p:spPr/>
        <p:txBody>
          <a:bodyPr/>
          <a:lstStyle/>
          <a:p>
            <a:fld id="{46D64C54-CBE7-45CC-BCCC-E00971F5CF59}" type="slidenum">
              <a:rPr lang="en-US" smtClean="0"/>
              <a:t>12</a:t>
            </a:fld>
            <a:endParaRPr lang="en-US"/>
          </a:p>
        </p:txBody>
      </p:sp>
    </p:spTree>
    <p:extLst>
      <p:ext uri="{BB962C8B-B14F-4D97-AF65-F5344CB8AC3E}">
        <p14:creationId xmlns:p14="http://schemas.microsoft.com/office/powerpoint/2010/main" val="29484118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11955-FBB0-7B2B-408B-20B32E299D1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B0B31AB-96D0-DDD9-596F-B956D722A4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66DC75A-DA62-C02E-8EC5-1EDF2496C86D}"/>
              </a:ext>
            </a:extLst>
          </p:cNvPr>
          <p:cNvSpPr>
            <a:spLocks noGrp="1"/>
          </p:cNvSpPr>
          <p:nvPr>
            <p:ph type="dt" sz="half" idx="10"/>
          </p:nvPr>
        </p:nvSpPr>
        <p:spPr/>
        <p:txBody>
          <a:bodyPr/>
          <a:lstStyle/>
          <a:p>
            <a:fld id="{9A0B646E-4CF0-4FEE-AD28-2B93B80C8AE0}" type="datetimeFigureOut">
              <a:rPr lang="en-US" smtClean="0"/>
              <a:t>3/19/2026</a:t>
            </a:fld>
            <a:endParaRPr lang="en-US"/>
          </a:p>
        </p:txBody>
      </p:sp>
      <p:sp>
        <p:nvSpPr>
          <p:cNvPr id="5" name="Footer Placeholder 4">
            <a:extLst>
              <a:ext uri="{FF2B5EF4-FFF2-40B4-BE49-F238E27FC236}">
                <a16:creationId xmlns:a16="http://schemas.microsoft.com/office/drawing/2014/main" id="{1F7AE3F7-9668-CE93-C1D9-E88054559D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385BC9-B4A2-D7A9-D368-3E3D197274B3}"/>
              </a:ext>
            </a:extLst>
          </p:cNvPr>
          <p:cNvSpPr>
            <a:spLocks noGrp="1"/>
          </p:cNvSpPr>
          <p:nvPr>
            <p:ph type="sldNum" sz="quarter" idx="12"/>
          </p:nvPr>
        </p:nvSpPr>
        <p:spPr/>
        <p:txBody>
          <a:bodyPr/>
          <a:lstStyle/>
          <a:p>
            <a:fld id="{800F0767-D4A9-4B17-944F-28B460641AA0}" type="slidenum">
              <a:rPr lang="en-US" smtClean="0"/>
              <a:t>‹#›</a:t>
            </a:fld>
            <a:endParaRPr lang="en-US"/>
          </a:p>
        </p:txBody>
      </p:sp>
    </p:spTree>
    <p:extLst>
      <p:ext uri="{BB962C8B-B14F-4D97-AF65-F5344CB8AC3E}">
        <p14:creationId xmlns:p14="http://schemas.microsoft.com/office/powerpoint/2010/main" val="25545200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5C421-7253-952F-46F3-9563AD62685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C88F13D-BE1C-A095-1EB8-12B34B2C88A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A9DF32-50DF-E65E-6E92-0A4A5CA22EEC}"/>
              </a:ext>
            </a:extLst>
          </p:cNvPr>
          <p:cNvSpPr>
            <a:spLocks noGrp="1"/>
          </p:cNvSpPr>
          <p:nvPr>
            <p:ph type="dt" sz="half" idx="10"/>
          </p:nvPr>
        </p:nvSpPr>
        <p:spPr/>
        <p:txBody>
          <a:bodyPr/>
          <a:lstStyle/>
          <a:p>
            <a:fld id="{9A0B646E-4CF0-4FEE-AD28-2B93B80C8AE0}" type="datetimeFigureOut">
              <a:rPr lang="en-US" smtClean="0"/>
              <a:t>3/19/2026</a:t>
            </a:fld>
            <a:endParaRPr lang="en-US"/>
          </a:p>
        </p:txBody>
      </p:sp>
      <p:sp>
        <p:nvSpPr>
          <p:cNvPr id="5" name="Footer Placeholder 4">
            <a:extLst>
              <a:ext uri="{FF2B5EF4-FFF2-40B4-BE49-F238E27FC236}">
                <a16:creationId xmlns:a16="http://schemas.microsoft.com/office/drawing/2014/main" id="{3BF52F4F-BEF5-E854-33EF-0D235298B4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1F0C1F-D22E-CB0E-7ED7-D84EC9B54FA8}"/>
              </a:ext>
            </a:extLst>
          </p:cNvPr>
          <p:cNvSpPr>
            <a:spLocks noGrp="1"/>
          </p:cNvSpPr>
          <p:nvPr>
            <p:ph type="sldNum" sz="quarter" idx="12"/>
          </p:nvPr>
        </p:nvSpPr>
        <p:spPr/>
        <p:txBody>
          <a:bodyPr/>
          <a:lstStyle/>
          <a:p>
            <a:fld id="{800F0767-D4A9-4B17-944F-28B460641AA0}" type="slidenum">
              <a:rPr lang="en-US" smtClean="0"/>
              <a:t>‹#›</a:t>
            </a:fld>
            <a:endParaRPr lang="en-US"/>
          </a:p>
        </p:txBody>
      </p:sp>
    </p:spTree>
    <p:extLst>
      <p:ext uri="{BB962C8B-B14F-4D97-AF65-F5344CB8AC3E}">
        <p14:creationId xmlns:p14="http://schemas.microsoft.com/office/powerpoint/2010/main" val="32654664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BA233-8AFB-F69D-E423-977F6AA2D6B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6C332FB-682C-BDAC-0414-4DC061D15CA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8823115-DF10-8FDF-8E95-D5438CEFEE6E}"/>
              </a:ext>
            </a:extLst>
          </p:cNvPr>
          <p:cNvSpPr>
            <a:spLocks noGrp="1"/>
          </p:cNvSpPr>
          <p:nvPr>
            <p:ph type="dt" sz="half" idx="10"/>
          </p:nvPr>
        </p:nvSpPr>
        <p:spPr/>
        <p:txBody>
          <a:bodyPr/>
          <a:lstStyle/>
          <a:p>
            <a:fld id="{9A0B646E-4CF0-4FEE-AD28-2B93B80C8AE0}" type="datetimeFigureOut">
              <a:rPr lang="en-US" smtClean="0"/>
              <a:t>3/19/2026</a:t>
            </a:fld>
            <a:endParaRPr lang="en-US"/>
          </a:p>
        </p:txBody>
      </p:sp>
      <p:sp>
        <p:nvSpPr>
          <p:cNvPr id="5" name="Footer Placeholder 4">
            <a:extLst>
              <a:ext uri="{FF2B5EF4-FFF2-40B4-BE49-F238E27FC236}">
                <a16:creationId xmlns:a16="http://schemas.microsoft.com/office/drawing/2014/main" id="{15EF5F88-D289-8CA9-46F3-5FA017FB9F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4C42E9-9023-E35B-C083-8786840F98CE}"/>
              </a:ext>
            </a:extLst>
          </p:cNvPr>
          <p:cNvSpPr>
            <a:spLocks noGrp="1"/>
          </p:cNvSpPr>
          <p:nvPr>
            <p:ph type="sldNum" sz="quarter" idx="12"/>
          </p:nvPr>
        </p:nvSpPr>
        <p:spPr/>
        <p:txBody>
          <a:bodyPr/>
          <a:lstStyle/>
          <a:p>
            <a:fld id="{800F0767-D4A9-4B17-944F-28B460641AA0}" type="slidenum">
              <a:rPr lang="en-US" smtClean="0"/>
              <a:t>‹#›</a:t>
            </a:fld>
            <a:endParaRPr lang="en-US"/>
          </a:p>
        </p:txBody>
      </p:sp>
    </p:spTree>
    <p:extLst>
      <p:ext uri="{BB962C8B-B14F-4D97-AF65-F5344CB8AC3E}">
        <p14:creationId xmlns:p14="http://schemas.microsoft.com/office/powerpoint/2010/main" val="40707487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C71D9-1469-D9C4-C88B-2831B3E7737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8DB0B7A-4B10-6D51-3A68-5BC340976AD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00051C0-4C06-C105-28F9-49D7E8C8C57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718AAF1-B7BE-63FB-9223-CA3051A4F45F}"/>
              </a:ext>
            </a:extLst>
          </p:cNvPr>
          <p:cNvSpPr>
            <a:spLocks noGrp="1"/>
          </p:cNvSpPr>
          <p:nvPr>
            <p:ph type="dt" sz="half" idx="10"/>
          </p:nvPr>
        </p:nvSpPr>
        <p:spPr/>
        <p:txBody>
          <a:bodyPr/>
          <a:lstStyle/>
          <a:p>
            <a:fld id="{9A0B646E-4CF0-4FEE-AD28-2B93B80C8AE0}" type="datetimeFigureOut">
              <a:rPr lang="en-US" smtClean="0"/>
              <a:t>3/19/2026</a:t>
            </a:fld>
            <a:endParaRPr lang="en-US"/>
          </a:p>
        </p:txBody>
      </p:sp>
      <p:sp>
        <p:nvSpPr>
          <p:cNvPr id="6" name="Footer Placeholder 5">
            <a:extLst>
              <a:ext uri="{FF2B5EF4-FFF2-40B4-BE49-F238E27FC236}">
                <a16:creationId xmlns:a16="http://schemas.microsoft.com/office/drawing/2014/main" id="{215989D5-072E-6BF6-47DA-C398B64912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9E7EB3E-5EB1-79D3-D29F-C3F28FF9FB74}"/>
              </a:ext>
            </a:extLst>
          </p:cNvPr>
          <p:cNvSpPr>
            <a:spLocks noGrp="1"/>
          </p:cNvSpPr>
          <p:nvPr>
            <p:ph type="sldNum" sz="quarter" idx="12"/>
          </p:nvPr>
        </p:nvSpPr>
        <p:spPr/>
        <p:txBody>
          <a:bodyPr/>
          <a:lstStyle/>
          <a:p>
            <a:fld id="{800F0767-D4A9-4B17-944F-28B460641AA0}" type="slidenum">
              <a:rPr lang="en-US" smtClean="0"/>
              <a:t>‹#›</a:t>
            </a:fld>
            <a:endParaRPr lang="en-US"/>
          </a:p>
        </p:txBody>
      </p:sp>
    </p:spTree>
    <p:extLst>
      <p:ext uri="{BB962C8B-B14F-4D97-AF65-F5344CB8AC3E}">
        <p14:creationId xmlns:p14="http://schemas.microsoft.com/office/powerpoint/2010/main" val="6194967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B89F0-5E5A-CFFF-9B7C-D07EF57F60B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553FF94-8EE7-1238-2B9F-6843F94A750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320857-A738-0A21-2BDB-C396A19AB4B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9850C81-7FC3-AAF5-CCA7-3E773903B55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99465A4-4CBB-9D23-E4C5-6B07AE08BEB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91BDDE1-2BFD-3C32-2F31-377405CC67AF}"/>
              </a:ext>
            </a:extLst>
          </p:cNvPr>
          <p:cNvSpPr>
            <a:spLocks noGrp="1"/>
          </p:cNvSpPr>
          <p:nvPr>
            <p:ph type="dt" sz="half" idx="10"/>
          </p:nvPr>
        </p:nvSpPr>
        <p:spPr/>
        <p:txBody>
          <a:bodyPr/>
          <a:lstStyle/>
          <a:p>
            <a:fld id="{9A0B646E-4CF0-4FEE-AD28-2B93B80C8AE0}" type="datetimeFigureOut">
              <a:rPr lang="en-US" smtClean="0"/>
              <a:t>3/19/2026</a:t>
            </a:fld>
            <a:endParaRPr lang="en-US"/>
          </a:p>
        </p:txBody>
      </p:sp>
      <p:sp>
        <p:nvSpPr>
          <p:cNvPr id="8" name="Footer Placeholder 7">
            <a:extLst>
              <a:ext uri="{FF2B5EF4-FFF2-40B4-BE49-F238E27FC236}">
                <a16:creationId xmlns:a16="http://schemas.microsoft.com/office/drawing/2014/main" id="{17B6B5BC-D282-1E44-AFC5-93E89162CE5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1D71DC1-4B5C-DAD9-BE75-2B69EA8E3F72}"/>
              </a:ext>
            </a:extLst>
          </p:cNvPr>
          <p:cNvSpPr>
            <a:spLocks noGrp="1"/>
          </p:cNvSpPr>
          <p:nvPr>
            <p:ph type="sldNum" sz="quarter" idx="12"/>
          </p:nvPr>
        </p:nvSpPr>
        <p:spPr/>
        <p:txBody>
          <a:bodyPr/>
          <a:lstStyle/>
          <a:p>
            <a:fld id="{800F0767-D4A9-4B17-944F-28B460641AA0}" type="slidenum">
              <a:rPr lang="en-US" smtClean="0"/>
              <a:t>‹#›</a:t>
            </a:fld>
            <a:endParaRPr lang="en-US"/>
          </a:p>
        </p:txBody>
      </p:sp>
    </p:spTree>
    <p:extLst>
      <p:ext uri="{BB962C8B-B14F-4D97-AF65-F5344CB8AC3E}">
        <p14:creationId xmlns:p14="http://schemas.microsoft.com/office/powerpoint/2010/main" val="40859416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99F42-0443-38C2-6F2D-065C738DC16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2684F2D-814A-523D-4B9F-E223D9D3D99E}"/>
              </a:ext>
            </a:extLst>
          </p:cNvPr>
          <p:cNvSpPr>
            <a:spLocks noGrp="1"/>
          </p:cNvSpPr>
          <p:nvPr>
            <p:ph type="dt" sz="half" idx="10"/>
          </p:nvPr>
        </p:nvSpPr>
        <p:spPr/>
        <p:txBody>
          <a:bodyPr/>
          <a:lstStyle/>
          <a:p>
            <a:fld id="{9A0B646E-4CF0-4FEE-AD28-2B93B80C8AE0}" type="datetimeFigureOut">
              <a:rPr lang="en-US" smtClean="0"/>
              <a:t>3/19/2026</a:t>
            </a:fld>
            <a:endParaRPr lang="en-US"/>
          </a:p>
        </p:txBody>
      </p:sp>
      <p:sp>
        <p:nvSpPr>
          <p:cNvPr id="4" name="Footer Placeholder 3">
            <a:extLst>
              <a:ext uri="{FF2B5EF4-FFF2-40B4-BE49-F238E27FC236}">
                <a16:creationId xmlns:a16="http://schemas.microsoft.com/office/drawing/2014/main" id="{3EB756A9-97E4-658E-608C-624BB98B5B1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F941C59-97AB-9553-8E6A-B611BB67D06B}"/>
              </a:ext>
            </a:extLst>
          </p:cNvPr>
          <p:cNvSpPr>
            <a:spLocks noGrp="1"/>
          </p:cNvSpPr>
          <p:nvPr>
            <p:ph type="sldNum" sz="quarter" idx="12"/>
          </p:nvPr>
        </p:nvSpPr>
        <p:spPr/>
        <p:txBody>
          <a:bodyPr/>
          <a:lstStyle/>
          <a:p>
            <a:fld id="{800F0767-D4A9-4B17-944F-28B460641AA0}" type="slidenum">
              <a:rPr lang="en-US" smtClean="0"/>
              <a:t>‹#›</a:t>
            </a:fld>
            <a:endParaRPr lang="en-US"/>
          </a:p>
        </p:txBody>
      </p:sp>
    </p:spTree>
    <p:extLst>
      <p:ext uri="{BB962C8B-B14F-4D97-AF65-F5344CB8AC3E}">
        <p14:creationId xmlns:p14="http://schemas.microsoft.com/office/powerpoint/2010/main" val="7765354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9A39B3D-2BC6-AEFE-3EB1-06EECAD6F8CD}"/>
              </a:ext>
            </a:extLst>
          </p:cNvPr>
          <p:cNvSpPr>
            <a:spLocks noGrp="1"/>
          </p:cNvSpPr>
          <p:nvPr>
            <p:ph type="dt" sz="half" idx="10"/>
          </p:nvPr>
        </p:nvSpPr>
        <p:spPr/>
        <p:txBody>
          <a:bodyPr/>
          <a:lstStyle/>
          <a:p>
            <a:fld id="{9A0B646E-4CF0-4FEE-AD28-2B93B80C8AE0}" type="datetimeFigureOut">
              <a:rPr lang="en-US" smtClean="0"/>
              <a:t>3/19/2026</a:t>
            </a:fld>
            <a:endParaRPr lang="en-US"/>
          </a:p>
        </p:txBody>
      </p:sp>
      <p:sp>
        <p:nvSpPr>
          <p:cNvPr id="3" name="Footer Placeholder 2">
            <a:extLst>
              <a:ext uri="{FF2B5EF4-FFF2-40B4-BE49-F238E27FC236}">
                <a16:creationId xmlns:a16="http://schemas.microsoft.com/office/drawing/2014/main" id="{0925B37F-FA37-D736-9596-10DF93B72FA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C6B9824-3B82-AC17-D4F9-DC13985F2996}"/>
              </a:ext>
            </a:extLst>
          </p:cNvPr>
          <p:cNvSpPr>
            <a:spLocks noGrp="1"/>
          </p:cNvSpPr>
          <p:nvPr>
            <p:ph type="sldNum" sz="quarter" idx="12"/>
          </p:nvPr>
        </p:nvSpPr>
        <p:spPr/>
        <p:txBody>
          <a:bodyPr/>
          <a:lstStyle/>
          <a:p>
            <a:fld id="{800F0767-D4A9-4B17-944F-28B460641AA0}" type="slidenum">
              <a:rPr lang="en-US" smtClean="0"/>
              <a:t>‹#›</a:t>
            </a:fld>
            <a:endParaRPr lang="en-US"/>
          </a:p>
        </p:txBody>
      </p:sp>
    </p:spTree>
    <p:extLst>
      <p:ext uri="{BB962C8B-B14F-4D97-AF65-F5344CB8AC3E}">
        <p14:creationId xmlns:p14="http://schemas.microsoft.com/office/powerpoint/2010/main" val="14984749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724A5-01CD-9E6E-6D23-47A50CDA85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1C5F473-BDD9-9A17-AADE-0189868120B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BB4E1FC-4F03-E9CC-A6BA-762490C396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DADF56-9430-8811-329D-5D1C3DEA651D}"/>
              </a:ext>
            </a:extLst>
          </p:cNvPr>
          <p:cNvSpPr>
            <a:spLocks noGrp="1"/>
          </p:cNvSpPr>
          <p:nvPr>
            <p:ph type="dt" sz="half" idx="10"/>
          </p:nvPr>
        </p:nvSpPr>
        <p:spPr/>
        <p:txBody>
          <a:bodyPr/>
          <a:lstStyle/>
          <a:p>
            <a:fld id="{9A0B646E-4CF0-4FEE-AD28-2B93B80C8AE0}" type="datetimeFigureOut">
              <a:rPr lang="en-US" smtClean="0"/>
              <a:t>3/19/2026</a:t>
            </a:fld>
            <a:endParaRPr lang="en-US"/>
          </a:p>
        </p:txBody>
      </p:sp>
      <p:sp>
        <p:nvSpPr>
          <p:cNvPr id="6" name="Footer Placeholder 5">
            <a:extLst>
              <a:ext uri="{FF2B5EF4-FFF2-40B4-BE49-F238E27FC236}">
                <a16:creationId xmlns:a16="http://schemas.microsoft.com/office/drawing/2014/main" id="{A9FF3FE8-0500-9F12-CEBD-17C92FA9A48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3C7E827-4E6E-BEA7-511E-813D71B1FE8A}"/>
              </a:ext>
            </a:extLst>
          </p:cNvPr>
          <p:cNvSpPr>
            <a:spLocks noGrp="1"/>
          </p:cNvSpPr>
          <p:nvPr>
            <p:ph type="sldNum" sz="quarter" idx="12"/>
          </p:nvPr>
        </p:nvSpPr>
        <p:spPr/>
        <p:txBody>
          <a:bodyPr/>
          <a:lstStyle/>
          <a:p>
            <a:fld id="{800F0767-D4A9-4B17-944F-28B460641AA0}" type="slidenum">
              <a:rPr lang="en-US" smtClean="0"/>
              <a:t>‹#›</a:t>
            </a:fld>
            <a:endParaRPr lang="en-US"/>
          </a:p>
        </p:txBody>
      </p:sp>
    </p:spTree>
    <p:extLst>
      <p:ext uri="{BB962C8B-B14F-4D97-AF65-F5344CB8AC3E}">
        <p14:creationId xmlns:p14="http://schemas.microsoft.com/office/powerpoint/2010/main" val="35510747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43F43-D7DC-2C1D-CA77-45C7CFF50E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6E5C296-311B-9E1E-CA9B-B7D74C960B4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4E44CD4-6BC9-8DB9-6D6D-0C35AB2784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3E1273-8BC8-7B84-4917-E439F937C653}"/>
              </a:ext>
            </a:extLst>
          </p:cNvPr>
          <p:cNvSpPr>
            <a:spLocks noGrp="1"/>
          </p:cNvSpPr>
          <p:nvPr>
            <p:ph type="dt" sz="half" idx="10"/>
          </p:nvPr>
        </p:nvSpPr>
        <p:spPr/>
        <p:txBody>
          <a:bodyPr/>
          <a:lstStyle/>
          <a:p>
            <a:fld id="{9A0B646E-4CF0-4FEE-AD28-2B93B80C8AE0}" type="datetimeFigureOut">
              <a:rPr lang="en-US" smtClean="0"/>
              <a:t>3/19/2026</a:t>
            </a:fld>
            <a:endParaRPr lang="en-US"/>
          </a:p>
        </p:txBody>
      </p:sp>
      <p:sp>
        <p:nvSpPr>
          <p:cNvPr id="6" name="Footer Placeholder 5">
            <a:extLst>
              <a:ext uri="{FF2B5EF4-FFF2-40B4-BE49-F238E27FC236}">
                <a16:creationId xmlns:a16="http://schemas.microsoft.com/office/drawing/2014/main" id="{48FA597B-4F00-C570-6EE8-5225887B00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98D2CB-3BCD-82CA-4A74-942A9D97E7ED}"/>
              </a:ext>
            </a:extLst>
          </p:cNvPr>
          <p:cNvSpPr>
            <a:spLocks noGrp="1"/>
          </p:cNvSpPr>
          <p:nvPr>
            <p:ph type="sldNum" sz="quarter" idx="12"/>
          </p:nvPr>
        </p:nvSpPr>
        <p:spPr/>
        <p:txBody>
          <a:bodyPr/>
          <a:lstStyle/>
          <a:p>
            <a:fld id="{800F0767-D4A9-4B17-944F-28B460641AA0}" type="slidenum">
              <a:rPr lang="en-US" smtClean="0"/>
              <a:t>‹#›</a:t>
            </a:fld>
            <a:endParaRPr lang="en-US"/>
          </a:p>
        </p:txBody>
      </p:sp>
    </p:spTree>
    <p:extLst>
      <p:ext uri="{BB962C8B-B14F-4D97-AF65-F5344CB8AC3E}">
        <p14:creationId xmlns:p14="http://schemas.microsoft.com/office/powerpoint/2010/main" val="32265553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EBEC6-89AF-73C2-0147-2C85FB6EC3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7611129-12EF-3E4A-16A1-DF694C59F70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3FC0E2-421A-4598-FB34-C94DCA15825F}"/>
              </a:ext>
            </a:extLst>
          </p:cNvPr>
          <p:cNvSpPr>
            <a:spLocks noGrp="1"/>
          </p:cNvSpPr>
          <p:nvPr>
            <p:ph type="dt" sz="half" idx="10"/>
          </p:nvPr>
        </p:nvSpPr>
        <p:spPr/>
        <p:txBody>
          <a:bodyPr/>
          <a:lstStyle/>
          <a:p>
            <a:fld id="{9A0B646E-4CF0-4FEE-AD28-2B93B80C8AE0}" type="datetimeFigureOut">
              <a:rPr lang="en-US" smtClean="0"/>
              <a:t>3/19/2026</a:t>
            </a:fld>
            <a:endParaRPr lang="en-US"/>
          </a:p>
        </p:txBody>
      </p:sp>
      <p:sp>
        <p:nvSpPr>
          <p:cNvPr id="5" name="Footer Placeholder 4">
            <a:extLst>
              <a:ext uri="{FF2B5EF4-FFF2-40B4-BE49-F238E27FC236}">
                <a16:creationId xmlns:a16="http://schemas.microsoft.com/office/drawing/2014/main" id="{BA8EF32C-DB9E-C5DD-9BB8-CAB16E1522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AEC4FC-8C32-A671-C023-0B74E6E4E17A}"/>
              </a:ext>
            </a:extLst>
          </p:cNvPr>
          <p:cNvSpPr>
            <a:spLocks noGrp="1"/>
          </p:cNvSpPr>
          <p:nvPr>
            <p:ph type="sldNum" sz="quarter" idx="12"/>
          </p:nvPr>
        </p:nvSpPr>
        <p:spPr/>
        <p:txBody>
          <a:bodyPr/>
          <a:lstStyle/>
          <a:p>
            <a:fld id="{800F0767-D4A9-4B17-944F-28B460641AA0}" type="slidenum">
              <a:rPr lang="en-US" smtClean="0"/>
              <a:t>‹#›</a:t>
            </a:fld>
            <a:endParaRPr lang="en-US"/>
          </a:p>
        </p:txBody>
      </p:sp>
    </p:spTree>
    <p:extLst>
      <p:ext uri="{BB962C8B-B14F-4D97-AF65-F5344CB8AC3E}">
        <p14:creationId xmlns:p14="http://schemas.microsoft.com/office/powerpoint/2010/main" val="1595778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76DCD78-2985-CD96-6506-AA5624AC25F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F11F4BA-FA32-2492-539C-AD3B4A00979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501734-55D1-C8D5-508B-78486EDD54A5}"/>
              </a:ext>
            </a:extLst>
          </p:cNvPr>
          <p:cNvSpPr>
            <a:spLocks noGrp="1"/>
          </p:cNvSpPr>
          <p:nvPr>
            <p:ph type="dt" sz="half" idx="10"/>
          </p:nvPr>
        </p:nvSpPr>
        <p:spPr/>
        <p:txBody>
          <a:bodyPr/>
          <a:lstStyle/>
          <a:p>
            <a:fld id="{9A0B646E-4CF0-4FEE-AD28-2B93B80C8AE0}" type="datetimeFigureOut">
              <a:rPr lang="en-US" smtClean="0"/>
              <a:t>3/19/2026</a:t>
            </a:fld>
            <a:endParaRPr lang="en-US"/>
          </a:p>
        </p:txBody>
      </p:sp>
      <p:sp>
        <p:nvSpPr>
          <p:cNvPr id="5" name="Footer Placeholder 4">
            <a:extLst>
              <a:ext uri="{FF2B5EF4-FFF2-40B4-BE49-F238E27FC236}">
                <a16:creationId xmlns:a16="http://schemas.microsoft.com/office/drawing/2014/main" id="{BB658370-A3ED-13C1-62A2-2FD9667AF5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5A2FBA-71A4-6792-7BA1-F27E016434BD}"/>
              </a:ext>
            </a:extLst>
          </p:cNvPr>
          <p:cNvSpPr>
            <a:spLocks noGrp="1"/>
          </p:cNvSpPr>
          <p:nvPr>
            <p:ph type="sldNum" sz="quarter" idx="12"/>
          </p:nvPr>
        </p:nvSpPr>
        <p:spPr/>
        <p:txBody>
          <a:bodyPr/>
          <a:lstStyle/>
          <a:p>
            <a:fld id="{800F0767-D4A9-4B17-944F-28B460641AA0}" type="slidenum">
              <a:rPr lang="en-US" smtClean="0"/>
              <a:t>‹#›</a:t>
            </a:fld>
            <a:endParaRPr lang="en-US"/>
          </a:p>
        </p:txBody>
      </p:sp>
    </p:spTree>
    <p:extLst>
      <p:ext uri="{BB962C8B-B14F-4D97-AF65-F5344CB8AC3E}">
        <p14:creationId xmlns:p14="http://schemas.microsoft.com/office/powerpoint/2010/main" val="16164104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4CD047E-691C-703B-2843-AC615B96CF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FD27DDB-2C10-E6F1-A604-E91BE486F9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46CED8-6061-2F50-5789-FAC3B75762A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A0B646E-4CF0-4FEE-AD28-2B93B80C8AE0}" type="datetimeFigureOut">
              <a:rPr lang="en-US" smtClean="0"/>
              <a:t>3/19/2026</a:t>
            </a:fld>
            <a:endParaRPr lang="en-US"/>
          </a:p>
        </p:txBody>
      </p:sp>
      <p:sp>
        <p:nvSpPr>
          <p:cNvPr id="5" name="Footer Placeholder 4">
            <a:extLst>
              <a:ext uri="{FF2B5EF4-FFF2-40B4-BE49-F238E27FC236}">
                <a16:creationId xmlns:a16="http://schemas.microsoft.com/office/drawing/2014/main" id="{DBBB7625-8C43-493F-CEB8-D5133D8BA9F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39AE166-ECFB-D880-157A-C506C6C6284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00F0767-D4A9-4B17-944F-28B460641AA0}" type="slidenum">
              <a:rPr lang="en-US" smtClean="0"/>
              <a:t>‹#›</a:t>
            </a:fld>
            <a:endParaRPr lang="en-US"/>
          </a:p>
        </p:txBody>
      </p:sp>
    </p:spTree>
    <p:extLst>
      <p:ext uri="{BB962C8B-B14F-4D97-AF65-F5344CB8AC3E}">
        <p14:creationId xmlns:p14="http://schemas.microsoft.com/office/powerpoint/2010/main" val="22787107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70600-2704-58E3-0FAB-8B57F975A574}"/>
              </a:ext>
            </a:extLst>
          </p:cNvPr>
          <p:cNvSpPr>
            <a:spLocks noGrp="1"/>
          </p:cNvSpPr>
          <p:nvPr>
            <p:ph type="ctrTitle"/>
          </p:nvPr>
        </p:nvSpPr>
        <p:spPr>
          <a:xfrm>
            <a:off x="1524000" y="1078321"/>
            <a:ext cx="9144000" cy="2350679"/>
          </a:xfrm>
        </p:spPr>
        <p:txBody>
          <a:bodyPr>
            <a:normAutofit/>
          </a:bodyPr>
          <a:lstStyle/>
          <a:p>
            <a:r>
              <a:rPr lang="en-US" dirty="0"/>
              <a:t>Tools, Frameworks &amp; Resources</a:t>
            </a:r>
            <a:br>
              <a:rPr lang="en-US" b="1" dirty="0"/>
            </a:br>
            <a:r>
              <a:rPr lang="en-US" sz="2000" dirty="0"/>
              <a:t>You Broke It. Now What?</a:t>
            </a:r>
            <a:endParaRPr lang="en-US" dirty="0"/>
          </a:p>
        </p:txBody>
      </p:sp>
      <p:sp>
        <p:nvSpPr>
          <p:cNvPr id="3" name="Subtitle 2">
            <a:extLst>
              <a:ext uri="{FF2B5EF4-FFF2-40B4-BE49-F238E27FC236}">
                <a16:creationId xmlns:a16="http://schemas.microsoft.com/office/drawing/2014/main" id="{58A80D06-597A-7F6D-2364-9065A1CDB736}"/>
              </a:ext>
            </a:extLst>
          </p:cNvPr>
          <p:cNvSpPr>
            <a:spLocks noGrp="1"/>
          </p:cNvSpPr>
          <p:nvPr>
            <p:ph type="subTitle" idx="1"/>
          </p:nvPr>
        </p:nvSpPr>
        <p:spPr>
          <a:xfrm>
            <a:off x="1524000" y="3602038"/>
            <a:ext cx="9144000" cy="953337"/>
          </a:xfrm>
        </p:spPr>
        <p:txBody>
          <a:bodyPr/>
          <a:lstStyle/>
          <a:p>
            <a:r>
              <a:rPr lang="en-US" dirty="0"/>
              <a:t>Pavan Reddy</a:t>
            </a:r>
          </a:p>
          <a:p>
            <a:r>
              <a:rPr lang="en-US" sz="1600" dirty="0"/>
              <a:t>Principal Developer, Automata</a:t>
            </a:r>
          </a:p>
        </p:txBody>
      </p:sp>
    </p:spTree>
    <p:extLst>
      <p:ext uri="{BB962C8B-B14F-4D97-AF65-F5344CB8AC3E}">
        <p14:creationId xmlns:p14="http://schemas.microsoft.com/office/powerpoint/2010/main" val="18476506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CE0899-2718-9F2F-50D7-97552CDA14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414500-54D2-E668-EEEF-BDEDEBEEEE36}"/>
              </a:ext>
            </a:extLst>
          </p:cNvPr>
          <p:cNvSpPr>
            <a:spLocks noGrp="1"/>
          </p:cNvSpPr>
          <p:nvPr>
            <p:ph type="title"/>
          </p:nvPr>
        </p:nvSpPr>
        <p:spPr>
          <a:xfrm>
            <a:off x="838200" y="363825"/>
            <a:ext cx="10515600" cy="1325563"/>
          </a:xfrm>
        </p:spPr>
        <p:txBody>
          <a:bodyPr/>
          <a:lstStyle/>
          <a:p>
            <a:r>
              <a:rPr lang="en-US" dirty="0"/>
              <a:t>The Good News</a:t>
            </a:r>
          </a:p>
        </p:txBody>
      </p:sp>
      <p:sp>
        <p:nvSpPr>
          <p:cNvPr id="3" name="TextBox 2">
            <a:extLst>
              <a:ext uri="{FF2B5EF4-FFF2-40B4-BE49-F238E27FC236}">
                <a16:creationId xmlns:a16="http://schemas.microsoft.com/office/drawing/2014/main" id="{29387CAD-73DE-23AC-1A8D-90078A8A9AC3}"/>
              </a:ext>
            </a:extLst>
          </p:cNvPr>
          <p:cNvSpPr txBox="1"/>
          <p:nvPr/>
        </p:nvSpPr>
        <p:spPr>
          <a:xfrm>
            <a:off x="838200" y="1364568"/>
            <a:ext cx="9245367" cy="400110"/>
          </a:xfrm>
          <a:prstGeom prst="rect">
            <a:avLst/>
          </a:prstGeom>
          <a:noFill/>
        </p:spPr>
        <p:txBody>
          <a:bodyPr wrap="square">
            <a:spAutoFit/>
          </a:bodyPr>
          <a:lstStyle/>
          <a:p>
            <a:r>
              <a:rPr lang="en-US" sz="2000" dirty="0"/>
              <a:t>You Don't Need to Reinvent the Wheel</a:t>
            </a:r>
          </a:p>
        </p:txBody>
      </p:sp>
      <p:sp>
        <p:nvSpPr>
          <p:cNvPr id="4" name="TextBox 3">
            <a:extLst>
              <a:ext uri="{FF2B5EF4-FFF2-40B4-BE49-F238E27FC236}">
                <a16:creationId xmlns:a16="http://schemas.microsoft.com/office/drawing/2014/main" id="{1769CD08-BE76-A201-0844-48E16E22AE91}"/>
              </a:ext>
            </a:extLst>
          </p:cNvPr>
          <p:cNvSpPr txBox="1"/>
          <p:nvPr/>
        </p:nvSpPr>
        <p:spPr>
          <a:xfrm>
            <a:off x="838200" y="1882335"/>
            <a:ext cx="9245367" cy="400110"/>
          </a:xfrm>
          <a:prstGeom prst="rect">
            <a:avLst/>
          </a:prstGeom>
          <a:noFill/>
        </p:spPr>
        <p:txBody>
          <a:bodyPr wrap="square">
            <a:spAutoFit/>
          </a:bodyPr>
          <a:lstStyle/>
          <a:p>
            <a:r>
              <a:rPr lang="en-US" sz="2000" dirty="0"/>
              <a:t>Every vulnerability we exploited today already maps to an existing security control.</a:t>
            </a:r>
          </a:p>
        </p:txBody>
      </p:sp>
      <p:graphicFrame>
        <p:nvGraphicFramePr>
          <p:cNvPr id="15" name="Table 14">
            <a:extLst>
              <a:ext uri="{FF2B5EF4-FFF2-40B4-BE49-F238E27FC236}">
                <a16:creationId xmlns:a16="http://schemas.microsoft.com/office/drawing/2014/main" id="{C4A8F2FB-4157-41E6-5EFB-B62802CF2640}"/>
              </a:ext>
            </a:extLst>
          </p:cNvPr>
          <p:cNvGraphicFramePr>
            <a:graphicFrameLocks noGrp="1"/>
          </p:cNvGraphicFramePr>
          <p:nvPr>
            <p:extLst>
              <p:ext uri="{D42A27DB-BD31-4B8C-83A1-F6EECF244321}">
                <p14:modId xmlns:p14="http://schemas.microsoft.com/office/powerpoint/2010/main" val="1348382694"/>
              </p:ext>
            </p:extLst>
          </p:nvPr>
        </p:nvGraphicFramePr>
        <p:xfrm>
          <a:off x="838199" y="2729319"/>
          <a:ext cx="8514257" cy="1483360"/>
        </p:xfrm>
        <a:graphic>
          <a:graphicData uri="http://schemas.openxmlformats.org/drawingml/2006/table">
            <a:tbl>
              <a:tblPr firstRow="1" bandRow="1">
                <a:tableStyleId>{5C22544A-7EE6-4342-B048-85BDC9FD1C3A}</a:tableStyleId>
              </a:tblPr>
              <a:tblGrid>
                <a:gridCol w="3302177">
                  <a:extLst>
                    <a:ext uri="{9D8B030D-6E8A-4147-A177-3AD203B41FA5}">
                      <a16:colId xmlns:a16="http://schemas.microsoft.com/office/drawing/2014/main" val="3608949836"/>
                    </a:ext>
                  </a:extLst>
                </a:gridCol>
                <a:gridCol w="5212080">
                  <a:extLst>
                    <a:ext uri="{9D8B030D-6E8A-4147-A177-3AD203B41FA5}">
                      <a16:colId xmlns:a16="http://schemas.microsoft.com/office/drawing/2014/main" val="1029234769"/>
                    </a:ext>
                  </a:extLst>
                </a:gridCol>
              </a:tblGrid>
              <a:tr h="370840">
                <a:tc>
                  <a:txBody>
                    <a:bodyPr/>
                    <a:lstStyle/>
                    <a:p>
                      <a:pPr>
                        <a:buNone/>
                      </a:pPr>
                      <a:r>
                        <a:rPr lang="en-US" dirty="0"/>
                        <a:t>What We Attacked</a:t>
                      </a:r>
                    </a:p>
                  </a:txBody>
                  <a:tcPr anchor="ctr"/>
                </a:tc>
                <a:tc>
                  <a:txBody>
                    <a:bodyPr/>
                    <a:lstStyle/>
                    <a:p>
                      <a:pPr>
                        <a:buNone/>
                      </a:pPr>
                      <a:r>
                        <a:rPr lang="en-US" dirty="0"/>
                        <a:t>What Already Exists</a:t>
                      </a:r>
                    </a:p>
                  </a:txBody>
                  <a:tcPr anchor="ctr"/>
                </a:tc>
                <a:extLst>
                  <a:ext uri="{0D108BD9-81ED-4DB2-BD59-A6C34878D82A}">
                    <a16:rowId xmlns:a16="http://schemas.microsoft.com/office/drawing/2014/main" val="2674656171"/>
                  </a:ext>
                </a:extLst>
              </a:tr>
              <a:tr h="370840">
                <a:tc>
                  <a:txBody>
                    <a:bodyPr/>
                    <a:lstStyle/>
                    <a:p>
                      <a:pPr>
                        <a:buNone/>
                      </a:pPr>
                      <a:r>
                        <a:rPr lang="en-US" dirty="0"/>
                        <a:t>Prompt Injection on SQL Agent</a:t>
                      </a:r>
                    </a:p>
                  </a:txBody>
                  <a:tcPr anchor="ctr"/>
                </a:tc>
                <a:tc>
                  <a:txBody>
                    <a:bodyPr/>
                    <a:lstStyle/>
                    <a:p>
                      <a:pPr>
                        <a:buNone/>
                      </a:pPr>
                      <a:r>
                        <a:rPr lang="it-IT" dirty="0"/>
                        <a:t>SI-10, AC-6, CM-7 (NIST 800-53)</a:t>
                      </a:r>
                    </a:p>
                  </a:txBody>
                  <a:tcPr anchor="ctr"/>
                </a:tc>
                <a:extLst>
                  <a:ext uri="{0D108BD9-81ED-4DB2-BD59-A6C34878D82A}">
                    <a16:rowId xmlns:a16="http://schemas.microsoft.com/office/drawing/2014/main" val="3008932414"/>
                  </a:ext>
                </a:extLst>
              </a:tr>
              <a:tr h="370840">
                <a:tc>
                  <a:txBody>
                    <a:bodyPr/>
                    <a:lstStyle/>
                    <a:p>
                      <a:pPr>
                        <a:buNone/>
                      </a:pPr>
                      <a:r>
                        <a:rPr lang="en-US" dirty="0" err="1"/>
                        <a:t>EchoLeak</a:t>
                      </a:r>
                      <a:r>
                        <a:rPr lang="en-US" dirty="0"/>
                        <a:t> Zero-Click Exfil</a:t>
                      </a:r>
                    </a:p>
                  </a:txBody>
                  <a:tcPr anchor="ctr"/>
                </a:tc>
                <a:tc>
                  <a:txBody>
                    <a:bodyPr/>
                    <a:lstStyle/>
                    <a:p>
                      <a:pPr>
                        <a:buNone/>
                      </a:pPr>
                      <a:r>
                        <a:rPr lang="fr-FR" dirty="0"/>
                        <a:t>SC-7, SI-15, AU-2 (NIST 800-53)</a:t>
                      </a:r>
                    </a:p>
                  </a:txBody>
                  <a:tcPr anchor="ctr"/>
                </a:tc>
                <a:extLst>
                  <a:ext uri="{0D108BD9-81ED-4DB2-BD59-A6C34878D82A}">
                    <a16:rowId xmlns:a16="http://schemas.microsoft.com/office/drawing/2014/main" val="853233380"/>
                  </a:ext>
                </a:extLst>
              </a:tr>
              <a:tr h="370840">
                <a:tc>
                  <a:txBody>
                    <a:bodyPr/>
                    <a:lstStyle/>
                    <a:p>
                      <a:pPr>
                        <a:buNone/>
                      </a:pPr>
                      <a:r>
                        <a:rPr lang="en-US" dirty="0"/>
                        <a:t>Model Theft via Distillation</a:t>
                      </a:r>
                    </a:p>
                  </a:txBody>
                  <a:tcPr anchor="ctr"/>
                </a:tc>
                <a:tc>
                  <a:txBody>
                    <a:bodyPr/>
                    <a:lstStyle/>
                    <a:p>
                      <a:pPr>
                        <a:buNone/>
                      </a:pPr>
                      <a:r>
                        <a:rPr lang="fr-FR" dirty="0"/>
                        <a:t>SA-04, AC-3, AU-3 (NIST 800-53)</a:t>
                      </a:r>
                    </a:p>
                  </a:txBody>
                  <a:tcPr anchor="ctr"/>
                </a:tc>
                <a:extLst>
                  <a:ext uri="{0D108BD9-81ED-4DB2-BD59-A6C34878D82A}">
                    <a16:rowId xmlns:a16="http://schemas.microsoft.com/office/drawing/2014/main" val="3588103339"/>
                  </a:ext>
                </a:extLst>
              </a:tr>
            </a:tbl>
          </a:graphicData>
        </a:graphic>
      </p:graphicFrame>
    </p:spTree>
    <p:extLst>
      <p:ext uri="{BB962C8B-B14F-4D97-AF65-F5344CB8AC3E}">
        <p14:creationId xmlns:p14="http://schemas.microsoft.com/office/powerpoint/2010/main" val="1042354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825F5-8204-7888-5F70-A5548C47CD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38207D-165A-A065-BD60-4943C8D11C7F}"/>
              </a:ext>
            </a:extLst>
          </p:cNvPr>
          <p:cNvSpPr>
            <a:spLocks noGrp="1"/>
          </p:cNvSpPr>
          <p:nvPr>
            <p:ph type="title"/>
          </p:nvPr>
        </p:nvSpPr>
        <p:spPr>
          <a:xfrm>
            <a:off x="838200" y="363825"/>
            <a:ext cx="10515600" cy="1325563"/>
          </a:xfrm>
        </p:spPr>
        <p:txBody>
          <a:bodyPr>
            <a:normAutofit/>
          </a:bodyPr>
          <a:lstStyle/>
          <a:p>
            <a:r>
              <a:rPr lang="en-US" sz="3600" dirty="0"/>
              <a:t>NIST 800-53: The Control Catalog You Already Know</a:t>
            </a:r>
          </a:p>
        </p:txBody>
      </p:sp>
      <p:sp>
        <p:nvSpPr>
          <p:cNvPr id="3" name="TextBox 2">
            <a:extLst>
              <a:ext uri="{FF2B5EF4-FFF2-40B4-BE49-F238E27FC236}">
                <a16:creationId xmlns:a16="http://schemas.microsoft.com/office/drawing/2014/main" id="{CF92CD49-2D13-5094-6495-2508D6DC1A73}"/>
              </a:ext>
            </a:extLst>
          </p:cNvPr>
          <p:cNvSpPr txBox="1"/>
          <p:nvPr/>
        </p:nvSpPr>
        <p:spPr>
          <a:xfrm>
            <a:off x="838200" y="1364568"/>
            <a:ext cx="9245367" cy="400110"/>
          </a:xfrm>
          <a:prstGeom prst="rect">
            <a:avLst/>
          </a:prstGeom>
          <a:noFill/>
        </p:spPr>
        <p:txBody>
          <a:bodyPr wrap="square">
            <a:spAutoFit/>
          </a:bodyPr>
          <a:lstStyle/>
          <a:p>
            <a:r>
              <a:rPr lang="en-US" sz="2000" dirty="0"/>
              <a:t>NIST SP 800-53 → AI: The Mapping Already Exists</a:t>
            </a:r>
          </a:p>
        </p:txBody>
      </p:sp>
      <p:sp>
        <p:nvSpPr>
          <p:cNvPr id="5" name="TextBox 4">
            <a:extLst>
              <a:ext uri="{FF2B5EF4-FFF2-40B4-BE49-F238E27FC236}">
                <a16:creationId xmlns:a16="http://schemas.microsoft.com/office/drawing/2014/main" id="{E3E01F3F-ADD4-1ADA-E318-5CF34C3D4390}"/>
              </a:ext>
            </a:extLst>
          </p:cNvPr>
          <p:cNvSpPr txBox="1"/>
          <p:nvPr/>
        </p:nvSpPr>
        <p:spPr>
          <a:xfrm>
            <a:off x="6506338" y="2119736"/>
            <a:ext cx="5179525" cy="338554"/>
          </a:xfrm>
          <a:prstGeom prst="rect">
            <a:avLst/>
          </a:prstGeom>
          <a:noFill/>
        </p:spPr>
        <p:txBody>
          <a:bodyPr wrap="square">
            <a:spAutoFit/>
          </a:bodyPr>
          <a:lstStyle/>
          <a:p>
            <a:r>
              <a:rPr lang="en-US" sz="1600" b="1" dirty="0"/>
              <a:t>What's New for AI:</a:t>
            </a:r>
            <a:endParaRPr lang="en-US" sz="1600" dirty="0"/>
          </a:p>
        </p:txBody>
      </p:sp>
      <p:graphicFrame>
        <p:nvGraphicFramePr>
          <p:cNvPr id="10" name="Table 9">
            <a:extLst>
              <a:ext uri="{FF2B5EF4-FFF2-40B4-BE49-F238E27FC236}">
                <a16:creationId xmlns:a16="http://schemas.microsoft.com/office/drawing/2014/main" id="{0C27CF84-5E51-EE40-DB47-B71D8BFAB932}"/>
              </a:ext>
            </a:extLst>
          </p:cNvPr>
          <p:cNvGraphicFramePr>
            <a:graphicFrameLocks noGrp="1"/>
          </p:cNvGraphicFramePr>
          <p:nvPr>
            <p:extLst>
              <p:ext uri="{D42A27DB-BD31-4B8C-83A1-F6EECF244321}">
                <p14:modId xmlns:p14="http://schemas.microsoft.com/office/powerpoint/2010/main" val="119166571"/>
              </p:ext>
            </p:extLst>
          </p:nvPr>
        </p:nvGraphicFramePr>
        <p:xfrm>
          <a:off x="756017" y="2690131"/>
          <a:ext cx="5591303" cy="2743200"/>
        </p:xfrm>
        <a:graphic>
          <a:graphicData uri="http://schemas.openxmlformats.org/drawingml/2006/table">
            <a:tbl>
              <a:tblPr firstRow="1" bandRow="1">
                <a:tableStyleId>{5C22544A-7EE6-4342-B048-85BDC9FD1C3A}</a:tableStyleId>
              </a:tblPr>
              <a:tblGrid>
                <a:gridCol w="1126220">
                  <a:extLst>
                    <a:ext uri="{9D8B030D-6E8A-4147-A177-3AD203B41FA5}">
                      <a16:colId xmlns:a16="http://schemas.microsoft.com/office/drawing/2014/main" val="3608949836"/>
                    </a:ext>
                  </a:extLst>
                </a:gridCol>
                <a:gridCol w="4465083">
                  <a:extLst>
                    <a:ext uri="{9D8B030D-6E8A-4147-A177-3AD203B41FA5}">
                      <a16:colId xmlns:a16="http://schemas.microsoft.com/office/drawing/2014/main" val="1029234769"/>
                    </a:ext>
                  </a:extLst>
                </a:gridCol>
              </a:tblGrid>
              <a:tr h="370840">
                <a:tc>
                  <a:txBody>
                    <a:bodyPr/>
                    <a:lstStyle/>
                    <a:p>
                      <a:r>
                        <a:rPr lang="en-US" sz="1400" dirty="0"/>
                        <a:t>Control</a:t>
                      </a:r>
                    </a:p>
                  </a:txBody>
                  <a:tcPr/>
                </a:tc>
                <a:tc>
                  <a:txBody>
                    <a:bodyPr/>
                    <a:lstStyle/>
                    <a:p>
                      <a:r>
                        <a:rPr lang="en-US" sz="1400" dirty="0"/>
                        <a:t>What it Covers</a:t>
                      </a:r>
                    </a:p>
                  </a:txBody>
                  <a:tcPr/>
                </a:tc>
                <a:extLst>
                  <a:ext uri="{0D108BD9-81ED-4DB2-BD59-A6C34878D82A}">
                    <a16:rowId xmlns:a16="http://schemas.microsoft.com/office/drawing/2014/main" val="2674656171"/>
                  </a:ext>
                </a:extLst>
              </a:tr>
              <a:tr h="370840">
                <a:tc>
                  <a:txBody>
                    <a:bodyPr/>
                    <a:lstStyle/>
                    <a:p>
                      <a:r>
                        <a:rPr lang="en-US" sz="1400" dirty="0"/>
                        <a:t>AC-6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Least Privilege → Agent permissions</a:t>
                      </a:r>
                    </a:p>
                  </a:txBody>
                  <a:tcPr/>
                </a:tc>
                <a:extLst>
                  <a:ext uri="{0D108BD9-81ED-4DB2-BD59-A6C34878D82A}">
                    <a16:rowId xmlns:a16="http://schemas.microsoft.com/office/drawing/2014/main" val="3008932414"/>
                  </a:ext>
                </a:extLst>
              </a:tr>
              <a:tr h="370840">
                <a:tc>
                  <a:txBody>
                    <a:bodyPr/>
                    <a:lstStyle/>
                    <a:p>
                      <a:r>
                        <a:rPr lang="en-US" sz="1400" dirty="0"/>
                        <a:t>SI-10</a:t>
                      </a:r>
                    </a:p>
                  </a:txBody>
                  <a:tcPr/>
                </a:tc>
                <a:tc>
                  <a:txBody>
                    <a:bodyPr/>
                    <a:lstStyle/>
                    <a:p>
                      <a:r>
                        <a:rPr lang="en-US" sz="1400" dirty="0"/>
                        <a:t>Input Validation → Prompt sanitization</a:t>
                      </a:r>
                    </a:p>
                  </a:txBody>
                  <a:tcPr/>
                </a:tc>
                <a:extLst>
                  <a:ext uri="{0D108BD9-81ED-4DB2-BD59-A6C34878D82A}">
                    <a16:rowId xmlns:a16="http://schemas.microsoft.com/office/drawing/2014/main" val="853233380"/>
                  </a:ext>
                </a:extLst>
              </a:tr>
              <a:tr h="370840">
                <a:tc>
                  <a:txBody>
                    <a:bodyPr/>
                    <a:lstStyle/>
                    <a:p>
                      <a:r>
                        <a:rPr lang="en-US" sz="1400" dirty="0"/>
                        <a:t>SC-7</a:t>
                      </a:r>
                    </a:p>
                  </a:txBody>
                  <a:tcPr/>
                </a:tc>
                <a:tc>
                  <a:txBody>
                    <a:bodyPr/>
                    <a:lstStyle/>
                    <a:p>
                      <a:r>
                        <a:rPr lang="en-US" sz="1400" dirty="0"/>
                        <a:t>Boundary Protection → Egress controls, classifiers</a:t>
                      </a:r>
                    </a:p>
                  </a:txBody>
                  <a:tcPr/>
                </a:tc>
                <a:extLst>
                  <a:ext uri="{0D108BD9-81ED-4DB2-BD59-A6C34878D82A}">
                    <a16:rowId xmlns:a16="http://schemas.microsoft.com/office/drawing/2014/main" val="3588103339"/>
                  </a:ext>
                </a:extLst>
              </a:tr>
              <a:tr h="370840">
                <a:tc>
                  <a:txBody>
                    <a:bodyPr/>
                    <a:lstStyle/>
                    <a:p>
                      <a:r>
                        <a:rPr lang="en-US" sz="1400" dirty="0"/>
                        <a:t>AU-2/AU-3</a:t>
                      </a:r>
                    </a:p>
                  </a:txBody>
                  <a:tcPr/>
                </a:tc>
                <a:tc>
                  <a:txBody>
                    <a:bodyPr/>
                    <a:lstStyle/>
                    <a:p>
                      <a:r>
                        <a:rPr lang="en-US" sz="1400" dirty="0"/>
                        <a:t>Audit Logging → Query &amp; decision logging</a:t>
                      </a:r>
                    </a:p>
                  </a:txBody>
                  <a:tcPr/>
                </a:tc>
                <a:extLst>
                  <a:ext uri="{0D108BD9-81ED-4DB2-BD59-A6C34878D82A}">
                    <a16:rowId xmlns:a16="http://schemas.microsoft.com/office/drawing/2014/main" val="3492477771"/>
                  </a:ext>
                </a:extLst>
              </a:tr>
              <a:tr h="370840">
                <a:tc>
                  <a:txBody>
                    <a:bodyPr/>
                    <a:lstStyle/>
                    <a:p>
                      <a:r>
                        <a:rPr lang="en-US" sz="1400" dirty="0"/>
                        <a:t>IR-4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Incident Response → AI-specific runbooks</a:t>
                      </a:r>
                    </a:p>
                  </a:txBody>
                  <a:tcPr/>
                </a:tc>
                <a:extLst>
                  <a:ext uri="{0D108BD9-81ED-4DB2-BD59-A6C34878D82A}">
                    <a16:rowId xmlns:a16="http://schemas.microsoft.com/office/drawing/2014/main" val="3981965640"/>
                  </a:ext>
                </a:extLst>
              </a:tr>
              <a:tr h="370840">
                <a:tc>
                  <a:txBody>
                    <a:bodyPr/>
                    <a:lstStyle/>
                    <a:p>
                      <a:r>
                        <a:rPr lang="en-US" sz="1400" dirty="0"/>
                        <a:t>CM-7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Least Functionality → Stored procedures, tool restrictions</a:t>
                      </a:r>
                    </a:p>
                  </a:txBody>
                  <a:tcPr/>
                </a:tc>
                <a:extLst>
                  <a:ext uri="{0D108BD9-81ED-4DB2-BD59-A6C34878D82A}">
                    <a16:rowId xmlns:a16="http://schemas.microsoft.com/office/drawing/2014/main" val="2727538010"/>
                  </a:ext>
                </a:extLst>
              </a:tr>
            </a:tbl>
          </a:graphicData>
        </a:graphic>
      </p:graphicFrame>
      <p:graphicFrame>
        <p:nvGraphicFramePr>
          <p:cNvPr id="11" name="Table 10">
            <a:extLst>
              <a:ext uri="{FF2B5EF4-FFF2-40B4-BE49-F238E27FC236}">
                <a16:creationId xmlns:a16="http://schemas.microsoft.com/office/drawing/2014/main" id="{185E7D6C-591C-F530-D347-7CF6BA47D35D}"/>
              </a:ext>
            </a:extLst>
          </p:cNvPr>
          <p:cNvGraphicFramePr>
            <a:graphicFrameLocks noGrp="1"/>
          </p:cNvGraphicFramePr>
          <p:nvPr>
            <p:extLst>
              <p:ext uri="{D42A27DB-BD31-4B8C-83A1-F6EECF244321}">
                <p14:modId xmlns:p14="http://schemas.microsoft.com/office/powerpoint/2010/main" val="3797943197"/>
              </p:ext>
            </p:extLst>
          </p:nvPr>
        </p:nvGraphicFramePr>
        <p:xfrm>
          <a:off x="6574480" y="2690131"/>
          <a:ext cx="5011065" cy="2352040"/>
        </p:xfrm>
        <a:graphic>
          <a:graphicData uri="http://schemas.openxmlformats.org/drawingml/2006/table">
            <a:tbl>
              <a:tblPr firstRow="1" bandRow="1">
                <a:tableStyleId>{5C22544A-7EE6-4342-B048-85BDC9FD1C3A}</a:tableStyleId>
              </a:tblPr>
              <a:tblGrid>
                <a:gridCol w="1009346">
                  <a:extLst>
                    <a:ext uri="{9D8B030D-6E8A-4147-A177-3AD203B41FA5}">
                      <a16:colId xmlns:a16="http://schemas.microsoft.com/office/drawing/2014/main" val="3608949836"/>
                    </a:ext>
                  </a:extLst>
                </a:gridCol>
                <a:gridCol w="4001719">
                  <a:extLst>
                    <a:ext uri="{9D8B030D-6E8A-4147-A177-3AD203B41FA5}">
                      <a16:colId xmlns:a16="http://schemas.microsoft.com/office/drawing/2014/main" val="1029234769"/>
                    </a:ext>
                  </a:extLst>
                </a:gridCol>
              </a:tblGrid>
              <a:tr h="370840">
                <a:tc>
                  <a:txBody>
                    <a:bodyPr/>
                    <a:lstStyle/>
                    <a:p>
                      <a:r>
                        <a:rPr lang="en-US" sz="1400"/>
                        <a:t>Control</a:t>
                      </a:r>
                      <a:endParaRPr lang="en-US" sz="1400" dirty="0"/>
                    </a:p>
                  </a:txBody>
                  <a:tcPr/>
                </a:tc>
                <a:tc>
                  <a:txBody>
                    <a:bodyPr/>
                    <a:lstStyle/>
                    <a:p>
                      <a:r>
                        <a:rPr lang="en-US" sz="1400" dirty="0"/>
                        <a:t>What it Covers</a:t>
                      </a:r>
                    </a:p>
                  </a:txBody>
                  <a:tcPr/>
                </a:tc>
                <a:extLst>
                  <a:ext uri="{0D108BD9-81ED-4DB2-BD59-A6C34878D82A}">
                    <a16:rowId xmlns:a16="http://schemas.microsoft.com/office/drawing/2014/main" val="2674656171"/>
                  </a:ext>
                </a:extLst>
              </a:tr>
              <a:tr h="370840">
                <a:tc>
                  <a:txBody>
                    <a:bodyPr/>
                    <a:lstStyle/>
                    <a:p>
                      <a:r>
                        <a:rPr lang="en-US" sz="1400"/>
                        <a:t>NIST IR 8596</a:t>
                      </a:r>
                      <a:endParaRPr lang="en-US"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Cyber AI Profile (Preliminary Draft, Dec 2025)</a:t>
                      </a:r>
                      <a:endParaRPr lang="en-US" sz="1400" dirty="0"/>
                    </a:p>
                  </a:txBody>
                  <a:tcPr/>
                </a:tc>
                <a:extLst>
                  <a:ext uri="{0D108BD9-81ED-4DB2-BD59-A6C34878D82A}">
                    <a16:rowId xmlns:a16="http://schemas.microsoft.com/office/drawing/2014/main" val="3008932414"/>
                  </a:ext>
                </a:extLst>
              </a:tr>
              <a:tr h="370840">
                <a:tc>
                  <a:txBody>
                    <a:bodyPr/>
                    <a:lstStyle/>
                    <a:p>
                      <a:r>
                        <a:rPr lang="en-US" sz="1400" dirty="0"/>
                        <a:t>NIST IR 8605</a:t>
                      </a:r>
                    </a:p>
                  </a:txBody>
                  <a:tcPr/>
                </a:tc>
                <a:tc>
                  <a:txBody>
                    <a:bodyPr/>
                    <a:lstStyle/>
                    <a:p>
                      <a:r>
                        <a:rPr lang="en-US" sz="1400" dirty="0"/>
                        <a:t>Control Overlays for Securing AI Systems</a:t>
                      </a:r>
                    </a:p>
                  </a:txBody>
                  <a:tcPr/>
                </a:tc>
                <a:extLst>
                  <a:ext uri="{0D108BD9-81ED-4DB2-BD59-A6C34878D82A}">
                    <a16:rowId xmlns:a16="http://schemas.microsoft.com/office/drawing/2014/main" val="853233380"/>
                  </a:ext>
                </a:extLst>
              </a:tr>
              <a:tr h="370840">
                <a:tc>
                  <a:txBody>
                    <a:bodyPr/>
                    <a:lstStyle/>
                    <a:p>
                      <a:r>
                        <a:rPr lang="en-US" sz="1400" dirty="0"/>
                        <a:t>SP 800-53 Release 5.2.0 (Aug 2025)</a:t>
                      </a:r>
                    </a:p>
                  </a:txBody>
                  <a:tcPr/>
                </a:tc>
                <a:tc>
                  <a:txBody>
                    <a:bodyPr/>
                    <a:lstStyle/>
                    <a:p>
                      <a:r>
                        <a:rPr lang="en-US" sz="1400" dirty="0"/>
                        <a:t>New AI-related controls</a:t>
                      </a:r>
                    </a:p>
                  </a:txBody>
                  <a:tcPr/>
                </a:tc>
                <a:extLst>
                  <a:ext uri="{0D108BD9-81ED-4DB2-BD59-A6C34878D82A}">
                    <a16:rowId xmlns:a16="http://schemas.microsoft.com/office/drawing/2014/main" val="3588103339"/>
                  </a:ext>
                </a:extLst>
              </a:tr>
            </a:tbl>
          </a:graphicData>
        </a:graphic>
      </p:graphicFrame>
      <p:sp>
        <p:nvSpPr>
          <p:cNvPr id="12" name="TextBox 11">
            <a:extLst>
              <a:ext uri="{FF2B5EF4-FFF2-40B4-BE49-F238E27FC236}">
                <a16:creationId xmlns:a16="http://schemas.microsoft.com/office/drawing/2014/main" id="{3D96C3E3-F702-4323-59A9-0DB76E5276D8}"/>
              </a:ext>
            </a:extLst>
          </p:cNvPr>
          <p:cNvSpPr txBox="1"/>
          <p:nvPr/>
        </p:nvSpPr>
        <p:spPr>
          <a:xfrm>
            <a:off x="1094064" y="2120589"/>
            <a:ext cx="5147346" cy="338554"/>
          </a:xfrm>
          <a:prstGeom prst="rect">
            <a:avLst/>
          </a:prstGeom>
          <a:noFill/>
        </p:spPr>
        <p:txBody>
          <a:bodyPr wrap="square">
            <a:spAutoFit/>
          </a:bodyPr>
          <a:lstStyle/>
          <a:p>
            <a:r>
              <a:rPr lang="en-US" sz="1600" b="1" dirty="0"/>
              <a:t>What’s already covered:</a:t>
            </a:r>
            <a:endParaRPr lang="en-US" sz="1600" dirty="0"/>
          </a:p>
        </p:txBody>
      </p:sp>
    </p:spTree>
    <p:extLst>
      <p:ext uri="{BB962C8B-B14F-4D97-AF65-F5344CB8AC3E}">
        <p14:creationId xmlns:p14="http://schemas.microsoft.com/office/powerpoint/2010/main" val="3308618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184EC8-6DD3-4290-FF0C-350FECD377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071822-26B0-9A67-3265-0097C9E2A5BC}"/>
              </a:ext>
            </a:extLst>
          </p:cNvPr>
          <p:cNvSpPr>
            <a:spLocks noGrp="1"/>
          </p:cNvSpPr>
          <p:nvPr>
            <p:ph type="title"/>
          </p:nvPr>
        </p:nvSpPr>
        <p:spPr>
          <a:xfrm>
            <a:off x="838200" y="363825"/>
            <a:ext cx="10515600" cy="1325563"/>
          </a:xfrm>
        </p:spPr>
        <p:txBody>
          <a:bodyPr>
            <a:normAutofit/>
          </a:bodyPr>
          <a:lstStyle/>
          <a:p>
            <a:r>
              <a:rPr lang="en-US" dirty="0"/>
              <a:t>The Framework Landscape</a:t>
            </a:r>
          </a:p>
        </p:txBody>
      </p:sp>
      <p:sp>
        <p:nvSpPr>
          <p:cNvPr id="3" name="TextBox 2">
            <a:extLst>
              <a:ext uri="{FF2B5EF4-FFF2-40B4-BE49-F238E27FC236}">
                <a16:creationId xmlns:a16="http://schemas.microsoft.com/office/drawing/2014/main" id="{79257AE9-BD2E-E0D0-B861-1D30527470C2}"/>
              </a:ext>
            </a:extLst>
          </p:cNvPr>
          <p:cNvSpPr txBox="1"/>
          <p:nvPr/>
        </p:nvSpPr>
        <p:spPr>
          <a:xfrm>
            <a:off x="838200" y="1364568"/>
            <a:ext cx="9245367" cy="400110"/>
          </a:xfrm>
          <a:prstGeom prst="rect">
            <a:avLst/>
          </a:prstGeom>
          <a:noFill/>
        </p:spPr>
        <p:txBody>
          <a:bodyPr wrap="square">
            <a:spAutoFit/>
          </a:bodyPr>
          <a:lstStyle/>
          <a:p>
            <a:r>
              <a:rPr lang="en-US" sz="2000" dirty="0"/>
              <a:t>The Framework Ecosystem: They All Talk to Each Other</a:t>
            </a:r>
          </a:p>
        </p:txBody>
      </p:sp>
      <p:pic>
        <p:nvPicPr>
          <p:cNvPr id="24" name="Picture 23">
            <a:extLst>
              <a:ext uri="{FF2B5EF4-FFF2-40B4-BE49-F238E27FC236}">
                <a16:creationId xmlns:a16="http://schemas.microsoft.com/office/drawing/2014/main" id="{D91AF400-5FC1-DBB1-4097-50AF01D7AE0E}"/>
              </a:ext>
            </a:extLst>
          </p:cNvPr>
          <p:cNvPicPr>
            <a:picLocks noChangeAspect="1"/>
          </p:cNvPicPr>
          <p:nvPr/>
        </p:nvPicPr>
        <p:blipFill>
          <a:blip r:embed="rId3">
            <a:extLst>
              <a:ext uri="{28A0092B-C50C-407E-A947-70E740481C1C}">
                <a14:useLocalDpi xmlns:a14="http://schemas.microsoft.com/office/drawing/2010/main" val="0"/>
              </a:ext>
            </a:extLst>
          </a:blip>
          <a:srcRect l="49314" t="22449" r="9552" b="21849"/>
          <a:stretch>
            <a:fillRect/>
          </a:stretch>
        </p:blipFill>
        <p:spPr>
          <a:xfrm>
            <a:off x="4537238" y="3061062"/>
            <a:ext cx="1847290" cy="1667692"/>
          </a:xfrm>
          <a:prstGeom prst="rect">
            <a:avLst/>
          </a:prstGeom>
        </p:spPr>
      </p:pic>
      <p:sp>
        <p:nvSpPr>
          <p:cNvPr id="25" name="Oval 24">
            <a:extLst>
              <a:ext uri="{FF2B5EF4-FFF2-40B4-BE49-F238E27FC236}">
                <a16:creationId xmlns:a16="http://schemas.microsoft.com/office/drawing/2014/main" id="{74E6DAB3-544E-0CB6-1C38-E49DF534E8CE}"/>
              </a:ext>
            </a:extLst>
          </p:cNvPr>
          <p:cNvSpPr/>
          <p:nvPr/>
        </p:nvSpPr>
        <p:spPr>
          <a:xfrm>
            <a:off x="2423232" y="3666308"/>
            <a:ext cx="1188720" cy="11887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NIST AI RMF 1.0</a:t>
            </a:r>
            <a:endParaRPr lang="en-US" sz="1400" dirty="0"/>
          </a:p>
        </p:txBody>
      </p:sp>
      <p:sp>
        <p:nvSpPr>
          <p:cNvPr id="26" name="Oval 25">
            <a:extLst>
              <a:ext uri="{FF2B5EF4-FFF2-40B4-BE49-F238E27FC236}">
                <a16:creationId xmlns:a16="http://schemas.microsoft.com/office/drawing/2014/main" id="{D46DADA8-A29E-710A-6E89-2F9050C0A05D}"/>
              </a:ext>
            </a:extLst>
          </p:cNvPr>
          <p:cNvSpPr/>
          <p:nvPr/>
        </p:nvSpPr>
        <p:spPr>
          <a:xfrm>
            <a:off x="3017592" y="5286773"/>
            <a:ext cx="1188720" cy="11887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t>NIST 800-53 + Cyber AI Profile</a:t>
            </a:r>
            <a:endParaRPr lang="en-US" sz="1200" dirty="0"/>
          </a:p>
        </p:txBody>
      </p:sp>
      <p:sp>
        <p:nvSpPr>
          <p:cNvPr id="27" name="Oval 26">
            <a:extLst>
              <a:ext uri="{FF2B5EF4-FFF2-40B4-BE49-F238E27FC236}">
                <a16:creationId xmlns:a16="http://schemas.microsoft.com/office/drawing/2014/main" id="{3823BAA5-02F9-524B-5335-AED8CBFC7BD7}"/>
              </a:ext>
            </a:extLst>
          </p:cNvPr>
          <p:cNvSpPr/>
          <p:nvPr/>
        </p:nvSpPr>
        <p:spPr>
          <a:xfrm>
            <a:off x="3017592" y="2045843"/>
            <a:ext cx="1188720" cy="11887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ISO/IEC 42001</a:t>
            </a:r>
            <a:endParaRPr lang="en-US" sz="1400" dirty="0"/>
          </a:p>
        </p:txBody>
      </p:sp>
      <p:sp>
        <p:nvSpPr>
          <p:cNvPr id="28" name="Oval 27">
            <a:extLst>
              <a:ext uri="{FF2B5EF4-FFF2-40B4-BE49-F238E27FC236}">
                <a16:creationId xmlns:a16="http://schemas.microsoft.com/office/drawing/2014/main" id="{3DB7D76E-7FD2-0DE2-3DCB-6C52BA0F4E8D}"/>
              </a:ext>
            </a:extLst>
          </p:cNvPr>
          <p:cNvSpPr/>
          <p:nvPr/>
        </p:nvSpPr>
        <p:spPr>
          <a:xfrm>
            <a:off x="6836229" y="1872342"/>
            <a:ext cx="1188720" cy="11887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MITRE ATLAS</a:t>
            </a:r>
            <a:endParaRPr lang="en-US" dirty="0"/>
          </a:p>
        </p:txBody>
      </p:sp>
      <p:sp>
        <p:nvSpPr>
          <p:cNvPr id="29" name="Oval 28">
            <a:extLst>
              <a:ext uri="{FF2B5EF4-FFF2-40B4-BE49-F238E27FC236}">
                <a16:creationId xmlns:a16="http://schemas.microsoft.com/office/drawing/2014/main" id="{B5CE3F6E-ADAD-ACA8-4198-B334AF3165B9}"/>
              </a:ext>
            </a:extLst>
          </p:cNvPr>
          <p:cNvSpPr/>
          <p:nvPr/>
        </p:nvSpPr>
        <p:spPr>
          <a:xfrm>
            <a:off x="6836229" y="5286773"/>
            <a:ext cx="1188720" cy="11887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OWASP Top 10 for LLMs</a:t>
            </a:r>
            <a:endParaRPr lang="en-US" sz="1400" dirty="0"/>
          </a:p>
        </p:txBody>
      </p:sp>
      <p:sp>
        <p:nvSpPr>
          <p:cNvPr id="30" name="Oval 29">
            <a:extLst>
              <a:ext uri="{FF2B5EF4-FFF2-40B4-BE49-F238E27FC236}">
                <a16:creationId xmlns:a16="http://schemas.microsoft.com/office/drawing/2014/main" id="{15C318D9-7508-7650-8641-2DE185AD9A1A}"/>
              </a:ext>
            </a:extLst>
          </p:cNvPr>
          <p:cNvSpPr/>
          <p:nvPr/>
        </p:nvSpPr>
        <p:spPr>
          <a:xfrm>
            <a:off x="7430589" y="3666308"/>
            <a:ext cx="1188720" cy="11887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t>EU AI Act</a:t>
            </a:r>
            <a:endParaRPr lang="en-US" sz="1600" dirty="0"/>
          </a:p>
        </p:txBody>
      </p:sp>
      <p:sp>
        <p:nvSpPr>
          <p:cNvPr id="31" name="TextBox 30">
            <a:extLst>
              <a:ext uri="{FF2B5EF4-FFF2-40B4-BE49-F238E27FC236}">
                <a16:creationId xmlns:a16="http://schemas.microsoft.com/office/drawing/2014/main" id="{8D0BB41B-3194-1010-C7D5-6C27710607CC}"/>
              </a:ext>
            </a:extLst>
          </p:cNvPr>
          <p:cNvSpPr txBox="1"/>
          <p:nvPr/>
        </p:nvSpPr>
        <p:spPr>
          <a:xfrm>
            <a:off x="2652884" y="3234563"/>
            <a:ext cx="1918135" cy="400110"/>
          </a:xfrm>
          <a:prstGeom prst="rect">
            <a:avLst/>
          </a:prstGeom>
          <a:noFill/>
        </p:spPr>
        <p:txBody>
          <a:bodyPr wrap="square">
            <a:spAutoFit/>
          </a:bodyPr>
          <a:lstStyle/>
          <a:p>
            <a:pPr algn="ctr"/>
            <a:r>
              <a:rPr lang="en-US" sz="1000" dirty="0"/>
              <a:t>Certifiable AI management system</a:t>
            </a:r>
          </a:p>
        </p:txBody>
      </p:sp>
      <p:sp>
        <p:nvSpPr>
          <p:cNvPr id="32" name="TextBox 31">
            <a:extLst>
              <a:ext uri="{FF2B5EF4-FFF2-40B4-BE49-F238E27FC236}">
                <a16:creationId xmlns:a16="http://schemas.microsoft.com/office/drawing/2014/main" id="{E150C5C3-EFD6-C3C4-64C3-71C3765B1957}"/>
              </a:ext>
            </a:extLst>
          </p:cNvPr>
          <p:cNvSpPr txBox="1"/>
          <p:nvPr/>
        </p:nvSpPr>
        <p:spPr>
          <a:xfrm>
            <a:off x="2652884" y="6457890"/>
            <a:ext cx="1918135" cy="246221"/>
          </a:xfrm>
          <a:prstGeom prst="rect">
            <a:avLst/>
          </a:prstGeom>
          <a:noFill/>
        </p:spPr>
        <p:txBody>
          <a:bodyPr wrap="square">
            <a:spAutoFit/>
          </a:bodyPr>
          <a:lstStyle/>
          <a:p>
            <a:pPr algn="ctr"/>
            <a:r>
              <a:rPr lang="en-US" sz="1000" dirty="0"/>
              <a:t>Technical controls</a:t>
            </a:r>
          </a:p>
        </p:txBody>
      </p:sp>
      <p:sp>
        <p:nvSpPr>
          <p:cNvPr id="33" name="TextBox 32">
            <a:extLst>
              <a:ext uri="{FF2B5EF4-FFF2-40B4-BE49-F238E27FC236}">
                <a16:creationId xmlns:a16="http://schemas.microsoft.com/office/drawing/2014/main" id="{2C946E3F-511F-4686-4DA8-7DE74BF79449}"/>
              </a:ext>
            </a:extLst>
          </p:cNvPr>
          <p:cNvSpPr txBox="1"/>
          <p:nvPr/>
        </p:nvSpPr>
        <p:spPr>
          <a:xfrm>
            <a:off x="6471521" y="2991637"/>
            <a:ext cx="1918135" cy="400110"/>
          </a:xfrm>
          <a:prstGeom prst="rect">
            <a:avLst/>
          </a:prstGeom>
          <a:noFill/>
        </p:spPr>
        <p:txBody>
          <a:bodyPr wrap="square">
            <a:spAutoFit/>
          </a:bodyPr>
          <a:lstStyle/>
          <a:p>
            <a:pPr algn="ctr"/>
            <a:r>
              <a:rPr lang="en-US" sz="1000" dirty="0"/>
              <a:t>Adversary tactics &amp; techniques (ATT&amp;CK for AI)</a:t>
            </a:r>
          </a:p>
        </p:txBody>
      </p:sp>
      <p:sp>
        <p:nvSpPr>
          <p:cNvPr id="34" name="TextBox 33">
            <a:extLst>
              <a:ext uri="{FF2B5EF4-FFF2-40B4-BE49-F238E27FC236}">
                <a16:creationId xmlns:a16="http://schemas.microsoft.com/office/drawing/2014/main" id="{720CC2C1-9C52-AABA-A3A4-B40F76C2F738}"/>
              </a:ext>
            </a:extLst>
          </p:cNvPr>
          <p:cNvSpPr txBox="1"/>
          <p:nvPr/>
        </p:nvSpPr>
        <p:spPr>
          <a:xfrm>
            <a:off x="7065881" y="4823393"/>
            <a:ext cx="1918135" cy="400110"/>
          </a:xfrm>
          <a:prstGeom prst="rect">
            <a:avLst/>
          </a:prstGeom>
          <a:noFill/>
        </p:spPr>
        <p:txBody>
          <a:bodyPr wrap="square">
            <a:spAutoFit/>
          </a:bodyPr>
          <a:lstStyle/>
          <a:p>
            <a:pPr algn="ctr"/>
            <a:r>
              <a:rPr lang="en-US" sz="1000" dirty="0"/>
              <a:t>Risk-based regulation (if operating in EU)</a:t>
            </a:r>
          </a:p>
        </p:txBody>
      </p:sp>
      <p:sp>
        <p:nvSpPr>
          <p:cNvPr id="35" name="TextBox 34">
            <a:extLst>
              <a:ext uri="{FF2B5EF4-FFF2-40B4-BE49-F238E27FC236}">
                <a16:creationId xmlns:a16="http://schemas.microsoft.com/office/drawing/2014/main" id="{BBBC8262-CFAF-0E54-CC38-2C75E0262544}"/>
              </a:ext>
            </a:extLst>
          </p:cNvPr>
          <p:cNvSpPr txBox="1"/>
          <p:nvPr/>
        </p:nvSpPr>
        <p:spPr>
          <a:xfrm>
            <a:off x="6471520" y="6475549"/>
            <a:ext cx="1918135" cy="246221"/>
          </a:xfrm>
          <a:prstGeom prst="rect">
            <a:avLst/>
          </a:prstGeom>
          <a:noFill/>
        </p:spPr>
        <p:txBody>
          <a:bodyPr wrap="square">
            <a:spAutoFit/>
          </a:bodyPr>
          <a:lstStyle/>
          <a:p>
            <a:pPr algn="ctr"/>
            <a:r>
              <a:rPr lang="en-US" sz="1000" dirty="0"/>
              <a:t>Vulnerability awareness</a:t>
            </a:r>
          </a:p>
        </p:txBody>
      </p:sp>
      <p:sp>
        <p:nvSpPr>
          <p:cNvPr id="36" name="TextBox 35">
            <a:extLst>
              <a:ext uri="{FF2B5EF4-FFF2-40B4-BE49-F238E27FC236}">
                <a16:creationId xmlns:a16="http://schemas.microsoft.com/office/drawing/2014/main" id="{CE7CC5A4-9573-60CF-5D16-1C902DF372F6}"/>
              </a:ext>
            </a:extLst>
          </p:cNvPr>
          <p:cNvSpPr txBox="1"/>
          <p:nvPr/>
        </p:nvSpPr>
        <p:spPr>
          <a:xfrm>
            <a:off x="2058524" y="4837425"/>
            <a:ext cx="1918135" cy="246221"/>
          </a:xfrm>
          <a:prstGeom prst="rect">
            <a:avLst/>
          </a:prstGeom>
          <a:noFill/>
        </p:spPr>
        <p:txBody>
          <a:bodyPr wrap="square">
            <a:spAutoFit/>
          </a:bodyPr>
          <a:lstStyle/>
          <a:p>
            <a:pPr algn="ctr"/>
            <a:r>
              <a:rPr lang="en-US" sz="1000" dirty="0"/>
              <a:t>Govern, Map, Measure, Manage</a:t>
            </a:r>
          </a:p>
        </p:txBody>
      </p:sp>
    </p:spTree>
    <p:extLst>
      <p:ext uri="{BB962C8B-B14F-4D97-AF65-F5344CB8AC3E}">
        <p14:creationId xmlns:p14="http://schemas.microsoft.com/office/powerpoint/2010/main" val="34302389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5EB797-A799-C0E2-FD5F-EE2015108065}"/>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30BB7F3E-22B6-1A59-EF25-AFE15061C2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199" y="1809205"/>
            <a:ext cx="8662852" cy="4872854"/>
          </a:xfrm>
          <a:prstGeom prst="rect">
            <a:avLst/>
          </a:prstGeom>
        </p:spPr>
      </p:pic>
      <p:sp>
        <p:nvSpPr>
          <p:cNvPr id="2" name="Title 1">
            <a:extLst>
              <a:ext uri="{FF2B5EF4-FFF2-40B4-BE49-F238E27FC236}">
                <a16:creationId xmlns:a16="http://schemas.microsoft.com/office/drawing/2014/main" id="{174482E5-85D9-8298-7A0D-4288CB6238F2}"/>
              </a:ext>
            </a:extLst>
          </p:cNvPr>
          <p:cNvSpPr>
            <a:spLocks noGrp="1"/>
          </p:cNvSpPr>
          <p:nvPr>
            <p:ph type="title"/>
          </p:nvPr>
        </p:nvSpPr>
        <p:spPr>
          <a:xfrm>
            <a:off x="838200" y="363825"/>
            <a:ext cx="10515600" cy="1325563"/>
          </a:xfrm>
        </p:spPr>
        <p:txBody>
          <a:bodyPr>
            <a:normAutofit/>
          </a:bodyPr>
          <a:lstStyle/>
          <a:p>
            <a:r>
              <a:rPr lang="en-US" dirty="0"/>
              <a:t>OWASP Top 10 for LLMs (2025)</a:t>
            </a:r>
          </a:p>
        </p:txBody>
      </p:sp>
      <p:sp>
        <p:nvSpPr>
          <p:cNvPr id="3" name="TextBox 2">
            <a:extLst>
              <a:ext uri="{FF2B5EF4-FFF2-40B4-BE49-F238E27FC236}">
                <a16:creationId xmlns:a16="http://schemas.microsoft.com/office/drawing/2014/main" id="{F5664EF6-35E9-BB1A-3819-2688C93B14DB}"/>
              </a:ext>
            </a:extLst>
          </p:cNvPr>
          <p:cNvSpPr txBox="1"/>
          <p:nvPr/>
        </p:nvSpPr>
        <p:spPr>
          <a:xfrm>
            <a:off x="838200" y="1364568"/>
            <a:ext cx="9245367" cy="400110"/>
          </a:xfrm>
          <a:prstGeom prst="rect">
            <a:avLst/>
          </a:prstGeom>
          <a:noFill/>
        </p:spPr>
        <p:txBody>
          <a:bodyPr wrap="square">
            <a:spAutoFit/>
          </a:bodyPr>
          <a:lstStyle/>
          <a:p>
            <a:r>
              <a:rPr lang="en-US" sz="2000" dirty="0"/>
              <a:t>The Framework Ecosystem: They All Talk to Each Other</a:t>
            </a:r>
          </a:p>
        </p:txBody>
      </p:sp>
      <p:sp>
        <p:nvSpPr>
          <p:cNvPr id="11" name="TextBox 10">
            <a:extLst>
              <a:ext uri="{FF2B5EF4-FFF2-40B4-BE49-F238E27FC236}">
                <a16:creationId xmlns:a16="http://schemas.microsoft.com/office/drawing/2014/main" id="{D9AA5A65-6E03-C32D-44F6-8A92C7BE38BD}"/>
              </a:ext>
            </a:extLst>
          </p:cNvPr>
          <p:cNvSpPr txBox="1"/>
          <p:nvPr/>
        </p:nvSpPr>
        <p:spPr>
          <a:xfrm>
            <a:off x="838199" y="6494175"/>
            <a:ext cx="6096000" cy="276999"/>
          </a:xfrm>
          <a:prstGeom prst="rect">
            <a:avLst/>
          </a:prstGeom>
          <a:noFill/>
        </p:spPr>
        <p:txBody>
          <a:bodyPr wrap="square">
            <a:spAutoFit/>
          </a:bodyPr>
          <a:lstStyle/>
          <a:p>
            <a:r>
              <a:rPr lang="en-US" sz="1200" dirty="0"/>
              <a:t>Source: https://genai.owasp.org/2023/10/18/llm-to-10-v1-1/</a:t>
            </a:r>
          </a:p>
        </p:txBody>
      </p:sp>
    </p:spTree>
    <p:extLst>
      <p:ext uri="{BB962C8B-B14F-4D97-AF65-F5344CB8AC3E}">
        <p14:creationId xmlns:p14="http://schemas.microsoft.com/office/powerpoint/2010/main" val="21362314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8ABA0-46D1-DDFE-03B2-D42757C4603E}"/>
            </a:ext>
          </a:extLst>
        </p:cNvPr>
        <p:cNvGrpSpPr/>
        <p:nvPr/>
      </p:nvGrpSpPr>
      <p:grpSpPr>
        <a:xfrm>
          <a:off x="0" y="0"/>
          <a:ext cx="0" cy="0"/>
          <a:chOff x="0" y="0"/>
          <a:chExt cx="0" cy="0"/>
        </a:xfrm>
      </p:grpSpPr>
      <p:pic>
        <p:nvPicPr>
          <p:cNvPr id="12290" name="Picture 2" descr="Understand AI Threats with MITRE ATLAS | Sysdig">
            <a:extLst>
              <a:ext uri="{FF2B5EF4-FFF2-40B4-BE49-F238E27FC236}">
                <a16:creationId xmlns:a16="http://schemas.microsoft.com/office/drawing/2014/main" id="{3B6205AD-739F-5A21-90A4-3A35449947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0664" y="1764678"/>
            <a:ext cx="11144250" cy="405765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CAB7DD17-4D37-62BF-E4A9-D4282115E8B4}"/>
              </a:ext>
            </a:extLst>
          </p:cNvPr>
          <p:cNvSpPr>
            <a:spLocks noGrp="1"/>
          </p:cNvSpPr>
          <p:nvPr>
            <p:ph type="title"/>
          </p:nvPr>
        </p:nvSpPr>
        <p:spPr>
          <a:xfrm>
            <a:off x="838200" y="363825"/>
            <a:ext cx="10515600" cy="1325563"/>
          </a:xfrm>
        </p:spPr>
        <p:txBody>
          <a:bodyPr>
            <a:normAutofit/>
          </a:bodyPr>
          <a:lstStyle/>
          <a:p>
            <a:r>
              <a:rPr lang="sv-SE" dirty="0"/>
              <a:t>MITRE ATLAS: ATT&amp;CK for AI</a:t>
            </a:r>
            <a:endParaRPr lang="en-US" dirty="0"/>
          </a:p>
        </p:txBody>
      </p:sp>
      <p:sp>
        <p:nvSpPr>
          <p:cNvPr id="3" name="TextBox 2">
            <a:extLst>
              <a:ext uri="{FF2B5EF4-FFF2-40B4-BE49-F238E27FC236}">
                <a16:creationId xmlns:a16="http://schemas.microsoft.com/office/drawing/2014/main" id="{D9A6D6B9-080A-A71C-B185-539C260A5A92}"/>
              </a:ext>
            </a:extLst>
          </p:cNvPr>
          <p:cNvSpPr txBox="1"/>
          <p:nvPr/>
        </p:nvSpPr>
        <p:spPr>
          <a:xfrm>
            <a:off x="838200" y="1364568"/>
            <a:ext cx="9245367" cy="400110"/>
          </a:xfrm>
          <a:prstGeom prst="rect">
            <a:avLst/>
          </a:prstGeom>
          <a:noFill/>
        </p:spPr>
        <p:txBody>
          <a:bodyPr wrap="square">
            <a:spAutoFit/>
          </a:bodyPr>
          <a:lstStyle/>
          <a:p>
            <a:r>
              <a:rPr lang="en-US" sz="2000" dirty="0"/>
              <a:t>MITRE ATLAS — Know Your Adversary</a:t>
            </a:r>
          </a:p>
        </p:txBody>
      </p:sp>
      <p:sp>
        <p:nvSpPr>
          <p:cNvPr id="7" name="TextBox 6">
            <a:extLst>
              <a:ext uri="{FF2B5EF4-FFF2-40B4-BE49-F238E27FC236}">
                <a16:creationId xmlns:a16="http://schemas.microsoft.com/office/drawing/2014/main" id="{3B2B58FE-75BB-B80C-3E60-3A7A1B7F0FAD}"/>
              </a:ext>
            </a:extLst>
          </p:cNvPr>
          <p:cNvSpPr txBox="1"/>
          <p:nvPr/>
        </p:nvSpPr>
        <p:spPr>
          <a:xfrm>
            <a:off x="5651514" y="5729001"/>
            <a:ext cx="5434149" cy="830997"/>
          </a:xfrm>
          <a:prstGeom prst="rect">
            <a:avLst/>
          </a:prstGeom>
          <a:noFill/>
        </p:spPr>
        <p:txBody>
          <a:bodyPr wrap="square">
            <a:spAutoFit/>
          </a:bodyPr>
          <a:lstStyle/>
          <a:p>
            <a:r>
              <a:rPr lang="en-US" sz="1600" b="1" dirty="0"/>
              <a:t>Key addition for 2026:</a:t>
            </a:r>
            <a:r>
              <a:rPr lang="en-US" sz="1600" dirty="0"/>
              <a:t> Techniques for AI agents that invoke tools, access APIs, authenticate to services, and make decisions without human oversight</a:t>
            </a:r>
          </a:p>
        </p:txBody>
      </p:sp>
      <p:sp>
        <p:nvSpPr>
          <p:cNvPr id="5" name="TextBox 4">
            <a:extLst>
              <a:ext uri="{FF2B5EF4-FFF2-40B4-BE49-F238E27FC236}">
                <a16:creationId xmlns:a16="http://schemas.microsoft.com/office/drawing/2014/main" id="{7D54AF1D-81F7-F73B-4102-F74C83EBAFCE}"/>
              </a:ext>
            </a:extLst>
          </p:cNvPr>
          <p:cNvSpPr txBox="1"/>
          <p:nvPr/>
        </p:nvSpPr>
        <p:spPr>
          <a:xfrm>
            <a:off x="5651514" y="5007380"/>
            <a:ext cx="5434149" cy="646331"/>
          </a:xfrm>
          <a:prstGeom prst="rect">
            <a:avLst/>
          </a:prstGeom>
          <a:noFill/>
        </p:spPr>
        <p:txBody>
          <a:bodyPr wrap="square">
            <a:spAutoFit/>
          </a:bodyPr>
          <a:lstStyle/>
          <a:p>
            <a:r>
              <a:rPr lang="en-US" sz="1800" dirty="0"/>
              <a:t>15 Tactics           66 Techniques         46 Sub-techniques</a:t>
            </a:r>
          </a:p>
          <a:p>
            <a:r>
              <a:rPr lang="en-US" sz="1800" dirty="0"/>
              <a:t>14 NEW agentic AI techniques </a:t>
            </a:r>
            <a:r>
              <a:rPr lang="en-US" sz="1600" dirty="0"/>
              <a:t>added</a:t>
            </a:r>
            <a:r>
              <a:rPr lang="en-US" sz="1800" dirty="0"/>
              <a:t> in 2026</a:t>
            </a:r>
          </a:p>
        </p:txBody>
      </p:sp>
      <p:sp>
        <p:nvSpPr>
          <p:cNvPr id="8" name="TextBox 7">
            <a:extLst>
              <a:ext uri="{FF2B5EF4-FFF2-40B4-BE49-F238E27FC236}">
                <a16:creationId xmlns:a16="http://schemas.microsoft.com/office/drawing/2014/main" id="{AA7E846B-376E-D6B3-FEDA-FE44F23D862A}"/>
              </a:ext>
            </a:extLst>
          </p:cNvPr>
          <p:cNvSpPr txBox="1"/>
          <p:nvPr/>
        </p:nvSpPr>
        <p:spPr>
          <a:xfrm>
            <a:off x="197303" y="5820340"/>
            <a:ext cx="5654857" cy="646331"/>
          </a:xfrm>
          <a:prstGeom prst="rect">
            <a:avLst/>
          </a:prstGeom>
          <a:noFill/>
        </p:spPr>
        <p:txBody>
          <a:bodyPr wrap="square">
            <a:spAutoFit/>
          </a:bodyPr>
          <a:lstStyle/>
          <a:p>
            <a:r>
              <a:rPr lang="en-US" sz="1800" b="1" dirty="0"/>
              <a:t>What it is:</a:t>
            </a:r>
            <a:r>
              <a:rPr lang="en-US" sz="1800" dirty="0"/>
              <a:t> An adversary-centric knowledge base for AI/ML threats, modeled after ATT&amp;CK</a:t>
            </a:r>
          </a:p>
        </p:txBody>
      </p:sp>
    </p:spTree>
    <p:extLst>
      <p:ext uri="{BB962C8B-B14F-4D97-AF65-F5344CB8AC3E}">
        <p14:creationId xmlns:p14="http://schemas.microsoft.com/office/powerpoint/2010/main" val="23941389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3B8E2-F823-BCA4-C5CD-508A09C59E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3372CC-D3DD-2CF2-2C3D-F196B893C9A5}"/>
              </a:ext>
            </a:extLst>
          </p:cNvPr>
          <p:cNvSpPr>
            <a:spLocks noGrp="1"/>
          </p:cNvSpPr>
          <p:nvPr>
            <p:ph type="title"/>
          </p:nvPr>
        </p:nvSpPr>
        <p:spPr>
          <a:xfrm>
            <a:off x="838200" y="363825"/>
            <a:ext cx="10515600" cy="1325563"/>
          </a:xfrm>
        </p:spPr>
        <p:txBody>
          <a:bodyPr>
            <a:normAutofit/>
          </a:bodyPr>
          <a:lstStyle/>
          <a:p>
            <a:r>
              <a:rPr lang="en-US" dirty="0"/>
              <a:t>The Tools Arsenal</a:t>
            </a:r>
          </a:p>
        </p:txBody>
      </p:sp>
      <p:sp>
        <p:nvSpPr>
          <p:cNvPr id="3" name="TextBox 2">
            <a:extLst>
              <a:ext uri="{FF2B5EF4-FFF2-40B4-BE49-F238E27FC236}">
                <a16:creationId xmlns:a16="http://schemas.microsoft.com/office/drawing/2014/main" id="{28AF6A96-CC1E-CA25-98CA-DFF962AB055D}"/>
              </a:ext>
            </a:extLst>
          </p:cNvPr>
          <p:cNvSpPr txBox="1"/>
          <p:nvPr/>
        </p:nvSpPr>
        <p:spPr>
          <a:xfrm>
            <a:off x="838200" y="1364568"/>
            <a:ext cx="9245367" cy="400110"/>
          </a:xfrm>
          <a:prstGeom prst="rect">
            <a:avLst/>
          </a:prstGeom>
          <a:noFill/>
        </p:spPr>
        <p:txBody>
          <a:bodyPr wrap="square">
            <a:spAutoFit/>
          </a:bodyPr>
          <a:lstStyle/>
          <a:p>
            <a:r>
              <a:rPr lang="en-US" sz="2000" dirty="0"/>
              <a:t>Your Red Team &amp; Blue Team Toolkit</a:t>
            </a:r>
          </a:p>
        </p:txBody>
      </p:sp>
      <p:graphicFrame>
        <p:nvGraphicFramePr>
          <p:cNvPr id="4" name="Table 3">
            <a:extLst>
              <a:ext uri="{FF2B5EF4-FFF2-40B4-BE49-F238E27FC236}">
                <a16:creationId xmlns:a16="http://schemas.microsoft.com/office/drawing/2014/main" id="{BB4CBCB0-7686-7FAB-B610-4008C150410B}"/>
              </a:ext>
            </a:extLst>
          </p:cNvPr>
          <p:cNvGraphicFramePr>
            <a:graphicFrameLocks noGrp="1"/>
          </p:cNvGraphicFramePr>
          <p:nvPr>
            <p:extLst>
              <p:ext uri="{D42A27DB-BD31-4B8C-83A1-F6EECF244321}">
                <p14:modId xmlns:p14="http://schemas.microsoft.com/office/powerpoint/2010/main" val="2525087583"/>
              </p:ext>
            </p:extLst>
          </p:nvPr>
        </p:nvGraphicFramePr>
        <p:xfrm>
          <a:off x="621034" y="2315662"/>
          <a:ext cx="5244189" cy="3599180"/>
        </p:xfrm>
        <a:graphic>
          <a:graphicData uri="http://schemas.openxmlformats.org/drawingml/2006/table">
            <a:tbl>
              <a:tblPr firstRow="1" bandRow="1">
                <a:tableStyleId>{5C22544A-7EE6-4342-B048-85BDC9FD1C3A}</a:tableStyleId>
              </a:tblPr>
              <a:tblGrid>
                <a:gridCol w="1207766">
                  <a:extLst>
                    <a:ext uri="{9D8B030D-6E8A-4147-A177-3AD203B41FA5}">
                      <a16:colId xmlns:a16="http://schemas.microsoft.com/office/drawing/2014/main" val="3608949836"/>
                    </a:ext>
                  </a:extLst>
                </a:gridCol>
                <a:gridCol w="1824446">
                  <a:extLst>
                    <a:ext uri="{9D8B030D-6E8A-4147-A177-3AD203B41FA5}">
                      <a16:colId xmlns:a16="http://schemas.microsoft.com/office/drawing/2014/main" val="1029234769"/>
                    </a:ext>
                  </a:extLst>
                </a:gridCol>
                <a:gridCol w="2211977">
                  <a:extLst>
                    <a:ext uri="{9D8B030D-6E8A-4147-A177-3AD203B41FA5}">
                      <a16:colId xmlns:a16="http://schemas.microsoft.com/office/drawing/2014/main" val="2577175314"/>
                    </a:ext>
                  </a:extLst>
                </a:gridCol>
              </a:tblGrid>
              <a:tr h="370840">
                <a:tc>
                  <a:txBody>
                    <a:bodyPr/>
                    <a:lstStyle/>
                    <a:p>
                      <a:pPr>
                        <a:buNone/>
                      </a:pPr>
                      <a:r>
                        <a:rPr lang="en-US" sz="1050"/>
                        <a:t>Tool</a:t>
                      </a:r>
                    </a:p>
                  </a:txBody>
                  <a:tcPr anchor="ctr"/>
                </a:tc>
                <a:tc>
                  <a:txBody>
                    <a:bodyPr/>
                    <a:lstStyle/>
                    <a:p>
                      <a:pPr>
                        <a:buNone/>
                      </a:pPr>
                      <a:r>
                        <a:rPr lang="en-US" sz="1050" dirty="0"/>
                        <a:t>What It Does</a:t>
                      </a:r>
                    </a:p>
                  </a:txBody>
                  <a:tcPr anchor="ctr"/>
                </a:tc>
                <a:tc>
                  <a:txBody>
                    <a:bodyPr/>
                    <a:lstStyle/>
                    <a:p>
                      <a:pPr>
                        <a:buNone/>
                      </a:pPr>
                      <a:r>
                        <a:rPr lang="en-US" sz="1050"/>
                        <a:t>License / Notes</a:t>
                      </a:r>
                    </a:p>
                  </a:txBody>
                  <a:tcPr anchor="ctr"/>
                </a:tc>
                <a:extLst>
                  <a:ext uri="{0D108BD9-81ED-4DB2-BD59-A6C34878D82A}">
                    <a16:rowId xmlns:a16="http://schemas.microsoft.com/office/drawing/2014/main" val="2674656171"/>
                  </a:ext>
                </a:extLst>
              </a:tr>
              <a:tr h="370840">
                <a:tc>
                  <a:txBody>
                    <a:bodyPr/>
                    <a:lstStyle/>
                    <a:p>
                      <a:pPr>
                        <a:buNone/>
                      </a:pPr>
                      <a:r>
                        <a:rPr lang="en-US" sz="1050"/>
                        <a:t>Promptfoo</a:t>
                      </a:r>
                    </a:p>
                  </a:txBody>
                  <a:tcPr anchor="ctr"/>
                </a:tc>
                <a:tc>
                  <a:txBody>
                    <a:bodyPr/>
                    <a:lstStyle/>
                    <a:p>
                      <a:pPr>
                        <a:buNone/>
                      </a:pPr>
                      <a:r>
                        <a:rPr lang="en-US" sz="1050"/>
                        <a:t>Context-aware LLM red teaming, CI/CD integration, maps to OWASP/NIST/ATLAS</a:t>
                      </a:r>
                    </a:p>
                  </a:txBody>
                  <a:tcPr anchor="ctr"/>
                </a:tc>
                <a:tc>
                  <a:txBody>
                    <a:bodyPr/>
                    <a:lstStyle/>
                    <a:p>
                      <a:pPr>
                        <a:buNone/>
                      </a:pPr>
                      <a:r>
                        <a:rPr lang="en-US" sz="1050" dirty="0"/>
                        <a:t>MIT (acquired by OpenAI, March 2026 — staying open source)</a:t>
                      </a:r>
                    </a:p>
                  </a:txBody>
                  <a:tcPr anchor="ctr"/>
                </a:tc>
                <a:extLst>
                  <a:ext uri="{0D108BD9-81ED-4DB2-BD59-A6C34878D82A}">
                    <a16:rowId xmlns:a16="http://schemas.microsoft.com/office/drawing/2014/main" val="3008932414"/>
                  </a:ext>
                </a:extLst>
              </a:tr>
              <a:tr h="370840">
                <a:tc>
                  <a:txBody>
                    <a:bodyPr/>
                    <a:lstStyle/>
                    <a:p>
                      <a:pPr>
                        <a:buNone/>
                      </a:pPr>
                      <a:r>
                        <a:rPr lang="en-US" sz="1050"/>
                        <a:t>Garak (NVIDIA)</a:t>
                      </a:r>
                    </a:p>
                  </a:txBody>
                  <a:tcPr anchor="ctr"/>
                </a:tc>
                <a:tc>
                  <a:txBody>
                    <a:bodyPr/>
                    <a:lstStyle/>
                    <a:p>
                      <a:pPr>
                        <a:buNone/>
                      </a:pPr>
                      <a:r>
                        <a:rPr lang="en-US" sz="1050"/>
                        <a:t>120+ probe modules, LLM vulnerability scanner</a:t>
                      </a:r>
                    </a:p>
                  </a:txBody>
                  <a:tcPr anchor="ctr"/>
                </a:tc>
                <a:tc>
                  <a:txBody>
                    <a:bodyPr/>
                    <a:lstStyle/>
                    <a:p>
                      <a:pPr>
                        <a:buNone/>
                      </a:pPr>
                      <a:r>
                        <a:rPr lang="en-US" sz="1050"/>
                        <a:t>Apache 2.0</a:t>
                      </a:r>
                    </a:p>
                  </a:txBody>
                  <a:tcPr anchor="ctr"/>
                </a:tc>
                <a:extLst>
                  <a:ext uri="{0D108BD9-81ED-4DB2-BD59-A6C34878D82A}">
                    <a16:rowId xmlns:a16="http://schemas.microsoft.com/office/drawing/2014/main" val="853233380"/>
                  </a:ext>
                </a:extLst>
              </a:tr>
              <a:tr h="370840">
                <a:tc>
                  <a:txBody>
                    <a:bodyPr/>
                    <a:lstStyle/>
                    <a:p>
                      <a:pPr>
                        <a:buNone/>
                      </a:pPr>
                      <a:r>
                        <a:rPr lang="en-US" sz="1050"/>
                        <a:t>PyRIT (Microsoft)</a:t>
                      </a:r>
                    </a:p>
                  </a:txBody>
                  <a:tcPr anchor="ctr"/>
                </a:tc>
                <a:tc>
                  <a:txBody>
                    <a:bodyPr/>
                    <a:lstStyle/>
                    <a:p>
                      <a:pPr>
                        <a:buNone/>
                      </a:pPr>
                      <a:r>
                        <a:rPr lang="en-US" sz="1050"/>
                        <a:t>Python Risk Identification Tool, multi-modal &amp; multi-turn attack orchestration</a:t>
                      </a:r>
                    </a:p>
                  </a:txBody>
                  <a:tcPr anchor="ctr"/>
                </a:tc>
                <a:tc>
                  <a:txBody>
                    <a:bodyPr/>
                    <a:lstStyle/>
                    <a:p>
                      <a:pPr>
                        <a:buNone/>
                      </a:pPr>
                      <a:r>
                        <a:rPr lang="en-US" sz="1050"/>
                        <a:t>Open source</a:t>
                      </a:r>
                    </a:p>
                  </a:txBody>
                  <a:tcPr anchor="ctr"/>
                </a:tc>
                <a:extLst>
                  <a:ext uri="{0D108BD9-81ED-4DB2-BD59-A6C34878D82A}">
                    <a16:rowId xmlns:a16="http://schemas.microsoft.com/office/drawing/2014/main" val="3588103339"/>
                  </a:ext>
                </a:extLst>
              </a:tr>
              <a:tr h="370840">
                <a:tc>
                  <a:txBody>
                    <a:bodyPr/>
                    <a:lstStyle/>
                    <a:p>
                      <a:pPr>
                        <a:buNone/>
                      </a:pPr>
                      <a:r>
                        <a:rPr lang="en-US" sz="1050"/>
                        <a:t>FuzzyAI</a:t>
                      </a:r>
                    </a:p>
                  </a:txBody>
                  <a:tcPr anchor="ctr"/>
                </a:tc>
                <a:tc>
                  <a:txBody>
                    <a:bodyPr/>
                    <a:lstStyle/>
                    <a:p>
                      <a:pPr>
                        <a:buNone/>
                      </a:pPr>
                      <a:r>
                        <a:rPr lang="en-US" sz="1050"/>
                        <a:t>Genetic algorithm prompt fuzzing, discovers unknown attack vectors</a:t>
                      </a:r>
                    </a:p>
                  </a:txBody>
                  <a:tcPr anchor="ctr"/>
                </a:tc>
                <a:tc>
                  <a:txBody>
                    <a:bodyPr/>
                    <a:lstStyle/>
                    <a:p>
                      <a:pPr>
                        <a:buNone/>
                      </a:pPr>
                      <a:r>
                        <a:rPr lang="en-US" sz="1050"/>
                        <a:t>Open source</a:t>
                      </a:r>
                    </a:p>
                  </a:txBody>
                  <a:tcPr anchor="ctr"/>
                </a:tc>
                <a:extLst>
                  <a:ext uri="{0D108BD9-81ED-4DB2-BD59-A6C34878D82A}">
                    <a16:rowId xmlns:a16="http://schemas.microsoft.com/office/drawing/2014/main" val="3492477771"/>
                  </a:ext>
                </a:extLst>
              </a:tr>
              <a:tr h="370840">
                <a:tc>
                  <a:txBody>
                    <a:bodyPr/>
                    <a:lstStyle/>
                    <a:p>
                      <a:pPr>
                        <a:buNone/>
                      </a:pPr>
                      <a:r>
                        <a:rPr lang="en-US" sz="1050"/>
                        <a:t>DeepTeam (Confident AI)</a:t>
                      </a:r>
                    </a:p>
                  </a:txBody>
                  <a:tcPr anchor="ctr"/>
                </a:tc>
                <a:tc>
                  <a:txBody>
                    <a:bodyPr/>
                    <a:lstStyle/>
                    <a:p>
                      <a:pPr>
                        <a:buNone/>
                      </a:pPr>
                      <a:r>
                        <a:rPr lang="en-US" sz="1050" dirty="0"/>
                        <a:t>Red teaming framework with OWASP &amp; MITRE ATLAS modules</a:t>
                      </a:r>
                    </a:p>
                  </a:txBody>
                  <a:tcPr anchor="ctr"/>
                </a:tc>
                <a:tc>
                  <a:txBody>
                    <a:bodyPr/>
                    <a:lstStyle/>
                    <a:p>
                      <a:pPr>
                        <a:buNone/>
                      </a:pPr>
                      <a:r>
                        <a:rPr lang="en-US" sz="1050"/>
                        <a:t>Open source</a:t>
                      </a:r>
                    </a:p>
                  </a:txBody>
                  <a:tcPr anchor="ctr"/>
                </a:tc>
                <a:extLst>
                  <a:ext uri="{0D108BD9-81ED-4DB2-BD59-A6C34878D82A}">
                    <a16:rowId xmlns:a16="http://schemas.microsoft.com/office/drawing/2014/main" val="3981965640"/>
                  </a:ext>
                </a:extLst>
              </a:tr>
              <a:tr h="370840">
                <a:tc>
                  <a:txBody>
                    <a:bodyPr/>
                    <a:lstStyle/>
                    <a:p>
                      <a:pPr>
                        <a:buNone/>
                      </a:pPr>
                      <a:r>
                        <a:rPr lang="en-US" sz="1050"/>
                        <a:t>Tool</a:t>
                      </a:r>
                    </a:p>
                  </a:txBody>
                  <a:tcPr anchor="ctr"/>
                </a:tc>
                <a:tc>
                  <a:txBody>
                    <a:bodyPr/>
                    <a:lstStyle/>
                    <a:p>
                      <a:pPr>
                        <a:buNone/>
                      </a:pPr>
                      <a:r>
                        <a:rPr lang="en-US" sz="1050"/>
                        <a:t>What It Does</a:t>
                      </a:r>
                    </a:p>
                  </a:txBody>
                  <a:tcPr anchor="ctr"/>
                </a:tc>
                <a:tc>
                  <a:txBody>
                    <a:bodyPr/>
                    <a:lstStyle/>
                    <a:p>
                      <a:pPr>
                        <a:buNone/>
                      </a:pPr>
                      <a:r>
                        <a:rPr lang="en-US" sz="1050" dirty="0"/>
                        <a:t>License / Notes</a:t>
                      </a:r>
                    </a:p>
                  </a:txBody>
                  <a:tcPr anchor="ctr"/>
                </a:tc>
                <a:extLst>
                  <a:ext uri="{0D108BD9-81ED-4DB2-BD59-A6C34878D82A}">
                    <a16:rowId xmlns:a16="http://schemas.microsoft.com/office/drawing/2014/main" val="2727538010"/>
                  </a:ext>
                </a:extLst>
              </a:tr>
            </a:tbl>
          </a:graphicData>
        </a:graphic>
      </p:graphicFrame>
      <p:graphicFrame>
        <p:nvGraphicFramePr>
          <p:cNvPr id="5" name="Table 4">
            <a:extLst>
              <a:ext uri="{FF2B5EF4-FFF2-40B4-BE49-F238E27FC236}">
                <a16:creationId xmlns:a16="http://schemas.microsoft.com/office/drawing/2014/main" id="{EDD0ECC5-0C2B-33E2-85AD-192855355D4D}"/>
              </a:ext>
            </a:extLst>
          </p:cNvPr>
          <p:cNvGraphicFramePr>
            <a:graphicFrameLocks noGrp="1"/>
          </p:cNvGraphicFramePr>
          <p:nvPr>
            <p:extLst>
              <p:ext uri="{D42A27DB-BD31-4B8C-83A1-F6EECF244321}">
                <p14:modId xmlns:p14="http://schemas.microsoft.com/office/powerpoint/2010/main" val="2663458968"/>
              </p:ext>
            </p:extLst>
          </p:nvPr>
        </p:nvGraphicFramePr>
        <p:xfrm>
          <a:off x="6359982" y="2315662"/>
          <a:ext cx="5244189" cy="2959100"/>
        </p:xfrm>
        <a:graphic>
          <a:graphicData uri="http://schemas.openxmlformats.org/drawingml/2006/table">
            <a:tbl>
              <a:tblPr firstRow="1" bandRow="1">
                <a:tableStyleId>{5C22544A-7EE6-4342-B048-85BDC9FD1C3A}</a:tableStyleId>
              </a:tblPr>
              <a:tblGrid>
                <a:gridCol w="1207766">
                  <a:extLst>
                    <a:ext uri="{9D8B030D-6E8A-4147-A177-3AD203B41FA5}">
                      <a16:colId xmlns:a16="http://schemas.microsoft.com/office/drawing/2014/main" val="3608949836"/>
                    </a:ext>
                  </a:extLst>
                </a:gridCol>
                <a:gridCol w="1824446">
                  <a:extLst>
                    <a:ext uri="{9D8B030D-6E8A-4147-A177-3AD203B41FA5}">
                      <a16:colId xmlns:a16="http://schemas.microsoft.com/office/drawing/2014/main" val="1029234769"/>
                    </a:ext>
                  </a:extLst>
                </a:gridCol>
                <a:gridCol w="2211977">
                  <a:extLst>
                    <a:ext uri="{9D8B030D-6E8A-4147-A177-3AD203B41FA5}">
                      <a16:colId xmlns:a16="http://schemas.microsoft.com/office/drawing/2014/main" val="2577175314"/>
                    </a:ext>
                  </a:extLst>
                </a:gridCol>
              </a:tblGrid>
              <a:tr h="370840">
                <a:tc>
                  <a:txBody>
                    <a:bodyPr/>
                    <a:lstStyle/>
                    <a:p>
                      <a:pPr>
                        <a:buNone/>
                      </a:pPr>
                      <a:r>
                        <a:rPr lang="en-US" sz="1050"/>
                        <a:t>Tool</a:t>
                      </a:r>
                    </a:p>
                  </a:txBody>
                  <a:tcPr anchor="ctr"/>
                </a:tc>
                <a:tc>
                  <a:txBody>
                    <a:bodyPr/>
                    <a:lstStyle/>
                    <a:p>
                      <a:pPr>
                        <a:buNone/>
                      </a:pPr>
                      <a:r>
                        <a:rPr lang="en-US" sz="1050"/>
                        <a:t>What It Does</a:t>
                      </a:r>
                    </a:p>
                  </a:txBody>
                  <a:tcPr anchor="ctr"/>
                </a:tc>
                <a:tc>
                  <a:txBody>
                    <a:bodyPr/>
                    <a:lstStyle/>
                    <a:p>
                      <a:pPr>
                        <a:buNone/>
                      </a:pPr>
                      <a:r>
                        <a:rPr lang="en-US" sz="1050"/>
                        <a:t>License / Notes</a:t>
                      </a:r>
                    </a:p>
                  </a:txBody>
                  <a:tcPr anchor="ctr"/>
                </a:tc>
                <a:extLst>
                  <a:ext uri="{0D108BD9-81ED-4DB2-BD59-A6C34878D82A}">
                    <a16:rowId xmlns:a16="http://schemas.microsoft.com/office/drawing/2014/main" val="2674656171"/>
                  </a:ext>
                </a:extLst>
              </a:tr>
              <a:tr h="370840">
                <a:tc>
                  <a:txBody>
                    <a:bodyPr/>
                    <a:lstStyle/>
                    <a:p>
                      <a:pPr>
                        <a:buNone/>
                      </a:pPr>
                      <a:r>
                        <a:rPr lang="en-US" sz="1050"/>
                        <a:t>LLM Guard (Protect AI)</a:t>
                      </a:r>
                    </a:p>
                  </a:txBody>
                  <a:tcPr anchor="ctr"/>
                </a:tc>
                <a:tc>
                  <a:txBody>
                    <a:bodyPr/>
                    <a:lstStyle/>
                    <a:p>
                      <a:pPr>
                        <a:buNone/>
                      </a:pPr>
                      <a:r>
                        <a:rPr lang="en-US" sz="1050" dirty="0"/>
                        <a:t>Runtime input/output scanning — 15 input + 20 output scanners</a:t>
                      </a:r>
                    </a:p>
                  </a:txBody>
                  <a:tcPr anchor="ctr"/>
                </a:tc>
                <a:tc>
                  <a:txBody>
                    <a:bodyPr/>
                    <a:lstStyle/>
                    <a:p>
                      <a:pPr>
                        <a:buNone/>
                      </a:pPr>
                      <a:r>
                        <a:rPr lang="en-US" sz="1050"/>
                        <a:t>Open source</a:t>
                      </a:r>
                    </a:p>
                  </a:txBody>
                  <a:tcPr anchor="ctr"/>
                </a:tc>
                <a:extLst>
                  <a:ext uri="{0D108BD9-81ED-4DB2-BD59-A6C34878D82A}">
                    <a16:rowId xmlns:a16="http://schemas.microsoft.com/office/drawing/2014/main" val="3008932414"/>
                  </a:ext>
                </a:extLst>
              </a:tr>
              <a:tr h="370840">
                <a:tc>
                  <a:txBody>
                    <a:bodyPr/>
                    <a:lstStyle/>
                    <a:p>
                      <a:pPr>
                        <a:buNone/>
                      </a:pPr>
                      <a:r>
                        <a:rPr lang="en-US" sz="1050"/>
                        <a:t>NeMo Guardrails (NVIDIA)</a:t>
                      </a:r>
                    </a:p>
                  </a:txBody>
                  <a:tcPr anchor="ctr"/>
                </a:tc>
                <a:tc>
                  <a:txBody>
                    <a:bodyPr/>
                    <a:lstStyle/>
                    <a:p>
                      <a:pPr>
                        <a:buNone/>
                      </a:pPr>
                      <a:r>
                        <a:rPr lang="en-US" sz="1050"/>
                        <a:t>Programmable guardrails for LLM applications</a:t>
                      </a:r>
                    </a:p>
                  </a:txBody>
                  <a:tcPr anchor="ctr"/>
                </a:tc>
                <a:tc>
                  <a:txBody>
                    <a:bodyPr/>
                    <a:lstStyle/>
                    <a:p>
                      <a:pPr>
                        <a:buNone/>
                      </a:pPr>
                      <a:r>
                        <a:rPr lang="en-US" sz="1050"/>
                        <a:t>Open source</a:t>
                      </a:r>
                    </a:p>
                  </a:txBody>
                  <a:tcPr anchor="ctr"/>
                </a:tc>
                <a:extLst>
                  <a:ext uri="{0D108BD9-81ED-4DB2-BD59-A6C34878D82A}">
                    <a16:rowId xmlns:a16="http://schemas.microsoft.com/office/drawing/2014/main" val="853233380"/>
                  </a:ext>
                </a:extLst>
              </a:tr>
              <a:tr h="370840">
                <a:tc>
                  <a:txBody>
                    <a:bodyPr/>
                    <a:lstStyle/>
                    <a:p>
                      <a:pPr>
                        <a:buNone/>
                      </a:pPr>
                      <a:r>
                        <a:rPr lang="en-US" sz="1050"/>
                        <a:t>Rebuff</a:t>
                      </a:r>
                    </a:p>
                  </a:txBody>
                  <a:tcPr anchor="ctr"/>
                </a:tc>
                <a:tc>
                  <a:txBody>
                    <a:bodyPr/>
                    <a:lstStyle/>
                    <a:p>
                      <a:pPr>
                        <a:buNone/>
                      </a:pPr>
                      <a:r>
                        <a:rPr lang="en-US" sz="1050"/>
                        <a:t>Self-hardening prompt injection detection</a:t>
                      </a:r>
                    </a:p>
                  </a:txBody>
                  <a:tcPr anchor="ctr"/>
                </a:tc>
                <a:tc>
                  <a:txBody>
                    <a:bodyPr/>
                    <a:lstStyle/>
                    <a:p>
                      <a:pPr>
                        <a:buNone/>
                      </a:pPr>
                      <a:r>
                        <a:rPr lang="en-US" sz="1050"/>
                        <a:t>Open source</a:t>
                      </a:r>
                    </a:p>
                  </a:txBody>
                  <a:tcPr anchor="ctr"/>
                </a:tc>
                <a:extLst>
                  <a:ext uri="{0D108BD9-81ED-4DB2-BD59-A6C34878D82A}">
                    <a16:rowId xmlns:a16="http://schemas.microsoft.com/office/drawing/2014/main" val="3588103339"/>
                  </a:ext>
                </a:extLst>
              </a:tr>
              <a:tr h="370840">
                <a:tc>
                  <a:txBody>
                    <a:bodyPr/>
                    <a:lstStyle/>
                    <a:p>
                      <a:pPr>
                        <a:buNone/>
                      </a:pPr>
                      <a:r>
                        <a:rPr lang="en-US" sz="1050"/>
                        <a:t>Lakera Guard</a:t>
                      </a:r>
                    </a:p>
                  </a:txBody>
                  <a:tcPr anchor="ctr"/>
                </a:tc>
                <a:tc>
                  <a:txBody>
                    <a:bodyPr/>
                    <a:lstStyle/>
                    <a:p>
                      <a:pPr>
                        <a:buNone/>
                      </a:pPr>
                      <a:r>
                        <a:rPr lang="en-US" sz="1050"/>
                        <a:t>Managed API for real-time prompt injection defense</a:t>
                      </a:r>
                    </a:p>
                  </a:txBody>
                  <a:tcPr anchor="ctr"/>
                </a:tc>
                <a:tc>
                  <a:txBody>
                    <a:bodyPr/>
                    <a:lstStyle/>
                    <a:p>
                      <a:pPr>
                        <a:buNone/>
                      </a:pPr>
                      <a:r>
                        <a:rPr lang="en-US" sz="1050"/>
                        <a:t>Commercial (free tier available)</a:t>
                      </a:r>
                    </a:p>
                  </a:txBody>
                  <a:tcPr anchor="ctr"/>
                </a:tc>
                <a:extLst>
                  <a:ext uri="{0D108BD9-81ED-4DB2-BD59-A6C34878D82A}">
                    <a16:rowId xmlns:a16="http://schemas.microsoft.com/office/drawing/2014/main" val="3492477771"/>
                  </a:ext>
                </a:extLst>
              </a:tr>
              <a:tr h="370840">
                <a:tc>
                  <a:txBody>
                    <a:bodyPr/>
                    <a:lstStyle/>
                    <a:p>
                      <a:pPr>
                        <a:buNone/>
                      </a:pPr>
                      <a:r>
                        <a:rPr lang="en-US" sz="1050"/>
                        <a:t>ART (IBM)</a:t>
                      </a:r>
                    </a:p>
                  </a:txBody>
                  <a:tcPr anchor="ctr"/>
                </a:tc>
                <a:tc>
                  <a:txBody>
                    <a:bodyPr/>
                    <a:lstStyle/>
                    <a:p>
                      <a:pPr>
                        <a:buNone/>
                      </a:pPr>
                      <a:r>
                        <a:rPr lang="en-US" sz="1050"/>
                        <a:t>Adversarial Robustness Toolbox for ML models</a:t>
                      </a:r>
                    </a:p>
                  </a:txBody>
                  <a:tcPr anchor="ctr"/>
                </a:tc>
                <a:tc>
                  <a:txBody>
                    <a:bodyPr/>
                    <a:lstStyle/>
                    <a:p>
                      <a:pPr>
                        <a:buNone/>
                      </a:pPr>
                      <a:r>
                        <a:rPr lang="en-US" sz="1050"/>
                        <a:t>Open source</a:t>
                      </a:r>
                    </a:p>
                  </a:txBody>
                  <a:tcPr anchor="ctr"/>
                </a:tc>
                <a:extLst>
                  <a:ext uri="{0D108BD9-81ED-4DB2-BD59-A6C34878D82A}">
                    <a16:rowId xmlns:a16="http://schemas.microsoft.com/office/drawing/2014/main" val="3981965640"/>
                  </a:ext>
                </a:extLst>
              </a:tr>
              <a:tr h="370840">
                <a:tc>
                  <a:txBody>
                    <a:bodyPr/>
                    <a:lstStyle/>
                    <a:p>
                      <a:pPr>
                        <a:buNone/>
                      </a:pPr>
                      <a:r>
                        <a:rPr lang="en-US" sz="1050"/>
                        <a:t>Tool</a:t>
                      </a:r>
                    </a:p>
                  </a:txBody>
                  <a:tcPr anchor="ctr"/>
                </a:tc>
                <a:tc>
                  <a:txBody>
                    <a:bodyPr/>
                    <a:lstStyle/>
                    <a:p>
                      <a:pPr>
                        <a:buNone/>
                      </a:pPr>
                      <a:r>
                        <a:rPr lang="en-US" sz="1050"/>
                        <a:t>What It Does</a:t>
                      </a:r>
                    </a:p>
                  </a:txBody>
                  <a:tcPr anchor="ctr"/>
                </a:tc>
                <a:tc>
                  <a:txBody>
                    <a:bodyPr/>
                    <a:lstStyle/>
                    <a:p>
                      <a:pPr>
                        <a:buNone/>
                      </a:pPr>
                      <a:r>
                        <a:rPr lang="en-US" sz="1050" dirty="0"/>
                        <a:t>License / Notes</a:t>
                      </a:r>
                    </a:p>
                  </a:txBody>
                  <a:tcPr anchor="ctr"/>
                </a:tc>
                <a:extLst>
                  <a:ext uri="{0D108BD9-81ED-4DB2-BD59-A6C34878D82A}">
                    <a16:rowId xmlns:a16="http://schemas.microsoft.com/office/drawing/2014/main" val="2727538010"/>
                  </a:ext>
                </a:extLst>
              </a:tr>
            </a:tbl>
          </a:graphicData>
        </a:graphic>
      </p:graphicFrame>
      <p:sp>
        <p:nvSpPr>
          <p:cNvPr id="6" name="TextBox 5">
            <a:extLst>
              <a:ext uri="{FF2B5EF4-FFF2-40B4-BE49-F238E27FC236}">
                <a16:creationId xmlns:a16="http://schemas.microsoft.com/office/drawing/2014/main" id="{B43E1FD2-20F9-45EF-0887-1874F1B140F6}"/>
              </a:ext>
            </a:extLst>
          </p:cNvPr>
          <p:cNvSpPr txBox="1"/>
          <p:nvPr/>
        </p:nvSpPr>
        <p:spPr>
          <a:xfrm>
            <a:off x="1193348" y="1915552"/>
            <a:ext cx="4099560" cy="400110"/>
          </a:xfrm>
          <a:prstGeom prst="rect">
            <a:avLst/>
          </a:prstGeom>
          <a:noFill/>
        </p:spPr>
        <p:txBody>
          <a:bodyPr wrap="square">
            <a:spAutoFit/>
          </a:bodyPr>
          <a:lstStyle/>
          <a:p>
            <a:pPr algn="ctr"/>
            <a:r>
              <a:rPr lang="en-US" sz="2000" b="1" dirty="0"/>
              <a:t>Red Team</a:t>
            </a:r>
          </a:p>
        </p:txBody>
      </p:sp>
      <p:sp>
        <p:nvSpPr>
          <p:cNvPr id="8" name="TextBox 7">
            <a:extLst>
              <a:ext uri="{FF2B5EF4-FFF2-40B4-BE49-F238E27FC236}">
                <a16:creationId xmlns:a16="http://schemas.microsoft.com/office/drawing/2014/main" id="{1025C446-9AF2-EF1E-4ED4-5F267AECEACF}"/>
              </a:ext>
            </a:extLst>
          </p:cNvPr>
          <p:cNvSpPr txBox="1"/>
          <p:nvPr/>
        </p:nvSpPr>
        <p:spPr>
          <a:xfrm>
            <a:off x="6932296" y="1915552"/>
            <a:ext cx="4099560" cy="400110"/>
          </a:xfrm>
          <a:prstGeom prst="rect">
            <a:avLst/>
          </a:prstGeom>
          <a:noFill/>
        </p:spPr>
        <p:txBody>
          <a:bodyPr wrap="square">
            <a:spAutoFit/>
          </a:bodyPr>
          <a:lstStyle/>
          <a:p>
            <a:pPr algn="ctr"/>
            <a:r>
              <a:rPr lang="en-US" sz="2000" b="1" dirty="0"/>
              <a:t>Blue Team</a:t>
            </a:r>
          </a:p>
        </p:txBody>
      </p:sp>
    </p:spTree>
    <p:extLst>
      <p:ext uri="{BB962C8B-B14F-4D97-AF65-F5344CB8AC3E}">
        <p14:creationId xmlns:p14="http://schemas.microsoft.com/office/powerpoint/2010/main" val="23803841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68BF6-21F3-0891-C79B-BD2955DD81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96F270-0D9D-6A8B-B969-43AB58C6AF1B}"/>
              </a:ext>
            </a:extLst>
          </p:cNvPr>
          <p:cNvSpPr>
            <a:spLocks noGrp="1"/>
          </p:cNvSpPr>
          <p:nvPr>
            <p:ph type="title"/>
          </p:nvPr>
        </p:nvSpPr>
        <p:spPr>
          <a:xfrm>
            <a:off x="838200" y="363825"/>
            <a:ext cx="10515600" cy="1325563"/>
          </a:xfrm>
        </p:spPr>
        <p:txBody>
          <a:bodyPr>
            <a:normAutofit/>
          </a:bodyPr>
          <a:lstStyle/>
          <a:p>
            <a:r>
              <a:rPr lang="en-US" dirty="0"/>
              <a:t>The Policy Landscape (Where Things Stand)</a:t>
            </a:r>
          </a:p>
        </p:txBody>
      </p:sp>
      <p:graphicFrame>
        <p:nvGraphicFramePr>
          <p:cNvPr id="4" name="Table 3">
            <a:extLst>
              <a:ext uri="{FF2B5EF4-FFF2-40B4-BE49-F238E27FC236}">
                <a16:creationId xmlns:a16="http://schemas.microsoft.com/office/drawing/2014/main" id="{0C64F535-87A0-A10A-1FA6-B25F2417DB57}"/>
              </a:ext>
            </a:extLst>
          </p:cNvPr>
          <p:cNvGraphicFramePr>
            <a:graphicFrameLocks noGrp="1"/>
          </p:cNvGraphicFramePr>
          <p:nvPr>
            <p:extLst>
              <p:ext uri="{D42A27DB-BD31-4B8C-83A1-F6EECF244321}">
                <p14:modId xmlns:p14="http://schemas.microsoft.com/office/powerpoint/2010/main" val="1638880975"/>
              </p:ext>
            </p:extLst>
          </p:nvPr>
        </p:nvGraphicFramePr>
        <p:xfrm>
          <a:off x="621033" y="2315662"/>
          <a:ext cx="3528601" cy="3439160"/>
        </p:xfrm>
        <a:graphic>
          <a:graphicData uri="http://schemas.openxmlformats.org/drawingml/2006/table">
            <a:tbl>
              <a:tblPr firstRow="1" bandRow="1">
                <a:tableStyleId>{5C22544A-7EE6-4342-B048-85BDC9FD1C3A}</a:tableStyleId>
              </a:tblPr>
              <a:tblGrid>
                <a:gridCol w="1405484">
                  <a:extLst>
                    <a:ext uri="{9D8B030D-6E8A-4147-A177-3AD203B41FA5}">
                      <a16:colId xmlns:a16="http://schemas.microsoft.com/office/drawing/2014/main" val="3608949836"/>
                    </a:ext>
                  </a:extLst>
                </a:gridCol>
                <a:gridCol w="2123117">
                  <a:extLst>
                    <a:ext uri="{9D8B030D-6E8A-4147-A177-3AD203B41FA5}">
                      <a16:colId xmlns:a16="http://schemas.microsoft.com/office/drawing/2014/main" val="1029234769"/>
                    </a:ext>
                  </a:extLst>
                </a:gridCol>
              </a:tblGrid>
              <a:tr h="370840">
                <a:tc>
                  <a:txBody>
                    <a:bodyPr/>
                    <a:lstStyle/>
                    <a:p>
                      <a:pPr>
                        <a:buNone/>
                      </a:pPr>
                      <a:r>
                        <a:rPr lang="en-US" sz="1050"/>
                        <a:t>What</a:t>
                      </a:r>
                    </a:p>
                  </a:txBody>
                  <a:tcPr anchor="ctr"/>
                </a:tc>
                <a:tc>
                  <a:txBody>
                    <a:bodyPr/>
                    <a:lstStyle/>
                    <a:p>
                      <a:pPr>
                        <a:buNone/>
                      </a:pPr>
                      <a:r>
                        <a:rPr lang="en-US" sz="1050" dirty="0"/>
                        <a:t>Status</a:t>
                      </a:r>
                    </a:p>
                  </a:txBody>
                  <a:tcPr anchor="ctr"/>
                </a:tc>
                <a:extLst>
                  <a:ext uri="{0D108BD9-81ED-4DB2-BD59-A6C34878D82A}">
                    <a16:rowId xmlns:a16="http://schemas.microsoft.com/office/drawing/2014/main" val="2674656171"/>
                  </a:ext>
                </a:extLst>
              </a:tr>
              <a:tr h="370840">
                <a:tc>
                  <a:txBody>
                    <a:bodyPr/>
                    <a:lstStyle/>
                    <a:p>
                      <a:pPr>
                        <a:buNone/>
                      </a:pPr>
                      <a:r>
                        <a:rPr lang="en-US" sz="1050"/>
                        <a:t>Comprehensive federal AI law</a:t>
                      </a:r>
                    </a:p>
                  </a:txBody>
                  <a:tcPr anchor="ctr"/>
                </a:tc>
                <a:tc>
                  <a:txBody>
                    <a:bodyPr/>
                    <a:lstStyle/>
                    <a:p>
                      <a:pPr>
                        <a:buNone/>
                      </a:pPr>
                      <a:r>
                        <a:rPr lang="en-US" sz="1050"/>
                        <a:t>Does not exist</a:t>
                      </a:r>
                    </a:p>
                  </a:txBody>
                  <a:tcPr anchor="ctr"/>
                </a:tc>
                <a:extLst>
                  <a:ext uri="{0D108BD9-81ED-4DB2-BD59-A6C34878D82A}">
                    <a16:rowId xmlns:a16="http://schemas.microsoft.com/office/drawing/2014/main" val="3008932414"/>
                  </a:ext>
                </a:extLst>
              </a:tr>
              <a:tr h="370840">
                <a:tc>
                  <a:txBody>
                    <a:bodyPr/>
                    <a:lstStyle/>
                    <a:p>
                      <a:pPr>
                        <a:buNone/>
                      </a:pPr>
                      <a:r>
                        <a:rPr lang="en-US" sz="1050"/>
                        <a:t>EO: "Ensuring a National Policy Framework for AI" (Dec 2025)</a:t>
                      </a:r>
                    </a:p>
                  </a:txBody>
                  <a:tcPr anchor="ctr"/>
                </a:tc>
                <a:tc>
                  <a:txBody>
                    <a:bodyPr/>
                    <a:lstStyle/>
                    <a:p>
                      <a:pPr>
                        <a:buNone/>
                      </a:pPr>
                      <a:r>
                        <a:rPr lang="en-US" sz="1050" dirty="0"/>
                        <a:t>Aims to preempt state laws, establish "minimally burdensome national standard"</a:t>
                      </a:r>
                    </a:p>
                  </a:txBody>
                  <a:tcPr anchor="ctr"/>
                </a:tc>
                <a:extLst>
                  <a:ext uri="{0D108BD9-81ED-4DB2-BD59-A6C34878D82A}">
                    <a16:rowId xmlns:a16="http://schemas.microsoft.com/office/drawing/2014/main" val="853233380"/>
                  </a:ext>
                </a:extLst>
              </a:tr>
              <a:tr h="370840">
                <a:tc>
                  <a:txBody>
                    <a:bodyPr/>
                    <a:lstStyle/>
                    <a:p>
                      <a:pPr>
                        <a:buNone/>
                      </a:pPr>
                      <a:r>
                        <a:rPr lang="en-US" sz="1050"/>
                        <a:t>DOJ AI Litigation Task Force (Jan 2026)</a:t>
                      </a:r>
                    </a:p>
                  </a:txBody>
                  <a:tcPr anchor="ctr"/>
                </a:tc>
                <a:tc>
                  <a:txBody>
                    <a:bodyPr/>
                    <a:lstStyle/>
                    <a:p>
                      <a:pPr>
                        <a:buNone/>
                      </a:pPr>
                      <a:r>
                        <a:rPr lang="en-US" sz="1050"/>
                        <a:t>Challenges state AI laws on constitutional grounds</a:t>
                      </a:r>
                    </a:p>
                  </a:txBody>
                  <a:tcPr anchor="ctr"/>
                </a:tc>
                <a:extLst>
                  <a:ext uri="{0D108BD9-81ED-4DB2-BD59-A6C34878D82A}">
                    <a16:rowId xmlns:a16="http://schemas.microsoft.com/office/drawing/2014/main" val="3588103339"/>
                  </a:ext>
                </a:extLst>
              </a:tr>
              <a:tr h="370840">
                <a:tc>
                  <a:txBody>
                    <a:bodyPr/>
                    <a:lstStyle/>
                    <a:p>
                      <a:pPr>
                        <a:buNone/>
                      </a:pPr>
                      <a:r>
                        <a:rPr lang="en-US" sz="1050"/>
                        <a:t>Biden's EO 14110 (safety-focused)</a:t>
                      </a:r>
                    </a:p>
                  </a:txBody>
                  <a:tcPr anchor="ctr"/>
                </a:tc>
                <a:tc>
                  <a:txBody>
                    <a:bodyPr/>
                    <a:lstStyle/>
                    <a:p>
                      <a:pPr>
                        <a:buNone/>
                      </a:pPr>
                      <a:r>
                        <a:rPr lang="en-US" sz="1050"/>
                        <a:t>Revoked; replaced with "innovation-first" approach</a:t>
                      </a:r>
                    </a:p>
                  </a:txBody>
                  <a:tcPr anchor="ctr"/>
                </a:tc>
                <a:extLst>
                  <a:ext uri="{0D108BD9-81ED-4DB2-BD59-A6C34878D82A}">
                    <a16:rowId xmlns:a16="http://schemas.microsoft.com/office/drawing/2014/main" val="3492477771"/>
                  </a:ext>
                </a:extLst>
              </a:tr>
              <a:tr h="370840">
                <a:tc>
                  <a:txBody>
                    <a:bodyPr/>
                    <a:lstStyle/>
                    <a:p>
                      <a:pPr>
                        <a:buNone/>
                      </a:pPr>
                      <a:r>
                        <a:rPr lang="it-IT" sz="1050"/>
                        <a:t>NIST AI RMF + Cyber AI Profile</a:t>
                      </a:r>
                    </a:p>
                  </a:txBody>
                  <a:tcPr anchor="ctr"/>
                </a:tc>
                <a:tc>
                  <a:txBody>
                    <a:bodyPr/>
                    <a:lstStyle/>
                    <a:p>
                      <a:pPr>
                        <a:buNone/>
                      </a:pPr>
                      <a:r>
                        <a:rPr lang="en-US" sz="1050"/>
                        <a:t>De facto technical standard — voluntary, bipartisan, framework-level</a:t>
                      </a:r>
                    </a:p>
                  </a:txBody>
                  <a:tcPr anchor="ctr"/>
                </a:tc>
                <a:extLst>
                  <a:ext uri="{0D108BD9-81ED-4DB2-BD59-A6C34878D82A}">
                    <a16:rowId xmlns:a16="http://schemas.microsoft.com/office/drawing/2014/main" val="3981965640"/>
                  </a:ext>
                </a:extLst>
              </a:tr>
              <a:tr h="370840">
                <a:tc>
                  <a:txBody>
                    <a:bodyPr/>
                    <a:lstStyle/>
                    <a:p>
                      <a:pPr>
                        <a:buNone/>
                      </a:pPr>
                      <a:r>
                        <a:rPr lang="en-US" sz="1050"/>
                        <a:t>What</a:t>
                      </a:r>
                    </a:p>
                  </a:txBody>
                  <a:tcPr anchor="ctr"/>
                </a:tc>
                <a:tc>
                  <a:txBody>
                    <a:bodyPr/>
                    <a:lstStyle/>
                    <a:p>
                      <a:pPr>
                        <a:buNone/>
                      </a:pPr>
                      <a:r>
                        <a:rPr lang="en-US" sz="1050" dirty="0"/>
                        <a:t>Status</a:t>
                      </a:r>
                    </a:p>
                  </a:txBody>
                  <a:tcPr anchor="ctr"/>
                </a:tc>
                <a:extLst>
                  <a:ext uri="{0D108BD9-81ED-4DB2-BD59-A6C34878D82A}">
                    <a16:rowId xmlns:a16="http://schemas.microsoft.com/office/drawing/2014/main" val="2727538010"/>
                  </a:ext>
                </a:extLst>
              </a:tr>
            </a:tbl>
          </a:graphicData>
        </a:graphic>
      </p:graphicFrame>
      <p:graphicFrame>
        <p:nvGraphicFramePr>
          <p:cNvPr id="5" name="Table 4">
            <a:extLst>
              <a:ext uri="{FF2B5EF4-FFF2-40B4-BE49-F238E27FC236}">
                <a16:creationId xmlns:a16="http://schemas.microsoft.com/office/drawing/2014/main" id="{9B815D68-412A-F613-4020-C6ACE92F6112}"/>
              </a:ext>
            </a:extLst>
          </p:cNvPr>
          <p:cNvGraphicFramePr>
            <a:graphicFrameLocks noGrp="1"/>
          </p:cNvGraphicFramePr>
          <p:nvPr>
            <p:extLst>
              <p:ext uri="{D42A27DB-BD31-4B8C-83A1-F6EECF244321}">
                <p14:modId xmlns:p14="http://schemas.microsoft.com/office/powerpoint/2010/main" val="2237361516"/>
              </p:ext>
            </p:extLst>
          </p:nvPr>
        </p:nvGraphicFramePr>
        <p:xfrm>
          <a:off x="4300404" y="2315662"/>
          <a:ext cx="3528602" cy="2677160"/>
        </p:xfrm>
        <a:graphic>
          <a:graphicData uri="http://schemas.openxmlformats.org/drawingml/2006/table">
            <a:tbl>
              <a:tblPr firstRow="1" bandRow="1">
                <a:tableStyleId>{5C22544A-7EE6-4342-B048-85BDC9FD1C3A}</a:tableStyleId>
              </a:tblPr>
              <a:tblGrid>
                <a:gridCol w="1405484">
                  <a:extLst>
                    <a:ext uri="{9D8B030D-6E8A-4147-A177-3AD203B41FA5}">
                      <a16:colId xmlns:a16="http://schemas.microsoft.com/office/drawing/2014/main" val="3608949836"/>
                    </a:ext>
                  </a:extLst>
                </a:gridCol>
                <a:gridCol w="2123118">
                  <a:extLst>
                    <a:ext uri="{9D8B030D-6E8A-4147-A177-3AD203B41FA5}">
                      <a16:colId xmlns:a16="http://schemas.microsoft.com/office/drawing/2014/main" val="1029234769"/>
                    </a:ext>
                  </a:extLst>
                </a:gridCol>
              </a:tblGrid>
              <a:tr h="370840">
                <a:tc>
                  <a:txBody>
                    <a:bodyPr/>
                    <a:lstStyle/>
                    <a:p>
                      <a:pPr>
                        <a:buNone/>
                      </a:pPr>
                      <a:r>
                        <a:rPr lang="en-US" sz="1050" dirty="0"/>
                        <a:t>State / Bill</a:t>
                      </a:r>
                    </a:p>
                  </a:txBody>
                  <a:tcPr anchor="ctr"/>
                </a:tc>
                <a:tc>
                  <a:txBody>
                    <a:bodyPr/>
                    <a:lstStyle/>
                    <a:p>
                      <a:pPr>
                        <a:buNone/>
                      </a:pPr>
                      <a:r>
                        <a:rPr lang="en-US" sz="1050"/>
                        <a:t>Status</a:t>
                      </a:r>
                    </a:p>
                  </a:txBody>
                  <a:tcPr anchor="ctr"/>
                </a:tc>
                <a:extLst>
                  <a:ext uri="{0D108BD9-81ED-4DB2-BD59-A6C34878D82A}">
                    <a16:rowId xmlns:a16="http://schemas.microsoft.com/office/drawing/2014/main" val="2674656171"/>
                  </a:ext>
                </a:extLst>
              </a:tr>
              <a:tr h="370840">
                <a:tc>
                  <a:txBody>
                    <a:bodyPr/>
                    <a:lstStyle/>
                    <a:p>
                      <a:pPr>
                        <a:buNone/>
                      </a:pPr>
                      <a:r>
                        <a:rPr lang="en-US" sz="1050"/>
                        <a:t>45+ states</a:t>
                      </a:r>
                    </a:p>
                  </a:txBody>
                  <a:tcPr anchor="ctr"/>
                </a:tc>
                <a:tc>
                  <a:txBody>
                    <a:bodyPr/>
                    <a:lstStyle/>
                    <a:p>
                      <a:pPr>
                        <a:buNone/>
                      </a:pPr>
                      <a:r>
                        <a:rPr lang="en-US" sz="1050"/>
                        <a:t>Introduced AI-related bills in 2024</a:t>
                      </a:r>
                    </a:p>
                  </a:txBody>
                  <a:tcPr anchor="ctr"/>
                </a:tc>
                <a:extLst>
                  <a:ext uri="{0D108BD9-81ED-4DB2-BD59-A6C34878D82A}">
                    <a16:rowId xmlns:a16="http://schemas.microsoft.com/office/drawing/2014/main" val="3008932414"/>
                  </a:ext>
                </a:extLst>
              </a:tr>
              <a:tr h="370840">
                <a:tc>
                  <a:txBody>
                    <a:bodyPr/>
                    <a:lstStyle/>
                    <a:p>
                      <a:pPr>
                        <a:buNone/>
                      </a:pPr>
                      <a:r>
                        <a:rPr lang="en-US" sz="1050"/>
                        <a:t>California TFAIA</a:t>
                      </a:r>
                    </a:p>
                  </a:txBody>
                  <a:tcPr anchor="ctr"/>
                </a:tc>
                <a:tc>
                  <a:txBody>
                    <a:bodyPr/>
                    <a:lstStyle/>
                    <a:p>
                      <a:pPr>
                        <a:buNone/>
                      </a:pPr>
                      <a:r>
                        <a:rPr lang="en-US" sz="1050"/>
                        <a:t>Effective January 1, 2026</a:t>
                      </a:r>
                    </a:p>
                  </a:txBody>
                  <a:tcPr anchor="ctr"/>
                </a:tc>
                <a:extLst>
                  <a:ext uri="{0D108BD9-81ED-4DB2-BD59-A6C34878D82A}">
                    <a16:rowId xmlns:a16="http://schemas.microsoft.com/office/drawing/2014/main" val="853233380"/>
                  </a:ext>
                </a:extLst>
              </a:tr>
              <a:tr h="370840">
                <a:tc>
                  <a:txBody>
                    <a:bodyPr/>
                    <a:lstStyle/>
                    <a:p>
                      <a:pPr>
                        <a:buNone/>
                      </a:pPr>
                      <a:r>
                        <a:rPr lang="en-US" sz="1050"/>
                        <a:t>Texas RAIGA</a:t>
                      </a:r>
                    </a:p>
                  </a:txBody>
                  <a:tcPr anchor="ctr"/>
                </a:tc>
                <a:tc>
                  <a:txBody>
                    <a:bodyPr/>
                    <a:lstStyle/>
                    <a:p>
                      <a:pPr>
                        <a:buNone/>
                      </a:pPr>
                      <a:r>
                        <a:rPr lang="en-US" sz="1050"/>
                        <a:t>Effective January 1, 2026</a:t>
                      </a:r>
                    </a:p>
                  </a:txBody>
                  <a:tcPr anchor="ctr"/>
                </a:tc>
                <a:extLst>
                  <a:ext uri="{0D108BD9-81ED-4DB2-BD59-A6C34878D82A}">
                    <a16:rowId xmlns:a16="http://schemas.microsoft.com/office/drawing/2014/main" val="3588103339"/>
                  </a:ext>
                </a:extLst>
              </a:tr>
              <a:tr h="370840">
                <a:tc>
                  <a:txBody>
                    <a:bodyPr/>
                    <a:lstStyle/>
                    <a:p>
                      <a:pPr>
                        <a:buNone/>
                      </a:pPr>
                      <a:r>
                        <a:rPr lang="it-IT" sz="1050"/>
                        <a:t>Colorado AI Act (SB 24-205)</a:t>
                      </a:r>
                    </a:p>
                  </a:txBody>
                  <a:tcPr anchor="ctr"/>
                </a:tc>
                <a:tc>
                  <a:txBody>
                    <a:bodyPr/>
                    <a:lstStyle/>
                    <a:p>
                      <a:pPr>
                        <a:buNone/>
                      </a:pPr>
                      <a:r>
                        <a:rPr lang="en-US" sz="1050"/>
                        <a:t>Delayed to June 30, 2026</a:t>
                      </a:r>
                    </a:p>
                  </a:txBody>
                  <a:tcPr anchor="ctr"/>
                </a:tc>
                <a:extLst>
                  <a:ext uri="{0D108BD9-81ED-4DB2-BD59-A6C34878D82A}">
                    <a16:rowId xmlns:a16="http://schemas.microsoft.com/office/drawing/2014/main" val="3492477771"/>
                  </a:ext>
                </a:extLst>
              </a:tr>
              <a:tr h="370840">
                <a:tc>
                  <a:txBody>
                    <a:bodyPr/>
                    <a:lstStyle/>
                    <a:p>
                      <a:pPr>
                        <a:buNone/>
                      </a:pPr>
                      <a:r>
                        <a:rPr lang="en-US" sz="1050"/>
                        <a:t>Illinois HB 3773</a:t>
                      </a:r>
                    </a:p>
                  </a:txBody>
                  <a:tcPr anchor="ctr"/>
                </a:tc>
                <a:tc>
                  <a:txBody>
                    <a:bodyPr/>
                    <a:lstStyle/>
                    <a:p>
                      <a:pPr>
                        <a:buNone/>
                      </a:pPr>
                      <a:r>
                        <a:rPr lang="en-US" sz="1050"/>
                        <a:t>Prohibits AI-based hiring discrimination</a:t>
                      </a:r>
                    </a:p>
                  </a:txBody>
                  <a:tcPr anchor="ctr"/>
                </a:tc>
                <a:extLst>
                  <a:ext uri="{0D108BD9-81ED-4DB2-BD59-A6C34878D82A}">
                    <a16:rowId xmlns:a16="http://schemas.microsoft.com/office/drawing/2014/main" val="3981965640"/>
                  </a:ext>
                </a:extLst>
              </a:tr>
              <a:tr h="370840">
                <a:tc>
                  <a:txBody>
                    <a:bodyPr/>
                    <a:lstStyle/>
                    <a:p>
                      <a:pPr>
                        <a:buNone/>
                      </a:pPr>
                      <a:r>
                        <a:rPr lang="en-US" sz="1050"/>
                        <a:t>State / Bill</a:t>
                      </a:r>
                    </a:p>
                  </a:txBody>
                  <a:tcPr anchor="ctr"/>
                </a:tc>
                <a:tc>
                  <a:txBody>
                    <a:bodyPr/>
                    <a:lstStyle/>
                    <a:p>
                      <a:pPr>
                        <a:buNone/>
                      </a:pPr>
                      <a:r>
                        <a:rPr lang="en-US" sz="1050" dirty="0"/>
                        <a:t>Status</a:t>
                      </a:r>
                    </a:p>
                  </a:txBody>
                  <a:tcPr anchor="ctr"/>
                </a:tc>
                <a:extLst>
                  <a:ext uri="{0D108BD9-81ED-4DB2-BD59-A6C34878D82A}">
                    <a16:rowId xmlns:a16="http://schemas.microsoft.com/office/drawing/2014/main" val="2727538010"/>
                  </a:ext>
                </a:extLst>
              </a:tr>
            </a:tbl>
          </a:graphicData>
        </a:graphic>
      </p:graphicFrame>
      <p:graphicFrame>
        <p:nvGraphicFramePr>
          <p:cNvPr id="6" name="Table 5">
            <a:extLst>
              <a:ext uri="{FF2B5EF4-FFF2-40B4-BE49-F238E27FC236}">
                <a16:creationId xmlns:a16="http://schemas.microsoft.com/office/drawing/2014/main" id="{CC5ED700-108D-4D49-F5C1-E5E53827C1A1}"/>
              </a:ext>
            </a:extLst>
          </p:cNvPr>
          <p:cNvGraphicFramePr>
            <a:graphicFrameLocks noGrp="1"/>
          </p:cNvGraphicFramePr>
          <p:nvPr>
            <p:extLst>
              <p:ext uri="{D42A27DB-BD31-4B8C-83A1-F6EECF244321}">
                <p14:modId xmlns:p14="http://schemas.microsoft.com/office/powerpoint/2010/main" val="3579780592"/>
              </p:ext>
            </p:extLst>
          </p:nvPr>
        </p:nvGraphicFramePr>
        <p:xfrm>
          <a:off x="8158301" y="2315662"/>
          <a:ext cx="3528601" cy="2880360"/>
        </p:xfrm>
        <a:graphic>
          <a:graphicData uri="http://schemas.openxmlformats.org/drawingml/2006/table">
            <a:tbl>
              <a:tblPr firstRow="1" bandRow="1">
                <a:tableStyleId>{5C22544A-7EE6-4342-B048-85BDC9FD1C3A}</a:tableStyleId>
              </a:tblPr>
              <a:tblGrid>
                <a:gridCol w="1405484">
                  <a:extLst>
                    <a:ext uri="{9D8B030D-6E8A-4147-A177-3AD203B41FA5}">
                      <a16:colId xmlns:a16="http://schemas.microsoft.com/office/drawing/2014/main" val="3608949836"/>
                    </a:ext>
                  </a:extLst>
                </a:gridCol>
                <a:gridCol w="2123117">
                  <a:extLst>
                    <a:ext uri="{9D8B030D-6E8A-4147-A177-3AD203B41FA5}">
                      <a16:colId xmlns:a16="http://schemas.microsoft.com/office/drawing/2014/main" val="1029234769"/>
                    </a:ext>
                  </a:extLst>
                </a:gridCol>
              </a:tblGrid>
              <a:tr h="370840">
                <a:tc>
                  <a:txBody>
                    <a:bodyPr/>
                    <a:lstStyle/>
                    <a:p>
                      <a:pPr>
                        <a:buNone/>
                      </a:pPr>
                      <a:r>
                        <a:rPr lang="en-US" sz="1050" dirty="0"/>
                        <a:t>Framework / Regulation</a:t>
                      </a:r>
                    </a:p>
                  </a:txBody>
                  <a:tcPr anchor="ctr"/>
                </a:tc>
                <a:tc>
                  <a:txBody>
                    <a:bodyPr/>
                    <a:lstStyle/>
                    <a:p>
                      <a:pPr>
                        <a:buNone/>
                      </a:pPr>
                      <a:r>
                        <a:rPr lang="en-US" sz="1050"/>
                        <a:t>Scope</a:t>
                      </a:r>
                    </a:p>
                  </a:txBody>
                  <a:tcPr anchor="ctr"/>
                </a:tc>
                <a:extLst>
                  <a:ext uri="{0D108BD9-81ED-4DB2-BD59-A6C34878D82A}">
                    <a16:rowId xmlns:a16="http://schemas.microsoft.com/office/drawing/2014/main" val="2674656171"/>
                  </a:ext>
                </a:extLst>
              </a:tr>
              <a:tr h="370840">
                <a:tc>
                  <a:txBody>
                    <a:bodyPr/>
                    <a:lstStyle/>
                    <a:p>
                      <a:pPr>
                        <a:buNone/>
                      </a:pPr>
                      <a:r>
                        <a:rPr lang="en-US" sz="1050"/>
                        <a:t>EU AI Act</a:t>
                      </a:r>
                    </a:p>
                  </a:txBody>
                  <a:tcPr anchor="ctr"/>
                </a:tc>
                <a:tc>
                  <a:txBody>
                    <a:bodyPr/>
                    <a:lstStyle/>
                    <a:p>
                      <a:pPr>
                        <a:buNone/>
                      </a:pPr>
                      <a:r>
                        <a:rPr lang="en-US" sz="1050"/>
                        <a:t>Risk-based regulation; high-risk obligations phasing in 2026–2027</a:t>
                      </a:r>
                    </a:p>
                  </a:txBody>
                  <a:tcPr anchor="ctr"/>
                </a:tc>
                <a:extLst>
                  <a:ext uri="{0D108BD9-81ED-4DB2-BD59-A6C34878D82A}">
                    <a16:rowId xmlns:a16="http://schemas.microsoft.com/office/drawing/2014/main" val="3008932414"/>
                  </a:ext>
                </a:extLst>
              </a:tr>
              <a:tr h="370840">
                <a:tc>
                  <a:txBody>
                    <a:bodyPr/>
                    <a:lstStyle/>
                    <a:p>
                      <a:pPr>
                        <a:buNone/>
                      </a:pPr>
                      <a:r>
                        <a:rPr lang="en-US" sz="1050"/>
                        <a:t>ISO/IEC 42001</a:t>
                      </a:r>
                    </a:p>
                  </a:txBody>
                  <a:tcPr anchor="ctr"/>
                </a:tc>
                <a:tc>
                  <a:txBody>
                    <a:bodyPr/>
                    <a:lstStyle/>
                    <a:p>
                      <a:pPr>
                        <a:buNone/>
                      </a:pPr>
                      <a:r>
                        <a:rPr lang="en-US" sz="1050"/>
                        <a:t>Certifiable AI management system standard</a:t>
                      </a:r>
                    </a:p>
                  </a:txBody>
                  <a:tcPr anchor="ctr"/>
                </a:tc>
                <a:extLst>
                  <a:ext uri="{0D108BD9-81ED-4DB2-BD59-A6C34878D82A}">
                    <a16:rowId xmlns:a16="http://schemas.microsoft.com/office/drawing/2014/main" val="853233380"/>
                  </a:ext>
                </a:extLst>
              </a:tr>
              <a:tr h="370840">
                <a:tc>
                  <a:txBody>
                    <a:bodyPr/>
                    <a:lstStyle/>
                    <a:p>
                      <a:pPr>
                        <a:buNone/>
                      </a:pPr>
                      <a:r>
                        <a:rPr lang="en-US" sz="1050"/>
                        <a:t>OECD AI Principles</a:t>
                      </a:r>
                    </a:p>
                  </a:txBody>
                  <a:tcPr anchor="ctr"/>
                </a:tc>
                <a:tc>
                  <a:txBody>
                    <a:bodyPr/>
                    <a:lstStyle/>
                    <a:p>
                      <a:pPr>
                        <a:buNone/>
                      </a:pPr>
                      <a:r>
                        <a:rPr lang="en-US" sz="1050"/>
                        <a:t>Global alignment baseline; maps to NIST AI RMF</a:t>
                      </a:r>
                    </a:p>
                  </a:txBody>
                  <a:tcPr anchor="ctr"/>
                </a:tc>
                <a:extLst>
                  <a:ext uri="{0D108BD9-81ED-4DB2-BD59-A6C34878D82A}">
                    <a16:rowId xmlns:a16="http://schemas.microsoft.com/office/drawing/2014/main" val="3588103339"/>
                  </a:ext>
                </a:extLst>
              </a:tr>
              <a:tr h="370840">
                <a:tc>
                  <a:txBody>
                    <a:bodyPr/>
                    <a:lstStyle/>
                    <a:p>
                      <a:pPr>
                        <a:buNone/>
                      </a:pPr>
                      <a:r>
                        <a:rPr lang="en-US" sz="1050"/>
                        <a:t>Framework / Regulation</a:t>
                      </a:r>
                    </a:p>
                  </a:txBody>
                  <a:tcPr anchor="ctr"/>
                </a:tc>
                <a:tc>
                  <a:txBody>
                    <a:bodyPr/>
                    <a:lstStyle/>
                    <a:p>
                      <a:pPr>
                        <a:buNone/>
                      </a:pPr>
                      <a:r>
                        <a:rPr lang="en-US" sz="1050"/>
                        <a:t>Scope</a:t>
                      </a:r>
                    </a:p>
                  </a:txBody>
                  <a:tcPr anchor="ctr"/>
                </a:tc>
                <a:extLst>
                  <a:ext uri="{0D108BD9-81ED-4DB2-BD59-A6C34878D82A}">
                    <a16:rowId xmlns:a16="http://schemas.microsoft.com/office/drawing/2014/main" val="3492477771"/>
                  </a:ext>
                </a:extLst>
              </a:tr>
              <a:tr h="370840">
                <a:tc>
                  <a:txBody>
                    <a:bodyPr/>
                    <a:lstStyle/>
                    <a:p>
                      <a:pPr>
                        <a:buNone/>
                      </a:pPr>
                      <a:r>
                        <a:rPr lang="en-US" sz="1050"/>
                        <a:t>EU AI Act</a:t>
                      </a:r>
                    </a:p>
                  </a:txBody>
                  <a:tcPr anchor="ctr"/>
                </a:tc>
                <a:tc>
                  <a:txBody>
                    <a:bodyPr/>
                    <a:lstStyle/>
                    <a:p>
                      <a:pPr>
                        <a:buNone/>
                      </a:pPr>
                      <a:r>
                        <a:rPr lang="en-US" sz="1050"/>
                        <a:t>Risk-based regulation; high-risk obligations phasing in 2026–2027</a:t>
                      </a:r>
                    </a:p>
                  </a:txBody>
                  <a:tcPr anchor="ctr"/>
                </a:tc>
                <a:extLst>
                  <a:ext uri="{0D108BD9-81ED-4DB2-BD59-A6C34878D82A}">
                    <a16:rowId xmlns:a16="http://schemas.microsoft.com/office/drawing/2014/main" val="3981965640"/>
                  </a:ext>
                </a:extLst>
              </a:tr>
              <a:tr h="370840">
                <a:tc>
                  <a:txBody>
                    <a:bodyPr/>
                    <a:lstStyle/>
                    <a:p>
                      <a:pPr>
                        <a:buNone/>
                      </a:pPr>
                      <a:r>
                        <a:rPr lang="en-US" sz="1050"/>
                        <a:t>ISO/IEC 42001</a:t>
                      </a:r>
                    </a:p>
                  </a:txBody>
                  <a:tcPr anchor="ctr"/>
                </a:tc>
                <a:tc>
                  <a:txBody>
                    <a:bodyPr/>
                    <a:lstStyle/>
                    <a:p>
                      <a:pPr>
                        <a:buNone/>
                      </a:pPr>
                      <a:r>
                        <a:rPr lang="en-US" sz="1050" dirty="0"/>
                        <a:t>Certifiable AI management system standard</a:t>
                      </a:r>
                    </a:p>
                  </a:txBody>
                  <a:tcPr anchor="ctr"/>
                </a:tc>
                <a:extLst>
                  <a:ext uri="{0D108BD9-81ED-4DB2-BD59-A6C34878D82A}">
                    <a16:rowId xmlns:a16="http://schemas.microsoft.com/office/drawing/2014/main" val="2727538010"/>
                  </a:ext>
                </a:extLst>
              </a:tr>
            </a:tbl>
          </a:graphicData>
        </a:graphic>
      </p:graphicFrame>
      <p:sp>
        <p:nvSpPr>
          <p:cNvPr id="8" name="TextBox 7">
            <a:extLst>
              <a:ext uri="{FF2B5EF4-FFF2-40B4-BE49-F238E27FC236}">
                <a16:creationId xmlns:a16="http://schemas.microsoft.com/office/drawing/2014/main" id="{6E29F521-0B1A-EB9C-B97E-4CA6F6440A1B}"/>
              </a:ext>
            </a:extLst>
          </p:cNvPr>
          <p:cNvSpPr txBox="1"/>
          <p:nvPr/>
        </p:nvSpPr>
        <p:spPr>
          <a:xfrm>
            <a:off x="335553" y="1915552"/>
            <a:ext cx="4099560" cy="400110"/>
          </a:xfrm>
          <a:prstGeom prst="rect">
            <a:avLst/>
          </a:prstGeom>
          <a:noFill/>
        </p:spPr>
        <p:txBody>
          <a:bodyPr wrap="square">
            <a:spAutoFit/>
          </a:bodyPr>
          <a:lstStyle/>
          <a:p>
            <a:pPr algn="ctr"/>
            <a:r>
              <a:rPr lang="en-US" sz="2000" b="1" dirty="0"/>
              <a:t>Federal</a:t>
            </a:r>
          </a:p>
        </p:txBody>
      </p:sp>
      <p:sp>
        <p:nvSpPr>
          <p:cNvPr id="10" name="TextBox 9">
            <a:extLst>
              <a:ext uri="{FF2B5EF4-FFF2-40B4-BE49-F238E27FC236}">
                <a16:creationId xmlns:a16="http://schemas.microsoft.com/office/drawing/2014/main" id="{A7508D28-C845-FAE0-195F-385348E38850}"/>
              </a:ext>
            </a:extLst>
          </p:cNvPr>
          <p:cNvSpPr txBox="1"/>
          <p:nvPr/>
        </p:nvSpPr>
        <p:spPr>
          <a:xfrm>
            <a:off x="4014925" y="1964733"/>
            <a:ext cx="4099560" cy="400110"/>
          </a:xfrm>
          <a:prstGeom prst="rect">
            <a:avLst/>
          </a:prstGeom>
          <a:noFill/>
        </p:spPr>
        <p:txBody>
          <a:bodyPr wrap="square">
            <a:spAutoFit/>
          </a:bodyPr>
          <a:lstStyle/>
          <a:p>
            <a:pPr algn="ctr"/>
            <a:r>
              <a:rPr lang="en-US" sz="2000" b="1" dirty="0"/>
              <a:t>State</a:t>
            </a:r>
          </a:p>
        </p:txBody>
      </p:sp>
      <p:sp>
        <p:nvSpPr>
          <p:cNvPr id="11" name="TextBox 10">
            <a:extLst>
              <a:ext uri="{FF2B5EF4-FFF2-40B4-BE49-F238E27FC236}">
                <a16:creationId xmlns:a16="http://schemas.microsoft.com/office/drawing/2014/main" id="{E163E2B8-A8EA-CD45-4C9C-175EBDD917D3}"/>
              </a:ext>
            </a:extLst>
          </p:cNvPr>
          <p:cNvSpPr txBox="1"/>
          <p:nvPr/>
        </p:nvSpPr>
        <p:spPr>
          <a:xfrm>
            <a:off x="7872821" y="1990842"/>
            <a:ext cx="4099560" cy="400110"/>
          </a:xfrm>
          <a:prstGeom prst="rect">
            <a:avLst/>
          </a:prstGeom>
          <a:noFill/>
        </p:spPr>
        <p:txBody>
          <a:bodyPr wrap="square">
            <a:spAutoFit/>
          </a:bodyPr>
          <a:lstStyle/>
          <a:p>
            <a:pPr algn="ctr"/>
            <a:r>
              <a:rPr lang="en-US" sz="2000" b="1" dirty="0"/>
              <a:t>International</a:t>
            </a:r>
          </a:p>
        </p:txBody>
      </p:sp>
    </p:spTree>
    <p:extLst>
      <p:ext uri="{BB962C8B-B14F-4D97-AF65-F5344CB8AC3E}">
        <p14:creationId xmlns:p14="http://schemas.microsoft.com/office/powerpoint/2010/main" val="21850774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F22A9-9C5E-493C-CDE3-03F81950D1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3DA0F4-A73C-0AAD-33A9-4A85F0E3886C}"/>
              </a:ext>
            </a:extLst>
          </p:cNvPr>
          <p:cNvSpPr>
            <a:spLocks noGrp="1"/>
          </p:cNvSpPr>
          <p:nvPr>
            <p:ph type="title"/>
          </p:nvPr>
        </p:nvSpPr>
        <p:spPr>
          <a:xfrm>
            <a:off x="838200" y="363825"/>
            <a:ext cx="10515600" cy="1325563"/>
          </a:xfrm>
        </p:spPr>
        <p:txBody>
          <a:bodyPr>
            <a:normAutofit/>
          </a:bodyPr>
          <a:lstStyle/>
          <a:p>
            <a:r>
              <a:rPr lang="en-US" dirty="0"/>
              <a:t>Policy: What This Means For You</a:t>
            </a:r>
          </a:p>
        </p:txBody>
      </p:sp>
      <p:sp>
        <p:nvSpPr>
          <p:cNvPr id="3" name="TextBox 2">
            <a:extLst>
              <a:ext uri="{FF2B5EF4-FFF2-40B4-BE49-F238E27FC236}">
                <a16:creationId xmlns:a16="http://schemas.microsoft.com/office/drawing/2014/main" id="{9B607293-0E19-7077-E1B4-01A9CB36A522}"/>
              </a:ext>
            </a:extLst>
          </p:cNvPr>
          <p:cNvSpPr txBox="1"/>
          <p:nvPr/>
        </p:nvSpPr>
        <p:spPr>
          <a:xfrm>
            <a:off x="838200" y="1364568"/>
            <a:ext cx="9245367" cy="400110"/>
          </a:xfrm>
          <a:prstGeom prst="rect">
            <a:avLst/>
          </a:prstGeom>
          <a:noFill/>
        </p:spPr>
        <p:txBody>
          <a:bodyPr wrap="square">
            <a:spAutoFit/>
          </a:bodyPr>
          <a:lstStyle/>
          <a:p>
            <a:r>
              <a:rPr lang="en-US" sz="2000" dirty="0"/>
              <a:t>Policy Translation: What Should You Actually Do?</a:t>
            </a:r>
          </a:p>
        </p:txBody>
      </p:sp>
      <p:sp>
        <p:nvSpPr>
          <p:cNvPr id="7" name="TextBox 6">
            <a:extLst>
              <a:ext uri="{FF2B5EF4-FFF2-40B4-BE49-F238E27FC236}">
                <a16:creationId xmlns:a16="http://schemas.microsoft.com/office/drawing/2014/main" id="{47DA2876-3ABD-CE94-3D5E-06981C3C7E84}"/>
              </a:ext>
            </a:extLst>
          </p:cNvPr>
          <p:cNvSpPr txBox="1"/>
          <p:nvPr/>
        </p:nvSpPr>
        <p:spPr>
          <a:xfrm>
            <a:off x="1081130" y="1983429"/>
            <a:ext cx="9669361" cy="3376374"/>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b="1" dirty="0"/>
              <a:t>Don't wait for Congress.</a:t>
            </a:r>
            <a:r>
              <a:rPr lang="en-US" dirty="0"/>
              <a:t> Frameworks like NIST AI RMF and 800-53 are your actionable compliance foundation today. They don't require legislation to implement.</a:t>
            </a:r>
          </a:p>
          <a:p>
            <a:pPr marL="285750" indent="-285750">
              <a:lnSpc>
                <a:spcPct val="150000"/>
              </a:lnSpc>
              <a:buFont typeface="Arial" panose="020B0604020202020204" pitchFamily="34" charset="0"/>
              <a:buChar char="•"/>
            </a:pPr>
            <a:endParaRPr lang="en-US" dirty="0"/>
          </a:p>
          <a:p>
            <a:pPr marL="285750" indent="-285750">
              <a:lnSpc>
                <a:spcPct val="150000"/>
              </a:lnSpc>
              <a:buFont typeface="Arial" panose="020B0604020202020204" pitchFamily="34" charset="0"/>
              <a:buChar char="•"/>
            </a:pPr>
            <a:r>
              <a:rPr lang="en-US" b="1" dirty="0"/>
              <a:t>Design for the strictest standard.</a:t>
            </a:r>
            <a:r>
              <a:rPr lang="en-US" dirty="0"/>
              <a:t> If you build to EU AI Act + NIST + OWASP standards, you're covered no matter what the US does.</a:t>
            </a:r>
          </a:p>
          <a:p>
            <a:pPr marL="285750" indent="-285750">
              <a:lnSpc>
                <a:spcPct val="150000"/>
              </a:lnSpc>
              <a:buFont typeface="Arial" panose="020B0604020202020204" pitchFamily="34" charset="0"/>
              <a:buChar char="•"/>
            </a:pPr>
            <a:endParaRPr lang="en-US" dirty="0"/>
          </a:p>
          <a:p>
            <a:pPr marL="285750" indent="-285750">
              <a:lnSpc>
                <a:spcPct val="150000"/>
              </a:lnSpc>
              <a:buFont typeface="Arial" panose="020B0604020202020204" pitchFamily="34" charset="0"/>
              <a:buChar char="•"/>
            </a:pPr>
            <a:r>
              <a:rPr lang="en-US" b="1" dirty="0"/>
              <a:t>Document everything.</a:t>
            </a:r>
            <a:r>
              <a:rPr lang="en-US" dirty="0"/>
              <a:t> The one thing every regulation agrees on: you need an audit trail. Log every query, every decision, every permission denial. IR-4. AU-2. AU-3.</a:t>
            </a:r>
          </a:p>
        </p:txBody>
      </p:sp>
    </p:spTree>
    <p:extLst>
      <p:ext uri="{BB962C8B-B14F-4D97-AF65-F5344CB8AC3E}">
        <p14:creationId xmlns:p14="http://schemas.microsoft.com/office/powerpoint/2010/main" val="18444180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40AA7C-292D-EF2B-1A54-34B43A0F4C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CD1C26-D0E8-C9B4-BB07-ACFAD11695B3}"/>
              </a:ext>
            </a:extLst>
          </p:cNvPr>
          <p:cNvSpPr>
            <a:spLocks noGrp="1"/>
          </p:cNvSpPr>
          <p:nvPr>
            <p:ph type="title"/>
          </p:nvPr>
        </p:nvSpPr>
        <p:spPr>
          <a:xfrm>
            <a:off x="838200" y="363825"/>
            <a:ext cx="10515600" cy="1325563"/>
          </a:xfrm>
        </p:spPr>
        <p:txBody>
          <a:bodyPr>
            <a:normAutofit/>
          </a:bodyPr>
          <a:lstStyle/>
          <a:p>
            <a:r>
              <a:rPr lang="en-US" dirty="0"/>
              <a:t>Why This Matters</a:t>
            </a:r>
          </a:p>
        </p:txBody>
      </p:sp>
      <p:sp>
        <p:nvSpPr>
          <p:cNvPr id="3" name="TextBox 2">
            <a:extLst>
              <a:ext uri="{FF2B5EF4-FFF2-40B4-BE49-F238E27FC236}">
                <a16:creationId xmlns:a16="http://schemas.microsoft.com/office/drawing/2014/main" id="{691AD3DF-E232-950D-01C4-78E9E82F0010}"/>
              </a:ext>
            </a:extLst>
          </p:cNvPr>
          <p:cNvSpPr txBox="1"/>
          <p:nvPr/>
        </p:nvSpPr>
        <p:spPr>
          <a:xfrm>
            <a:off x="838200" y="1364568"/>
            <a:ext cx="9245367" cy="400110"/>
          </a:xfrm>
          <a:prstGeom prst="rect">
            <a:avLst/>
          </a:prstGeom>
          <a:noFill/>
        </p:spPr>
        <p:txBody>
          <a:bodyPr wrap="square">
            <a:spAutoFit/>
          </a:bodyPr>
          <a:lstStyle/>
          <a:p>
            <a:r>
              <a:rPr lang="en-US" sz="2000" dirty="0"/>
              <a:t>The Microsoft Copilot Story</a:t>
            </a:r>
          </a:p>
        </p:txBody>
      </p:sp>
      <p:sp>
        <p:nvSpPr>
          <p:cNvPr id="7" name="TextBox 6">
            <a:extLst>
              <a:ext uri="{FF2B5EF4-FFF2-40B4-BE49-F238E27FC236}">
                <a16:creationId xmlns:a16="http://schemas.microsoft.com/office/drawing/2014/main" id="{EAFF82C7-7E09-0AA5-4A8C-F0DBBD9FC8B9}"/>
              </a:ext>
            </a:extLst>
          </p:cNvPr>
          <p:cNvSpPr txBox="1"/>
          <p:nvPr/>
        </p:nvSpPr>
        <p:spPr>
          <a:xfrm>
            <a:off x="1081130" y="1983429"/>
            <a:ext cx="9669361" cy="2862322"/>
          </a:xfrm>
          <a:prstGeom prst="rect">
            <a:avLst/>
          </a:prstGeom>
          <a:noFill/>
        </p:spPr>
        <p:txBody>
          <a:bodyPr wrap="square">
            <a:spAutoFit/>
          </a:bodyPr>
          <a:lstStyle/>
          <a:p>
            <a:pPr marL="285750" indent="-285750">
              <a:buFont typeface="Arial" panose="020B0604020202020204" pitchFamily="34" charset="0"/>
              <a:buChar char="•"/>
            </a:pPr>
            <a:r>
              <a:rPr lang="en-US" dirty="0"/>
              <a:t>June 2025: Researchers discovered a zero-click vulnerability in Microsoft 365 Copilot.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 single email — never opened, never clicked — triggered data exfiltration through the AI assistant.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attack used every technique we covered today: Indirect prompt injection → hidden in email content Data exfiltration → embedded in a rendered image URL CSP bypass → via an allowlisted Microsoft domain Zero-click → automatic rendering, no user action needed</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This wasn't a demo. This was production.</a:t>
            </a:r>
          </a:p>
        </p:txBody>
      </p:sp>
    </p:spTree>
    <p:extLst>
      <p:ext uri="{BB962C8B-B14F-4D97-AF65-F5344CB8AC3E}">
        <p14:creationId xmlns:p14="http://schemas.microsoft.com/office/powerpoint/2010/main" val="16295978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A40ACF-FB3C-C6D5-6FCA-63EEE861E3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26A47F-A5F7-085E-C2DE-385DB1A45A8D}"/>
              </a:ext>
            </a:extLst>
          </p:cNvPr>
          <p:cNvSpPr>
            <a:spLocks noGrp="1"/>
          </p:cNvSpPr>
          <p:nvPr>
            <p:ph type="title"/>
          </p:nvPr>
        </p:nvSpPr>
        <p:spPr>
          <a:xfrm>
            <a:off x="838200" y="363825"/>
            <a:ext cx="10515600" cy="1325563"/>
          </a:xfrm>
        </p:spPr>
        <p:txBody>
          <a:bodyPr>
            <a:normAutofit/>
          </a:bodyPr>
          <a:lstStyle/>
          <a:p>
            <a:r>
              <a:rPr lang="en-US" dirty="0"/>
              <a:t>The Closing: Your Mission</a:t>
            </a:r>
          </a:p>
        </p:txBody>
      </p:sp>
      <p:sp>
        <p:nvSpPr>
          <p:cNvPr id="3" name="TextBox 2">
            <a:extLst>
              <a:ext uri="{FF2B5EF4-FFF2-40B4-BE49-F238E27FC236}">
                <a16:creationId xmlns:a16="http://schemas.microsoft.com/office/drawing/2014/main" id="{3C9D9DB7-2238-D82C-9A77-0A78920CFFD3}"/>
              </a:ext>
            </a:extLst>
          </p:cNvPr>
          <p:cNvSpPr txBox="1"/>
          <p:nvPr/>
        </p:nvSpPr>
        <p:spPr>
          <a:xfrm>
            <a:off x="838200" y="1364568"/>
            <a:ext cx="9245367" cy="400110"/>
          </a:xfrm>
          <a:prstGeom prst="rect">
            <a:avLst/>
          </a:prstGeom>
          <a:noFill/>
        </p:spPr>
        <p:txBody>
          <a:bodyPr wrap="square">
            <a:spAutoFit/>
          </a:bodyPr>
          <a:lstStyle/>
          <a:p>
            <a:r>
              <a:rPr lang="en-US" sz="2000" dirty="0"/>
              <a:t>Your Mission, Should You Choose to Accept It</a:t>
            </a:r>
          </a:p>
        </p:txBody>
      </p:sp>
      <p:sp>
        <p:nvSpPr>
          <p:cNvPr id="7" name="TextBox 6">
            <a:extLst>
              <a:ext uri="{FF2B5EF4-FFF2-40B4-BE49-F238E27FC236}">
                <a16:creationId xmlns:a16="http://schemas.microsoft.com/office/drawing/2014/main" id="{DF0815A6-B24B-ED3C-11FC-658414BED99E}"/>
              </a:ext>
            </a:extLst>
          </p:cNvPr>
          <p:cNvSpPr txBox="1"/>
          <p:nvPr/>
        </p:nvSpPr>
        <p:spPr>
          <a:xfrm>
            <a:off x="1081130" y="1983429"/>
            <a:ext cx="9669361" cy="3791872"/>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b="1" dirty="0"/>
              <a:t>Go test something.</a:t>
            </a:r>
            <a:r>
              <a:rPr lang="en-US" dirty="0"/>
              <a:t> Pick one AI system at your org. Run </a:t>
            </a:r>
            <a:r>
              <a:rPr lang="en-US" dirty="0" err="1"/>
              <a:t>Promptfoo</a:t>
            </a:r>
            <a:r>
              <a:rPr lang="en-US" dirty="0"/>
              <a:t> or Garak against it. See what breaks.</a:t>
            </a:r>
          </a:p>
          <a:p>
            <a:pPr marL="285750" indent="-285750">
              <a:lnSpc>
                <a:spcPct val="150000"/>
              </a:lnSpc>
              <a:buFont typeface="Arial" panose="020B0604020202020204" pitchFamily="34" charset="0"/>
              <a:buChar char="•"/>
            </a:pPr>
            <a:endParaRPr lang="en-US" dirty="0"/>
          </a:p>
          <a:p>
            <a:pPr marL="285750" indent="-285750">
              <a:lnSpc>
                <a:spcPct val="150000"/>
              </a:lnSpc>
              <a:buFont typeface="Arial" panose="020B0604020202020204" pitchFamily="34" charset="0"/>
              <a:buChar char="•"/>
            </a:pPr>
            <a:r>
              <a:rPr lang="en-US" b="1" dirty="0"/>
              <a:t>Go map something.</a:t>
            </a:r>
            <a:r>
              <a:rPr lang="en-US" dirty="0"/>
              <a:t> Take one vulnerability you found today. Map it to NIST 800-53. </a:t>
            </a:r>
          </a:p>
          <a:p>
            <a:pPr marL="285750" indent="-285750">
              <a:lnSpc>
                <a:spcPct val="150000"/>
              </a:lnSpc>
              <a:buFont typeface="Arial" panose="020B0604020202020204" pitchFamily="34" charset="0"/>
              <a:buChar char="•"/>
            </a:pPr>
            <a:endParaRPr lang="en-US" dirty="0"/>
          </a:p>
          <a:p>
            <a:pPr marL="285750" indent="-285750">
              <a:lnSpc>
                <a:spcPct val="150000"/>
              </a:lnSpc>
              <a:buFont typeface="Arial" panose="020B0604020202020204" pitchFamily="34" charset="0"/>
              <a:buChar char="•"/>
            </a:pPr>
            <a:r>
              <a:rPr lang="en-US" b="1" dirty="0"/>
              <a:t>Go build something.</a:t>
            </a:r>
            <a:r>
              <a:rPr lang="en-US" dirty="0"/>
              <a:t> Deploy one classifier. Add one guardrail. Write one AI incident response runbook.</a:t>
            </a:r>
          </a:p>
          <a:p>
            <a:pPr marL="285750" indent="-285750">
              <a:lnSpc>
                <a:spcPct val="150000"/>
              </a:lnSpc>
              <a:buFont typeface="Arial" panose="020B0604020202020204" pitchFamily="34" charset="0"/>
              <a:buChar char="•"/>
            </a:pPr>
            <a:endParaRPr lang="en-US" dirty="0"/>
          </a:p>
          <a:p>
            <a:pPr marL="285750" indent="-285750">
              <a:lnSpc>
                <a:spcPct val="150000"/>
              </a:lnSpc>
              <a:buFont typeface="Arial" panose="020B0604020202020204" pitchFamily="34" charset="0"/>
              <a:buChar char="•"/>
            </a:pPr>
            <a:r>
              <a:rPr lang="en-US" b="1" dirty="0"/>
              <a:t>Go teach someone.</a:t>
            </a:r>
            <a:r>
              <a:rPr lang="en-US" dirty="0"/>
              <a:t> You now know more about AI security than 95% of the industry. Spread it.</a:t>
            </a:r>
          </a:p>
        </p:txBody>
      </p:sp>
    </p:spTree>
    <p:extLst>
      <p:ext uri="{BB962C8B-B14F-4D97-AF65-F5344CB8AC3E}">
        <p14:creationId xmlns:p14="http://schemas.microsoft.com/office/powerpoint/2010/main" val="26298482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C222C-DC10-CB7E-5B2A-4BD1E196F0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76DAE1-C78B-9B9C-3FF3-D2E13B2BDF4F}"/>
              </a:ext>
            </a:extLst>
          </p:cNvPr>
          <p:cNvSpPr>
            <a:spLocks noGrp="1"/>
          </p:cNvSpPr>
          <p:nvPr>
            <p:ph type="title"/>
          </p:nvPr>
        </p:nvSpPr>
        <p:spPr>
          <a:xfrm>
            <a:off x="838200" y="363825"/>
            <a:ext cx="10515600" cy="1325563"/>
          </a:xfrm>
        </p:spPr>
        <p:txBody>
          <a:bodyPr>
            <a:normAutofit/>
          </a:bodyPr>
          <a:lstStyle/>
          <a:p>
            <a:r>
              <a:rPr lang="en-US" dirty="0"/>
              <a:t>Your Feedback is Really Appreciated</a:t>
            </a:r>
          </a:p>
        </p:txBody>
      </p:sp>
      <p:pic>
        <p:nvPicPr>
          <p:cNvPr id="4" name="Picture 3">
            <a:extLst>
              <a:ext uri="{FF2B5EF4-FFF2-40B4-BE49-F238E27FC236}">
                <a16:creationId xmlns:a16="http://schemas.microsoft.com/office/drawing/2014/main" id="{3EEF4253-1395-F4B5-CBD8-A18AE74C62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13988" y="1924812"/>
            <a:ext cx="4764024" cy="4764024"/>
          </a:xfrm>
          <a:prstGeom prst="rect">
            <a:avLst/>
          </a:prstGeom>
        </p:spPr>
      </p:pic>
      <p:sp>
        <p:nvSpPr>
          <p:cNvPr id="5" name="TextBox 4">
            <a:extLst>
              <a:ext uri="{FF2B5EF4-FFF2-40B4-BE49-F238E27FC236}">
                <a16:creationId xmlns:a16="http://schemas.microsoft.com/office/drawing/2014/main" id="{9EB55B6C-0CCA-4842-F2B7-26F044B5FB2D}"/>
              </a:ext>
            </a:extLst>
          </p:cNvPr>
          <p:cNvSpPr txBox="1"/>
          <p:nvPr/>
        </p:nvSpPr>
        <p:spPr>
          <a:xfrm>
            <a:off x="838200" y="1364568"/>
            <a:ext cx="10399776" cy="707886"/>
          </a:xfrm>
          <a:prstGeom prst="rect">
            <a:avLst/>
          </a:prstGeom>
          <a:noFill/>
        </p:spPr>
        <p:txBody>
          <a:bodyPr wrap="square">
            <a:spAutoFit/>
          </a:bodyPr>
          <a:lstStyle/>
          <a:p>
            <a:r>
              <a:rPr lang="en-US" sz="2000" dirty="0"/>
              <a:t>This helps create better content material and improve the quality of workshops. </a:t>
            </a:r>
          </a:p>
          <a:p>
            <a:r>
              <a:rPr lang="en-US" sz="2000" dirty="0"/>
              <a:t>Est Time: 2-4 mins</a:t>
            </a:r>
          </a:p>
        </p:txBody>
      </p:sp>
    </p:spTree>
    <p:extLst>
      <p:ext uri="{BB962C8B-B14F-4D97-AF65-F5344CB8AC3E}">
        <p14:creationId xmlns:p14="http://schemas.microsoft.com/office/powerpoint/2010/main" val="35407110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3A87E-CC72-4CE9-89C9-A66EBEC123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30619D-16D1-2A1B-B4CE-9B3088458456}"/>
              </a:ext>
            </a:extLst>
          </p:cNvPr>
          <p:cNvSpPr>
            <a:spLocks noGrp="1"/>
          </p:cNvSpPr>
          <p:nvPr>
            <p:ph type="title"/>
          </p:nvPr>
        </p:nvSpPr>
        <p:spPr>
          <a:xfrm>
            <a:off x="1513164" y="1386230"/>
            <a:ext cx="9165672" cy="1325563"/>
          </a:xfrm>
        </p:spPr>
        <p:txBody>
          <a:bodyPr/>
          <a:lstStyle/>
          <a:p>
            <a:pPr algn="ctr"/>
            <a:r>
              <a:rPr lang="en-US" dirty="0"/>
              <a:t>Thank You</a:t>
            </a:r>
          </a:p>
        </p:txBody>
      </p:sp>
      <p:sp>
        <p:nvSpPr>
          <p:cNvPr id="6" name="TextBox 5">
            <a:extLst>
              <a:ext uri="{FF2B5EF4-FFF2-40B4-BE49-F238E27FC236}">
                <a16:creationId xmlns:a16="http://schemas.microsoft.com/office/drawing/2014/main" id="{41686CCC-F8CC-F714-4110-CCC968019A37}"/>
              </a:ext>
            </a:extLst>
          </p:cNvPr>
          <p:cNvSpPr txBox="1"/>
          <p:nvPr/>
        </p:nvSpPr>
        <p:spPr>
          <a:xfrm>
            <a:off x="3211935" y="2711793"/>
            <a:ext cx="6096698" cy="1200329"/>
          </a:xfrm>
          <a:prstGeom prst="rect">
            <a:avLst/>
          </a:prstGeom>
          <a:noFill/>
        </p:spPr>
        <p:txBody>
          <a:bodyPr wrap="square">
            <a:spAutoFit/>
          </a:bodyPr>
          <a:lstStyle/>
          <a:p>
            <a:pPr algn="ctr">
              <a:buNone/>
            </a:pPr>
            <a:r>
              <a:rPr lang="en-US" b="1" dirty="0"/>
              <a:t>Content:</a:t>
            </a:r>
            <a:r>
              <a:rPr lang="en-US" dirty="0"/>
              <a:t> Pavan Reddy Principal Developer, </a:t>
            </a:r>
            <a:r>
              <a:rPr lang="en-US" dirty="0" err="1"/>
              <a:t>AutomataSecure</a:t>
            </a:r>
            <a:endParaRPr lang="en-US" dirty="0"/>
          </a:p>
          <a:p>
            <a:pPr algn="ctr">
              <a:buNone/>
            </a:pPr>
            <a:r>
              <a:rPr lang="en-US" dirty="0"/>
              <a:t>Workshop materials: [your link here]</a:t>
            </a:r>
          </a:p>
          <a:p>
            <a:pPr algn="ctr">
              <a:buNone/>
            </a:pPr>
            <a:r>
              <a:rPr lang="en-US" dirty="0"/>
              <a:t>[Your social handles / contact info]</a:t>
            </a:r>
          </a:p>
        </p:txBody>
      </p:sp>
    </p:spTree>
    <p:extLst>
      <p:ext uri="{BB962C8B-B14F-4D97-AF65-F5344CB8AC3E}">
        <p14:creationId xmlns:p14="http://schemas.microsoft.com/office/powerpoint/2010/main" val="24555067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4843</TotalTime>
  <Words>3261</Words>
  <Application>Microsoft Office PowerPoint</Application>
  <PresentationFormat>Widescreen</PresentationFormat>
  <Paragraphs>209</Paragraphs>
  <Slides>13</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Aptos Display</vt:lpstr>
      <vt:lpstr>Arial</vt:lpstr>
      <vt:lpstr>Office Theme</vt:lpstr>
      <vt:lpstr>Tools, Frameworks &amp; Resources You Broke It. Now What?</vt:lpstr>
      <vt:lpstr>The Good News</vt:lpstr>
      <vt:lpstr>NIST 800-53: The Control Catalog You Already Know</vt:lpstr>
      <vt:lpstr>The Framework Landscape</vt:lpstr>
      <vt:lpstr>OWASP Top 10 for LLMs (2025)</vt:lpstr>
      <vt:lpstr>MITRE ATLAS: ATT&amp;CK for AI</vt:lpstr>
      <vt:lpstr>The Tools Arsenal</vt:lpstr>
      <vt:lpstr>The Policy Landscape (Where Things Stand)</vt:lpstr>
      <vt:lpstr>Policy: What This Means For You</vt:lpstr>
      <vt:lpstr>Why This Matters</vt:lpstr>
      <vt:lpstr>The Closing: Your Mission</vt:lpstr>
      <vt:lpstr>Your Feedback is Really Appreciated</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Pavan Reddy</dc:creator>
  <cp:lastModifiedBy>pavanmreddymanage@gmail.com</cp:lastModifiedBy>
  <cp:revision>57</cp:revision>
  <dcterms:created xsi:type="dcterms:W3CDTF">2026-01-27T03:52:05Z</dcterms:created>
  <dcterms:modified xsi:type="dcterms:W3CDTF">2026-03-19T04:54:50Z</dcterms:modified>
</cp:coreProperties>
</file>
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1" r:id="rId3"/>
    <p:sldId id="333" r:id="rId4"/>
    <p:sldId id="334" r:id="rId5"/>
    <p:sldId id="336" r:id="rId6"/>
    <p:sldId id="337" r:id="rId7"/>
    <p:sldId id="340" r:id="rId8"/>
    <p:sldId id="341" r:id="rId9"/>
    <p:sldId id="342" r:id="rId10"/>
    <p:sldId id="348" r:id="rId11"/>
    <p:sldId id="343" r:id="rId12"/>
    <p:sldId id="344" r:id="rId13"/>
    <p:sldId id="346" r:id="rId14"/>
    <p:sldId id="347" r:id="rId15"/>
    <p:sldId id="299" r:id="rId16"/>
    <p:sldId id="331" r:id="rId17"/>
    <p:sldId id="332" r:id="rId18"/>
    <p:sldId id="30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11955-FBB0-7B2B-408B-20B32E299D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0B31AB-96D0-DDD9-596F-B956D722A4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6DC75A-DA62-C02E-8EC5-1EDF2496C86D}"/>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1F7AE3F7-9668-CE93-C1D9-E88054559D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385BC9-B4A2-D7A9-D368-3E3D197274B3}"/>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2554520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5C421-7253-952F-46F3-9563AD6268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88F13D-BE1C-A095-1EB8-12B34B2C88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9DF32-50DF-E65E-6E92-0A4A5CA22EEC}"/>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3BF52F4F-BEF5-E854-33EF-0D235298B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1F0C1F-D22E-CB0E-7ED7-D84EC9B54FA8}"/>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326546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BA233-8AFB-F69D-E423-977F6AA2D6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C332FB-682C-BDAC-0414-4DC061D15C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823115-DF10-8FDF-8E95-D5438CEFEE6E}"/>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15EF5F88-D289-8CA9-46F3-5FA017FB9F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C42E9-9023-E35B-C083-8786840F98CE}"/>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4070748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71D9-1469-D9C4-C88B-2831B3E773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B0B7A-4B10-6D51-3A68-5BC340976A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0051C0-4C06-C105-28F9-49D7E8C8C5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18AAF1-B7BE-63FB-9223-CA3051A4F45F}"/>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6" name="Footer Placeholder 5">
            <a:extLst>
              <a:ext uri="{FF2B5EF4-FFF2-40B4-BE49-F238E27FC236}">
                <a16:creationId xmlns:a16="http://schemas.microsoft.com/office/drawing/2014/main" id="{215989D5-072E-6BF6-47DA-C398B64912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E7EB3E-5EB1-79D3-D29F-C3F28FF9FB74}"/>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619496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B89F0-5E5A-CFFF-9B7C-D07EF57F60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53FF94-8EE7-1238-2B9F-6843F94A75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320857-A738-0A21-2BDB-C396A19AB4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850C81-7FC3-AAF5-CCA7-3E773903B5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9465A4-4CBB-9D23-E4C5-6B07AE08BE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BDDE1-2BFD-3C32-2F31-377405CC67AF}"/>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8" name="Footer Placeholder 7">
            <a:extLst>
              <a:ext uri="{FF2B5EF4-FFF2-40B4-BE49-F238E27FC236}">
                <a16:creationId xmlns:a16="http://schemas.microsoft.com/office/drawing/2014/main" id="{17B6B5BC-D282-1E44-AFC5-93E89162CE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D71DC1-4B5C-DAD9-BE75-2B69EA8E3F72}"/>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4085941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9F42-0443-38C2-6F2D-065C738DC1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684F2D-814A-523D-4B9F-E223D9D3D99E}"/>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4" name="Footer Placeholder 3">
            <a:extLst>
              <a:ext uri="{FF2B5EF4-FFF2-40B4-BE49-F238E27FC236}">
                <a16:creationId xmlns:a16="http://schemas.microsoft.com/office/drawing/2014/main" id="{3EB756A9-97E4-658E-608C-624BB98B5B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941C59-97AB-9553-8E6A-B611BB67D06B}"/>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77653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A39B3D-2BC6-AEFE-3EB1-06EECAD6F8CD}"/>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3" name="Footer Placeholder 2">
            <a:extLst>
              <a:ext uri="{FF2B5EF4-FFF2-40B4-BE49-F238E27FC236}">
                <a16:creationId xmlns:a16="http://schemas.microsoft.com/office/drawing/2014/main" id="{0925B37F-FA37-D736-9596-10DF93B72F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6B9824-3B82-AC17-D4F9-DC13985F2996}"/>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1498474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724A5-01CD-9E6E-6D23-47A50CDA8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C5F473-BDD9-9A17-AADE-0189868120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B4E1FC-4F03-E9CC-A6BA-762490C39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ADF56-9430-8811-329D-5D1C3DEA651D}"/>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6" name="Footer Placeholder 5">
            <a:extLst>
              <a:ext uri="{FF2B5EF4-FFF2-40B4-BE49-F238E27FC236}">
                <a16:creationId xmlns:a16="http://schemas.microsoft.com/office/drawing/2014/main" id="{A9FF3FE8-0500-9F12-CEBD-17C92FA9A4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C7E827-4E6E-BEA7-511E-813D71B1FE8A}"/>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3551074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3F43-D7DC-2C1D-CA77-45C7CFF50E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E5C296-311B-9E1E-CA9B-B7D74C960B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E44CD4-6BC9-8DB9-6D6D-0C35AB278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3E1273-8BC8-7B84-4917-E439F937C653}"/>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6" name="Footer Placeholder 5">
            <a:extLst>
              <a:ext uri="{FF2B5EF4-FFF2-40B4-BE49-F238E27FC236}">
                <a16:creationId xmlns:a16="http://schemas.microsoft.com/office/drawing/2014/main" id="{48FA597B-4F00-C570-6EE8-5225887B00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98D2CB-3BCD-82CA-4A74-942A9D97E7ED}"/>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3226555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BEC6-89AF-73C2-0147-2C85FB6EC3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611129-12EF-3E4A-16A1-DF694C59F7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3FC0E2-421A-4598-FB34-C94DCA15825F}"/>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BA8EF32C-DB9E-C5DD-9BB8-CAB16E1522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EC4FC-8C32-A671-C023-0B74E6E4E17A}"/>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1595778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6DCD78-2985-CD96-6506-AA5624AC25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11F4BA-FA32-2492-539C-AD3B4A0097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01734-55D1-C8D5-508B-78486EDD54A5}"/>
              </a:ext>
            </a:extLst>
          </p:cNvPr>
          <p:cNvSpPr>
            <a:spLocks noGrp="1"/>
          </p:cNvSpPr>
          <p:nvPr>
            <p:ph type="dt" sz="half" idx="10"/>
          </p:nvPr>
        </p:nvSpPr>
        <p:spPr/>
        <p:txBody>
          <a:body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BB658370-A3ED-13C1-62A2-2FD9667AF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A2FBA-71A4-6792-7BA1-F27E016434BD}"/>
              </a:ext>
            </a:extLst>
          </p:cNvPr>
          <p:cNvSpPr>
            <a:spLocks noGrp="1"/>
          </p:cNvSpPr>
          <p:nvPr>
            <p:ph type="sldNum" sz="quarter" idx="12"/>
          </p:nvPr>
        </p:nvSpPr>
        <p:spPr/>
        <p:txBody>
          <a:bodyPr/>
          <a:lstStyle/>
          <a:p>
            <a:fld id="{800F0767-D4A9-4B17-944F-28B460641AA0}" type="slidenum">
              <a:rPr lang="en-US" smtClean="0"/>
              <a:t>‹#›</a:t>
            </a:fld>
            <a:endParaRPr lang="en-US"/>
          </a:p>
        </p:txBody>
      </p:sp>
    </p:spTree>
    <p:extLst>
      <p:ext uri="{BB962C8B-B14F-4D97-AF65-F5344CB8AC3E}">
        <p14:creationId xmlns:p14="http://schemas.microsoft.com/office/powerpoint/2010/main" val="1616410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CD047E-691C-703B-2843-AC615B96CF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D27DDB-2C10-E6F1-A604-E91BE486F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6CED8-6061-2F50-5789-FAC3B75762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0B646E-4CF0-4FEE-AD28-2B93B80C8AE0}" type="datetimeFigureOut">
              <a:rPr lang="en-US" smtClean="0"/>
              <a:t>3/19/2026</a:t>
            </a:fld>
            <a:endParaRPr lang="en-US"/>
          </a:p>
        </p:txBody>
      </p:sp>
      <p:sp>
        <p:nvSpPr>
          <p:cNvPr id="5" name="Footer Placeholder 4">
            <a:extLst>
              <a:ext uri="{FF2B5EF4-FFF2-40B4-BE49-F238E27FC236}">
                <a16:creationId xmlns:a16="http://schemas.microsoft.com/office/drawing/2014/main" id="{DBBB7625-8C43-493F-CEB8-D5133D8BA9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39AE166-ECFB-D880-157A-C506C6C628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0F0767-D4A9-4B17-944F-28B460641AA0}" type="slidenum">
              <a:rPr lang="en-US" smtClean="0"/>
              <a:t>‹#›</a:t>
            </a:fld>
            <a:endParaRPr lang="en-US"/>
          </a:p>
        </p:txBody>
      </p:sp>
    </p:spTree>
    <p:extLst>
      <p:ext uri="{BB962C8B-B14F-4D97-AF65-F5344CB8AC3E}">
        <p14:creationId xmlns:p14="http://schemas.microsoft.com/office/powerpoint/2010/main" val="2278710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6.jp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6.jp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6.jp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6.jp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6.jpg"/><Relationship Id="rId4" Type="http://schemas.openxmlformats.org/officeDocument/2006/relationships/image" Target="../media/image15.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70600-2704-58E3-0FAB-8B57F975A574}"/>
              </a:ext>
            </a:extLst>
          </p:cNvPr>
          <p:cNvSpPr>
            <a:spLocks noGrp="1"/>
          </p:cNvSpPr>
          <p:nvPr>
            <p:ph type="ctrTitle"/>
          </p:nvPr>
        </p:nvSpPr>
        <p:spPr>
          <a:xfrm>
            <a:off x="1524000" y="1078321"/>
            <a:ext cx="9144000" cy="2350679"/>
          </a:xfrm>
        </p:spPr>
        <p:txBody>
          <a:bodyPr>
            <a:normAutofit/>
          </a:bodyPr>
          <a:lstStyle/>
          <a:p>
            <a:r>
              <a:rPr lang="en-US" b="1" dirty="0"/>
              <a:t>Model Theft</a:t>
            </a:r>
            <a:br>
              <a:rPr lang="en-US" b="1" dirty="0"/>
            </a:br>
            <a:r>
              <a:rPr lang="en-US" sz="2000" dirty="0"/>
              <a:t>You do the hard work, someone else piggybacks off it.</a:t>
            </a:r>
            <a:endParaRPr lang="en-US" dirty="0"/>
          </a:p>
        </p:txBody>
      </p:sp>
      <p:sp>
        <p:nvSpPr>
          <p:cNvPr id="3" name="Subtitle 2">
            <a:extLst>
              <a:ext uri="{FF2B5EF4-FFF2-40B4-BE49-F238E27FC236}">
                <a16:creationId xmlns:a16="http://schemas.microsoft.com/office/drawing/2014/main" id="{58A80D06-597A-7F6D-2364-9065A1CDB736}"/>
              </a:ext>
            </a:extLst>
          </p:cNvPr>
          <p:cNvSpPr>
            <a:spLocks noGrp="1"/>
          </p:cNvSpPr>
          <p:nvPr>
            <p:ph type="subTitle" idx="1"/>
          </p:nvPr>
        </p:nvSpPr>
        <p:spPr>
          <a:xfrm>
            <a:off x="1524000" y="3602038"/>
            <a:ext cx="9144000" cy="953337"/>
          </a:xfrm>
        </p:spPr>
        <p:txBody>
          <a:bodyPr/>
          <a:lstStyle/>
          <a:p>
            <a:r>
              <a:rPr lang="en-US" dirty="0"/>
              <a:t>Pavan Reddy</a:t>
            </a:r>
          </a:p>
          <a:p>
            <a:r>
              <a:rPr lang="en-US" sz="1600" dirty="0"/>
              <a:t>Principal Developer, Automata</a:t>
            </a:r>
          </a:p>
        </p:txBody>
      </p:sp>
    </p:spTree>
    <p:extLst>
      <p:ext uri="{BB962C8B-B14F-4D97-AF65-F5344CB8AC3E}">
        <p14:creationId xmlns:p14="http://schemas.microsoft.com/office/powerpoint/2010/main" val="184765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0899-2718-9F2F-50D7-97552CDA1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14500-54D2-E668-EEEF-BDEDEBEEEE36}"/>
              </a:ext>
            </a:extLst>
          </p:cNvPr>
          <p:cNvSpPr>
            <a:spLocks noGrp="1"/>
          </p:cNvSpPr>
          <p:nvPr>
            <p:ph type="title"/>
          </p:nvPr>
        </p:nvSpPr>
        <p:spPr>
          <a:xfrm>
            <a:off x="838200" y="363825"/>
            <a:ext cx="10515600" cy="1325563"/>
          </a:xfrm>
        </p:spPr>
        <p:txBody>
          <a:bodyPr/>
          <a:lstStyle/>
          <a:p>
            <a:r>
              <a:rPr lang="en-US" dirty="0"/>
              <a:t>Imagine This Scenario</a:t>
            </a:r>
          </a:p>
        </p:txBody>
      </p:sp>
      <p:sp>
        <p:nvSpPr>
          <p:cNvPr id="3" name="TextBox 2">
            <a:extLst>
              <a:ext uri="{FF2B5EF4-FFF2-40B4-BE49-F238E27FC236}">
                <a16:creationId xmlns:a16="http://schemas.microsoft.com/office/drawing/2014/main" id="{29387CAD-73DE-23AC-1A8D-90078A8A9AC3}"/>
              </a:ext>
            </a:extLst>
          </p:cNvPr>
          <p:cNvSpPr txBox="1"/>
          <p:nvPr/>
        </p:nvSpPr>
        <p:spPr>
          <a:xfrm>
            <a:off x="838200" y="1364568"/>
            <a:ext cx="9245367" cy="400110"/>
          </a:xfrm>
          <a:prstGeom prst="rect">
            <a:avLst/>
          </a:prstGeom>
          <a:noFill/>
        </p:spPr>
        <p:txBody>
          <a:bodyPr wrap="square">
            <a:spAutoFit/>
          </a:bodyPr>
          <a:lstStyle/>
          <a:p>
            <a:r>
              <a:rPr lang="en-US" sz="2000" dirty="0"/>
              <a:t>You don’t know anything about football, but you want to learn. You have 2 options</a:t>
            </a:r>
          </a:p>
        </p:txBody>
      </p:sp>
      <p:pic>
        <p:nvPicPr>
          <p:cNvPr id="5" name="Picture 4">
            <a:extLst>
              <a:ext uri="{FF2B5EF4-FFF2-40B4-BE49-F238E27FC236}">
                <a16:creationId xmlns:a16="http://schemas.microsoft.com/office/drawing/2014/main" id="{B1254845-5F74-4DA5-FBC0-D6A4AA2AA2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661" y="2336771"/>
            <a:ext cx="3333750" cy="3333750"/>
          </a:xfrm>
          <a:prstGeom prst="rect">
            <a:avLst/>
          </a:prstGeom>
        </p:spPr>
      </p:pic>
      <p:pic>
        <p:nvPicPr>
          <p:cNvPr id="7" name="Picture 6">
            <a:extLst>
              <a:ext uri="{FF2B5EF4-FFF2-40B4-BE49-F238E27FC236}">
                <a16:creationId xmlns:a16="http://schemas.microsoft.com/office/drawing/2014/main" id="{3934F07A-8B31-E56D-9C81-3652DF7FC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696" y="2299448"/>
            <a:ext cx="1075764" cy="744630"/>
          </a:xfrm>
          <a:prstGeom prst="rect">
            <a:avLst/>
          </a:prstGeom>
        </p:spPr>
      </p:pic>
      <p:pic>
        <p:nvPicPr>
          <p:cNvPr id="11" name="Picture 10">
            <a:extLst>
              <a:ext uri="{FF2B5EF4-FFF2-40B4-BE49-F238E27FC236}">
                <a16:creationId xmlns:a16="http://schemas.microsoft.com/office/drawing/2014/main" id="{D0292B0B-646C-6299-BA94-08A7BBC9F4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2696" y="3338518"/>
            <a:ext cx="1081082" cy="1081082"/>
          </a:xfrm>
          <a:prstGeom prst="rect">
            <a:avLst/>
          </a:prstGeom>
        </p:spPr>
      </p:pic>
      <p:pic>
        <p:nvPicPr>
          <p:cNvPr id="16" name="Picture 15">
            <a:extLst>
              <a:ext uri="{FF2B5EF4-FFF2-40B4-BE49-F238E27FC236}">
                <a16:creationId xmlns:a16="http://schemas.microsoft.com/office/drawing/2014/main" id="{1565D90C-FBFC-8241-B8C2-E0630FCAA9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3038" y="4556828"/>
            <a:ext cx="1055422" cy="1055422"/>
          </a:xfrm>
          <a:prstGeom prst="rect">
            <a:avLst/>
          </a:prstGeom>
        </p:spPr>
      </p:pic>
      <p:sp>
        <p:nvSpPr>
          <p:cNvPr id="17" name="TextBox 16">
            <a:extLst>
              <a:ext uri="{FF2B5EF4-FFF2-40B4-BE49-F238E27FC236}">
                <a16:creationId xmlns:a16="http://schemas.microsoft.com/office/drawing/2014/main" id="{D2605831-98AE-FF06-9FB1-EE272C223CB6}"/>
              </a:ext>
            </a:extLst>
          </p:cNvPr>
          <p:cNvSpPr txBox="1"/>
          <p:nvPr/>
        </p:nvSpPr>
        <p:spPr>
          <a:xfrm>
            <a:off x="5755340" y="2471708"/>
            <a:ext cx="3333750" cy="338554"/>
          </a:xfrm>
          <a:prstGeom prst="rect">
            <a:avLst/>
          </a:prstGeom>
          <a:noFill/>
        </p:spPr>
        <p:txBody>
          <a:bodyPr wrap="square">
            <a:spAutoFit/>
          </a:bodyPr>
          <a:lstStyle/>
          <a:p>
            <a:r>
              <a:rPr lang="en-US" sz="1600" dirty="0"/>
              <a:t>To watch video tutorials.</a:t>
            </a:r>
          </a:p>
        </p:txBody>
      </p:sp>
      <p:sp>
        <p:nvSpPr>
          <p:cNvPr id="18" name="TextBox 17">
            <a:extLst>
              <a:ext uri="{FF2B5EF4-FFF2-40B4-BE49-F238E27FC236}">
                <a16:creationId xmlns:a16="http://schemas.microsoft.com/office/drawing/2014/main" id="{4C024C79-2F86-6807-E282-B60CE6C3E39A}"/>
              </a:ext>
            </a:extLst>
          </p:cNvPr>
          <p:cNvSpPr txBox="1"/>
          <p:nvPr/>
        </p:nvSpPr>
        <p:spPr>
          <a:xfrm>
            <a:off x="5755340" y="3709782"/>
            <a:ext cx="3333750" cy="338554"/>
          </a:xfrm>
          <a:prstGeom prst="rect">
            <a:avLst/>
          </a:prstGeom>
          <a:noFill/>
        </p:spPr>
        <p:txBody>
          <a:bodyPr wrap="square">
            <a:spAutoFit/>
          </a:bodyPr>
          <a:lstStyle/>
          <a:p>
            <a:r>
              <a:rPr lang="en-US" sz="1600" dirty="0"/>
              <a:t>To look up rules.</a:t>
            </a:r>
          </a:p>
        </p:txBody>
      </p:sp>
      <p:sp>
        <p:nvSpPr>
          <p:cNvPr id="19" name="TextBox 18">
            <a:extLst>
              <a:ext uri="{FF2B5EF4-FFF2-40B4-BE49-F238E27FC236}">
                <a16:creationId xmlns:a16="http://schemas.microsoft.com/office/drawing/2014/main" id="{E2A75607-5160-6001-5809-580CA1D3E701}"/>
              </a:ext>
            </a:extLst>
          </p:cNvPr>
          <p:cNvSpPr txBox="1"/>
          <p:nvPr/>
        </p:nvSpPr>
        <p:spPr>
          <a:xfrm>
            <a:off x="5755340" y="4669040"/>
            <a:ext cx="3333750" cy="584775"/>
          </a:xfrm>
          <a:prstGeom prst="rect">
            <a:avLst/>
          </a:prstGeom>
          <a:noFill/>
        </p:spPr>
        <p:txBody>
          <a:bodyPr wrap="square">
            <a:spAutoFit/>
          </a:bodyPr>
          <a:lstStyle/>
          <a:p>
            <a:r>
              <a:rPr lang="en-US" sz="1600" dirty="0"/>
              <a:t>Look up the best teams so you don't end up supporting the losing team.</a:t>
            </a:r>
          </a:p>
        </p:txBody>
      </p:sp>
      <p:sp>
        <p:nvSpPr>
          <p:cNvPr id="20" name="TextBox 19">
            <a:extLst>
              <a:ext uri="{FF2B5EF4-FFF2-40B4-BE49-F238E27FC236}">
                <a16:creationId xmlns:a16="http://schemas.microsoft.com/office/drawing/2014/main" id="{1C89A8BD-26EE-7C50-1260-A93AEE3E42A0}"/>
              </a:ext>
            </a:extLst>
          </p:cNvPr>
          <p:cNvSpPr txBox="1"/>
          <p:nvPr/>
        </p:nvSpPr>
        <p:spPr>
          <a:xfrm>
            <a:off x="9089090" y="3111677"/>
            <a:ext cx="2975162" cy="1077218"/>
          </a:xfrm>
          <a:prstGeom prst="rect">
            <a:avLst/>
          </a:prstGeom>
          <a:noFill/>
        </p:spPr>
        <p:txBody>
          <a:bodyPr wrap="square">
            <a:spAutoFit/>
          </a:bodyPr>
          <a:lstStyle/>
          <a:p>
            <a:r>
              <a:rPr lang="en-US" sz="1600" dirty="0"/>
              <a:t>Watching video tutorials and research takes hours to fully grasp the rules and understand what's happening.</a:t>
            </a:r>
          </a:p>
        </p:txBody>
      </p:sp>
      <p:sp>
        <p:nvSpPr>
          <p:cNvPr id="21" name="TextBox 20">
            <a:extLst>
              <a:ext uri="{FF2B5EF4-FFF2-40B4-BE49-F238E27FC236}">
                <a16:creationId xmlns:a16="http://schemas.microsoft.com/office/drawing/2014/main" id="{3E9AD95F-2BEB-FC0A-974F-C987C1BF86CB}"/>
              </a:ext>
            </a:extLst>
          </p:cNvPr>
          <p:cNvSpPr txBox="1"/>
          <p:nvPr/>
        </p:nvSpPr>
        <p:spPr>
          <a:xfrm>
            <a:off x="838199" y="1764678"/>
            <a:ext cx="1326777" cy="400110"/>
          </a:xfrm>
          <a:prstGeom prst="rect">
            <a:avLst/>
          </a:prstGeom>
          <a:noFill/>
        </p:spPr>
        <p:txBody>
          <a:bodyPr wrap="square">
            <a:spAutoFit/>
          </a:bodyPr>
          <a:lstStyle/>
          <a:p>
            <a:r>
              <a:rPr lang="en-US" sz="2000" b="1" dirty="0"/>
              <a:t>Option 1</a:t>
            </a:r>
          </a:p>
        </p:txBody>
      </p:sp>
    </p:spTree>
    <p:extLst>
      <p:ext uri="{BB962C8B-B14F-4D97-AF65-F5344CB8AC3E}">
        <p14:creationId xmlns:p14="http://schemas.microsoft.com/office/powerpoint/2010/main" val="104235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F23C6-3826-6CB9-31C6-BB31BF1ACF1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B1E6CCAC-D1D5-8D45-F782-7AB491A53A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0472" y="2336771"/>
            <a:ext cx="2216513" cy="3166447"/>
          </a:xfrm>
          <a:prstGeom prst="rect">
            <a:avLst/>
          </a:prstGeom>
        </p:spPr>
      </p:pic>
      <p:sp>
        <p:nvSpPr>
          <p:cNvPr id="2" name="Title 1">
            <a:extLst>
              <a:ext uri="{FF2B5EF4-FFF2-40B4-BE49-F238E27FC236}">
                <a16:creationId xmlns:a16="http://schemas.microsoft.com/office/drawing/2014/main" id="{E28CC5C3-A44F-BAC5-44CC-D1E4BED21BB9}"/>
              </a:ext>
            </a:extLst>
          </p:cNvPr>
          <p:cNvSpPr>
            <a:spLocks noGrp="1"/>
          </p:cNvSpPr>
          <p:nvPr>
            <p:ph type="title"/>
          </p:nvPr>
        </p:nvSpPr>
        <p:spPr>
          <a:xfrm>
            <a:off x="838200" y="363825"/>
            <a:ext cx="10515600" cy="1325563"/>
          </a:xfrm>
        </p:spPr>
        <p:txBody>
          <a:bodyPr/>
          <a:lstStyle/>
          <a:p>
            <a:r>
              <a:rPr lang="en-US" dirty="0"/>
              <a:t>Imagine This Scenario</a:t>
            </a:r>
          </a:p>
        </p:txBody>
      </p:sp>
      <p:sp>
        <p:nvSpPr>
          <p:cNvPr id="3" name="TextBox 2">
            <a:extLst>
              <a:ext uri="{FF2B5EF4-FFF2-40B4-BE49-F238E27FC236}">
                <a16:creationId xmlns:a16="http://schemas.microsoft.com/office/drawing/2014/main" id="{38AE97A4-36F4-7430-C3D4-CD11B08448BB}"/>
              </a:ext>
            </a:extLst>
          </p:cNvPr>
          <p:cNvSpPr txBox="1"/>
          <p:nvPr/>
        </p:nvSpPr>
        <p:spPr>
          <a:xfrm>
            <a:off x="838200" y="1364568"/>
            <a:ext cx="9245367" cy="400110"/>
          </a:xfrm>
          <a:prstGeom prst="rect">
            <a:avLst/>
          </a:prstGeom>
          <a:noFill/>
        </p:spPr>
        <p:txBody>
          <a:bodyPr wrap="square">
            <a:spAutoFit/>
          </a:bodyPr>
          <a:lstStyle/>
          <a:p>
            <a:r>
              <a:rPr lang="en-US" sz="2000" dirty="0"/>
              <a:t>You don’t know anything about football, but you want to learn. You have 2 options</a:t>
            </a:r>
          </a:p>
        </p:txBody>
      </p:sp>
      <p:pic>
        <p:nvPicPr>
          <p:cNvPr id="5" name="Picture 4">
            <a:extLst>
              <a:ext uri="{FF2B5EF4-FFF2-40B4-BE49-F238E27FC236}">
                <a16:creationId xmlns:a16="http://schemas.microsoft.com/office/drawing/2014/main" id="{0F750443-85CF-9A90-BE81-6A4A53A109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661" y="2336771"/>
            <a:ext cx="3333750" cy="3333750"/>
          </a:xfrm>
          <a:prstGeom prst="rect">
            <a:avLst/>
          </a:prstGeom>
        </p:spPr>
      </p:pic>
      <p:sp>
        <p:nvSpPr>
          <p:cNvPr id="21" name="TextBox 20">
            <a:extLst>
              <a:ext uri="{FF2B5EF4-FFF2-40B4-BE49-F238E27FC236}">
                <a16:creationId xmlns:a16="http://schemas.microsoft.com/office/drawing/2014/main" id="{E3D3772D-DA4E-6B3B-4F7A-BADACE19EC92}"/>
              </a:ext>
            </a:extLst>
          </p:cNvPr>
          <p:cNvSpPr txBox="1"/>
          <p:nvPr/>
        </p:nvSpPr>
        <p:spPr>
          <a:xfrm>
            <a:off x="838199" y="1764678"/>
            <a:ext cx="1326777" cy="400110"/>
          </a:xfrm>
          <a:prstGeom prst="rect">
            <a:avLst/>
          </a:prstGeom>
          <a:noFill/>
        </p:spPr>
        <p:txBody>
          <a:bodyPr wrap="square">
            <a:spAutoFit/>
          </a:bodyPr>
          <a:lstStyle/>
          <a:p>
            <a:r>
              <a:rPr lang="en-US" sz="2000" b="1" dirty="0"/>
              <a:t>Option 2</a:t>
            </a:r>
          </a:p>
        </p:txBody>
      </p:sp>
      <p:sp>
        <p:nvSpPr>
          <p:cNvPr id="8" name="TextBox 7">
            <a:extLst>
              <a:ext uri="{FF2B5EF4-FFF2-40B4-BE49-F238E27FC236}">
                <a16:creationId xmlns:a16="http://schemas.microsoft.com/office/drawing/2014/main" id="{90217AE5-31E0-CB71-4F1B-6FCD02F0E4A4}"/>
              </a:ext>
            </a:extLst>
          </p:cNvPr>
          <p:cNvSpPr txBox="1"/>
          <p:nvPr/>
        </p:nvSpPr>
        <p:spPr>
          <a:xfrm>
            <a:off x="4303099" y="5659812"/>
            <a:ext cx="3585802" cy="584775"/>
          </a:xfrm>
          <a:prstGeom prst="rect">
            <a:avLst/>
          </a:prstGeom>
          <a:noFill/>
        </p:spPr>
        <p:txBody>
          <a:bodyPr wrap="square">
            <a:spAutoFit/>
          </a:bodyPr>
          <a:lstStyle/>
          <a:p>
            <a:pPr algn="ctr"/>
            <a:r>
              <a:rPr lang="en-US" sz="1600" dirty="0"/>
              <a:t>NFL pro. Been watching since he was 6. Knows everything about the game.</a:t>
            </a:r>
          </a:p>
        </p:txBody>
      </p:sp>
      <p:pic>
        <p:nvPicPr>
          <p:cNvPr id="10" name="Picture 9">
            <a:extLst>
              <a:ext uri="{FF2B5EF4-FFF2-40B4-BE49-F238E27FC236}">
                <a16:creationId xmlns:a16="http://schemas.microsoft.com/office/drawing/2014/main" id="{8FBC071F-48E7-A04F-643F-65417D48EE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6040" y="3882006"/>
            <a:ext cx="1105249" cy="1105249"/>
          </a:xfrm>
          <a:prstGeom prst="rect">
            <a:avLst/>
          </a:prstGeom>
        </p:spPr>
      </p:pic>
      <p:pic>
        <p:nvPicPr>
          <p:cNvPr id="12" name="Picture 11">
            <a:extLst>
              <a:ext uri="{FF2B5EF4-FFF2-40B4-BE49-F238E27FC236}">
                <a16:creationId xmlns:a16="http://schemas.microsoft.com/office/drawing/2014/main" id="{2AABF3E3-B4A7-5782-F262-CD7359181A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3477094" y="3882006"/>
            <a:ext cx="1194931" cy="1105249"/>
          </a:xfrm>
          <a:prstGeom prst="rect">
            <a:avLst/>
          </a:prstGeom>
        </p:spPr>
      </p:pic>
      <p:sp>
        <p:nvSpPr>
          <p:cNvPr id="15" name="TextBox 14">
            <a:extLst>
              <a:ext uri="{FF2B5EF4-FFF2-40B4-BE49-F238E27FC236}">
                <a16:creationId xmlns:a16="http://schemas.microsoft.com/office/drawing/2014/main" id="{2F7FCF71-CA1B-197A-9799-3CB4930FAB4C}"/>
              </a:ext>
            </a:extLst>
          </p:cNvPr>
          <p:cNvSpPr txBox="1"/>
          <p:nvPr/>
        </p:nvSpPr>
        <p:spPr>
          <a:xfrm>
            <a:off x="8342589" y="2164788"/>
            <a:ext cx="2975162" cy="1077218"/>
          </a:xfrm>
          <a:prstGeom prst="rect">
            <a:avLst/>
          </a:prstGeom>
          <a:noFill/>
        </p:spPr>
        <p:txBody>
          <a:bodyPr wrap="square">
            <a:spAutoFit/>
          </a:bodyPr>
          <a:lstStyle/>
          <a:p>
            <a:r>
              <a:rPr lang="en-US" sz="1600" dirty="0"/>
              <a:t>What is a Punt</a:t>
            </a:r>
          </a:p>
          <a:p>
            <a:r>
              <a:rPr lang="en-US" sz="1600" dirty="0"/>
              <a:t>What is a …</a:t>
            </a:r>
          </a:p>
          <a:p>
            <a:r>
              <a:rPr lang="en-US" sz="1600" dirty="0"/>
              <a:t>What is a ….</a:t>
            </a:r>
          </a:p>
          <a:p>
            <a:r>
              <a:rPr lang="en-US" sz="1600" dirty="0"/>
              <a:t>What is a …</a:t>
            </a:r>
          </a:p>
        </p:txBody>
      </p:sp>
      <p:pic>
        <p:nvPicPr>
          <p:cNvPr id="23" name="Picture 22">
            <a:extLst>
              <a:ext uri="{FF2B5EF4-FFF2-40B4-BE49-F238E27FC236}">
                <a16:creationId xmlns:a16="http://schemas.microsoft.com/office/drawing/2014/main" id="{EE99AEBD-C146-2EC1-8C20-9B9529920A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99218" y="4825768"/>
            <a:ext cx="440863" cy="606627"/>
          </a:xfrm>
          <a:prstGeom prst="rect">
            <a:avLst/>
          </a:prstGeom>
        </p:spPr>
      </p:pic>
      <p:sp>
        <p:nvSpPr>
          <p:cNvPr id="24" name="TextBox 23">
            <a:extLst>
              <a:ext uri="{FF2B5EF4-FFF2-40B4-BE49-F238E27FC236}">
                <a16:creationId xmlns:a16="http://schemas.microsoft.com/office/drawing/2014/main" id="{B1A54764-6108-B95F-9DE0-9662807CCB5F}"/>
              </a:ext>
            </a:extLst>
          </p:cNvPr>
          <p:cNvSpPr txBox="1"/>
          <p:nvPr/>
        </p:nvSpPr>
        <p:spPr>
          <a:xfrm>
            <a:off x="8342589" y="3919994"/>
            <a:ext cx="2975162" cy="1323439"/>
          </a:xfrm>
          <a:prstGeom prst="rect">
            <a:avLst/>
          </a:prstGeom>
          <a:noFill/>
        </p:spPr>
        <p:txBody>
          <a:bodyPr wrap="square">
            <a:spAutoFit/>
          </a:bodyPr>
          <a:lstStyle/>
          <a:p>
            <a:r>
              <a:rPr lang="en-US" sz="1600" dirty="0"/>
              <a:t>Instead of spending hours learning trivial things, you watch a game, ask your friend, and learn the important parts in a fraction of the time.</a:t>
            </a:r>
          </a:p>
        </p:txBody>
      </p:sp>
    </p:spTree>
    <p:extLst>
      <p:ext uri="{BB962C8B-B14F-4D97-AF65-F5344CB8AC3E}">
        <p14:creationId xmlns:p14="http://schemas.microsoft.com/office/powerpoint/2010/main" val="63142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B8425-BA20-FACD-7915-2F681A921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769D1-9BE7-4281-E275-E2A90BA2FE5C}"/>
              </a:ext>
            </a:extLst>
          </p:cNvPr>
          <p:cNvSpPr>
            <a:spLocks noGrp="1"/>
          </p:cNvSpPr>
          <p:nvPr>
            <p:ph type="title"/>
          </p:nvPr>
        </p:nvSpPr>
        <p:spPr>
          <a:xfrm>
            <a:off x="838200" y="363825"/>
            <a:ext cx="10515600" cy="1325563"/>
          </a:xfrm>
        </p:spPr>
        <p:txBody>
          <a:bodyPr/>
          <a:lstStyle/>
          <a:p>
            <a:r>
              <a:rPr lang="en-US" dirty="0"/>
              <a:t>Imagine This Scenario</a:t>
            </a:r>
          </a:p>
        </p:txBody>
      </p:sp>
      <p:sp>
        <p:nvSpPr>
          <p:cNvPr id="3" name="TextBox 2">
            <a:extLst>
              <a:ext uri="{FF2B5EF4-FFF2-40B4-BE49-F238E27FC236}">
                <a16:creationId xmlns:a16="http://schemas.microsoft.com/office/drawing/2014/main" id="{A6C36C8F-DFE5-849C-8BB6-CA2443BE36AF}"/>
              </a:ext>
            </a:extLst>
          </p:cNvPr>
          <p:cNvSpPr txBox="1"/>
          <p:nvPr/>
        </p:nvSpPr>
        <p:spPr>
          <a:xfrm>
            <a:off x="838200" y="1364568"/>
            <a:ext cx="9245367" cy="400110"/>
          </a:xfrm>
          <a:prstGeom prst="rect">
            <a:avLst/>
          </a:prstGeom>
          <a:noFill/>
        </p:spPr>
        <p:txBody>
          <a:bodyPr wrap="square">
            <a:spAutoFit/>
          </a:bodyPr>
          <a:lstStyle/>
          <a:p>
            <a:r>
              <a:rPr lang="en-US" sz="2000" dirty="0"/>
              <a:t>How Option 2 benefits both of you</a:t>
            </a:r>
          </a:p>
        </p:txBody>
      </p:sp>
      <p:sp>
        <p:nvSpPr>
          <p:cNvPr id="4" name="TextBox 3">
            <a:extLst>
              <a:ext uri="{FF2B5EF4-FFF2-40B4-BE49-F238E27FC236}">
                <a16:creationId xmlns:a16="http://schemas.microsoft.com/office/drawing/2014/main" id="{561F101C-C922-87F7-2E14-B59B58CDB808}"/>
              </a:ext>
            </a:extLst>
          </p:cNvPr>
          <p:cNvSpPr txBox="1"/>
          <p:nvPr/>
        </p:nvSpPr>
        <p:spPr>
          <a:xfrm>
            <a:off x="838199" y="1689388"/>
            <a:ext cx="9245367" cy="1015663"/>
          </a:xfrm>
          <a:prstGeom prst="rect">
            <a:avLst/>
          </a:prstGeom>
          <a:noFill/>
        </p:spPr>
        <p:txBody>
          <a:bodyPr wrap="square">
            <a:spAutoFit/>
          </a:bodyPr>
          <a:lstStyle/>
          <a:p>
            <a:pPr marL="342900" indent="-342900">
              <a:buFont typeface="Arial" panose="020B0604020202020204" pitchFamily="34" charset="0"/>
              <a:buChar char="•"/>
            </a:pPr>
            <a:r>
              <a:rPr lang="en-US" sz="2000" dirty="0"/>
              <a:t>You learn about the game really fast</a:t>
            </a:r>
          </a:p>
          <a:p>
            <a:pPr marL="342900" indent="-342900">
              <a:buFont typeface="Arial" panose="020B0604020202020204" pitchFamily="34" charset="0"/>
              <a:buChar char="•"/>
            </a:pPr>
            <a:r>
              <a:rPr lang="en-US" sz="2000" dirty="0"/>
              <a:t>Your friend gets beer and game day snacks</a:t>
            </a:r>
          </a:p>
          <a:p>
            <a:pPr marL="342900" indent="-342900">
              <a:buFont typeface="Arial" panose="020B0604020202020204" pitchFamily="34" charset="0"/>
              <a:buChar char="•"/>
            </a:pPr>
            <a:r>
              <a:rPr lang="en-US" sz="2000" dirty="0"/>
              <a:t>Both have fun</a:t>
            </a:r>
          </a:p>
        </p:txBody>
      </p:sp>
      <p:sp>
        <p:nvSpPr>
          <p:cNvPr id="6" name="TextBox 5">
            <a:extLst>
              <a:ext uri="{FF2B5EF4-FFF2-40B4-BE49-F238E27FC236}">
                <a16:creationId xmlns:a16="http://schemas.microsoft.com/office/drawing/2014/main" id="{D2B99CE4-DF1C-F4CE-6264-AD513E34CB61}"/>
              </a:ext>
            </a:extLst>
          </p:cNvPr>
          <p:cNvSpPr txBox="1"/>
          <p:nvPr/>
        </p:nvSpPr>
        <p:spPr>
          <a:xfrm>
            <a:off x="838199" y="3014951"/>
            <a:ext cx="9245367" cy="707886"/>
          </a:xfrm>
          <a:prstGeom prst="rect">
            <a:avLst/>
          </a:prstGeom>
          <a:noFill/>
        </p:spPr>
        <p:txBody>
          <a:bodyPr wrap="square">
            <a:spAutoFit/>
          </a:bodyPr>
          <a:lstStyle/>
          <a:p>
            <a:r>
              <a:rPr lang="en-US" sz="2000" dirty="0"/>
              <a:t>But what if you didn’t offer beer or snacks and just keep bombarding your friend with questions</a:t>
            </a:r>
          </a:p>
        </p:txBody>
      </p:sp>
      <p:sp>
        <p:nvSpPr>
          <p:cNvPr id="7" name="TextBox 6">
            <a:extLst>
              <a:ext uri="{FF2B5EF4-FFF2-40B4-BE49-F238E27FC236}">
                <a16:creationId xmlns:a16="http://schemas.microsoft.com/office/drawing/2014/main" id="{C5C78080-C35D-F1D6-F77E-93E90C86A4A2}"/>
              </a:ext>
            </a:extLst>
          </p:cNvPr>
          <p:cNvSpPr txBox="1"/>
          <p:nvPr/>
        </p:nvSpPr>
        <p:spPr>
          <a:xfrm>
            <a:off x="838199" y="3722837"/>
            <a:ext cx="9245367" cy="1323439"/>
          </a:xfrm>
          <a:prstGeom prst="rect">
            <a:avLst/>
          </a:prstGeom>
          <a:noFill/>
        </p:spPr>
        <p:txBody>
          <a:bodyPr wrap="square">
            <a:spAutoFit/>
          </a:bodyPr>
          <a:lstStyle/>
          <a:p>
            <a:pPr marL="342900" indent="-342900">
              <a:buFont typeface="Arial" panose="020B0604020202020204" pitchFamily="34" charset="0"/>
              <a:buChar char="•"/>
            </a:pPr>
            <a:r>
              <a:rPr lang="en-US" sz="2000" dirty="0"/>
              <a:t>You learn about the game really fast.</a:t>
            </a:r>
          </a:p>
          <a:p>
            <a:pPr marL="342900" indent="-342900">
              <a:buFont typeface="Arial" panose="020B0604020202020204" pitchFamily="34" charset="0"/>
              <a:buChar char="•"/>
            </a:pPr>
            <a:r>
              <a:rPr lang="en-US" sz="2000" dirty="0"/>
              <a:t>Your friend gets really annoyed</a:t>
            </a:r>
          </a:p>
          <a:p>
            <a:pPr marL="342900" indent="-342900">
              <a:buFont typeface="Arial" panose="020B0604020202020204" pitchFamily="34" charset="0"/>
              <a:buChar char="•"/>
            </a:pPr>
            <a:r>
              <a:rPr lang="en-US" sz="2000" dirty="0"/>
              <a:t>You benefit but not your friend</a:t>
            </a:r>
          </a:p>
          <a:p>
            <a:pPr marL="342900" indent="-342900">
              <a:buFont typeface="Arial" panose="020B0604020202020204" pitchFamily="34" charset="0"/>
              <a:buChar char="•"/>
            </a:pPr>
            <a:r>
              <a:rPr lang="en-US" sz="2000" dirty="0"/>
              <a:t>That feels unfair</a:t>
            </a:r>
          </a:p>
        </p:txBody>
      </p:sp>
      <p:sp>
        <p:nvSpPr>
          <p:cNvPr id="9" name="TextBox 8">
            <a:extLst>
              <a:ext uri="{FF2B5EF4-FFF2-40B4-BE49-F238E27FC236}">
                <a16:creationId xmlns:a16="http://schemas.microsoft.com/office/drawing/2014/main" id="{DCCC272A-1658-2F18-2226-57055431340F}"/>
              </a:ext>
            </a:extLst>
          </p:cNvPr>
          <p:cNvSpPr txBox="1"/>
          <p:nvPr/>
        </p:nvSpPr>
        <p:spPr>
          <a:xfrm>
            <a:off x="838199" y="5293377"/>
            <a:ext cx="9245367" cy="400110"/>
          </a:xfrm>
          <a:prstGeom prst="rect">
            <a:avLst/>
          </a:prstGeom>
          <a:noFill/>
        </p:spPr>
        <p:txBody>
          <a:bodyPr wrap="square">
            <a:spAutoFit/>
          </a:bodyPr>
          <a:lstStyle/>
          <a:p>
            <a:r>
              <a:rPr lang="en-US" sz="2000" dirty="0"/>
              <a:t>Model theft is the version where you get everything and your friend gets nothing.</a:t>
            </a:r>
          </a:p>
        </p:txBody>
      </p:sp>
    </p:spTree>
    <p:extLst>
      <p:ext uri="{BB962C8B-B14F-4D97-AF65-F5344CB8AC3E}">
        <p14:creationId xmlns:p14="http://schemas.microsoft.com/office/powerpoint/2010/main" val="84380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589E9-CF38-76C7-16A2-6C29C1D1D2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37BE4-6A24-334D-727E-E1456EC9EA07}"/>
              </a:ext>
            </a:extLst>
          </p:cNvPr>
          <p:cNvSpPr>
            <a:spLocks noGrp="1"/>
          </p:cNvSpPr>
          <p:nvPr>
            <p:ph type="title"/>
          </p:nvPr>
        </p:nvSpPr>
        <p:spPr>
          <a:xfrm>
            <a:off x="838200" y="363825"/>
            <a:ext cx="10515600" cy="1325563"/>
          </a:xfrm>
        </p:spPr>
        <p:txBody>
          <a:bodyPr/>
          <a:lstStyle/>
          <a:p>
            <a:r>
              <a:rPr lang="en-US" dirty="0"/>
              <a:t>The Deep Seek Scenario</a:t>
            </a:r>
          </a:p>
        </p:txBody>
      </p:sp>
      <p:sp>
        <p:nvSpPr>
          <p:cNvPr id="3" name="TextBox 2">
            <a:extLst>
              <a:ext uri="{FF2B5EF4-FFF2-40B4-BE49-F238E27FC236}">
                <a16:creationId xmlns:a16="http://schemas.microsoft.com/office/drawing/2014/main" id="{C59D06E4-1C3E-5298-7BF0-6966635BD758}"/>
              </a:ext>
            </a:extLst>
          </p:cNvPr>
          <p:cNvSpPr txBox="1"/>
          <p:nvPr/>
        </p:nvSpPr>
        <p:spPr>
          <a:xfrm>
            <a:off x="838200" y="1364568"/>
            <a:ext cx="9245367" cy="400110"/>
          </a:xfrm>
          <a:prstGeom prst="rect">
            <a:avLst/>
          </a:prstGeom>
          <a:noFill/>
        </p:spPr>
        <p:txBody>
          <a:bodyPr wrap="square">
            <a:spAutoFit/>
          </a:bodyPr>
          <a:lstStyle/>
          <a:p>
            <a:r>
              <a:rPr lang="en-US" sz="2000" dirty="0"/>
              <a:t>Real World Model Theft (Allegedly)</a:t>
            </a:r>
          </a:p>
        </p:txBody>
      </p:sp>
      <p:sp>
        <p:nvSpPr>
          <p:cNvPr id="5" name="TextBox 4">
            <a:extLst>
              <a:ext uri="{FF2B5EF4-FFF2-40B4-BE49-F238E27FC236}">
                <a16:creationId xmlns:a16="http://schemas.microsoft.com/office/drawing/2014/main" id="{A36672D9-DDF0-F8C6-9C7F-61A82BD71920}"/>
              </a:ext>
            </a:extLst>
          </p:cNvPr>
          <p:cNvSpPr txBox="1"/>
          <p:nvPr/>
        </p:nvSpPr>
        <p:spPr>
          <a:xfrm>
            <a:off x="838199" y="1922366"/>
            <a:ext cx="9245367" cy="4247317"/>
          </a:xfrm>
          <a:prstGeom prst="rect">
            <a:avLst/>
          </a:prstGeom>
          <a:noFill/>
        </p:spPr>
        <p:txBody>
          <a:bodyPr wrap="square">
            <a:spAutoFit/>
          </a:bodyPr>
          <a:lstStyle/>
          <a:p>
            <a:pPr marL="342900" indent="-342900">
              <a:buFont typeface="Arial" panose="020B0604020202020204" pitchFamily="34" charset="0"/>
              <a:buChar char="•"/>
            </a:pPr>
            <a:r>
              <a:rPr lang="en-US" dirty="0"/>
              <a:t>On January 20, 2025, DeepSeek released R1, a reasoning model with performance comparable to OpenAI's o1 at a reported compute cost of ~$6M for the base model</a:t>
            </a:r>
          </a:p>
          <a:p>
            <a:pPr marL="342900" indent="-342900">
              <a:buFont typeface="Arial" panose="020B0604020202020204" pitchFamily="34" charset="0"/>
              <a:buChar char="•"/>
            </a:pPr>
            <a:r>
              <a:rPr lang="en-US" dirty="0"/>
              <a:t>This sent shockwaves through the AI market. NVIDIA lost up to 18% in a single day, because the prevailing assumption was that better models require more expensive GPUs, and DeepSeek appeared to challenge that.</a:t>
            </a:r>
          </a:p>
          <a:p>
            <a:pPr marL="342900" indent="-342900">
              <a:buFont typeface="Arial" panose="020B0604020202020204" pitchFamily="34" charset="0"/>
              <a:buChar char="•"/>
            </a:pPr>
            <a:r>
              <a:rPr lang="en-US" dirty="0"/>
              <a:t>DeepSeek's paper describes a reinforcement learning approach (GRPO), not distillation. However, OpenAI and Anthropic have both alleged that DeepSeek distilled their models, harvesting outputs from ChatGPT and Claude via API using proxy services and fake accounts to bypass access restrictions.</a:t>
            </a:r>
          </a:p>
          <a:p>
            <a:pPr marL="342900" indent="-342900">
              <a:buFont typeface="Arial" panose="020B0604020202020204" pitchFamily="34" charset="0"/>
              <a:buChar char="•"/>
            </a:pPr>
            <a:r>
              <a:rPr lang="en-US" dirty="0"/>
              <a:t>OpenAI and Anthropic spent hundreds of millions gathering, cleaning, and curating training data. If DeepSeek achieved comparable results by extracting their API outputs, the economics of that investment are undercut.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i="1" dirty="0"/>
              <a:t>Note: DeepSeek did introduce novel techniques. But where the training data came from remains an open question.</a:t>
            </a:r>
          </a:p>
        </p:txBody>
      </p:sp>
    </p:spTree>
    <p:extLst>
      <p:ext uri="{BB962C8B-B14F-4D97-AF65-F5344CB8AC3E}">
        <p14:creationId xmlns:p14="http://schemas.microsoft.com/office/powerpoint/2010/main" val="366456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79110-874F-CF0D-F557-C8BF801F1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4241F-B903-E7FA-48AA-E4FA216066FC}"/>
              </a:ext>
            </a:extLst>
          </p:cNvPr>
          <p:cNvSpPr>
            <a:spLocks noGrp="1"/>
          </p:cNvSpPr>
          <p:nvPr>
            <p:ph type="title"/>
          </p:nvPr>
        </p:nvSpPr>
        <p:spPr>
          <a:xfrm>
            <a:off x="838200" y="363825"/>
            <a:ext cx="10515600" cy="1325563"/>
          </a:xfrm>
        </p:spPr>
        <p:txBody>
          <a:bodyPr>
            <a:normAutofit/>
          </a:bodyPr>
          <a:lstStyle/>
          <a:p>
            <a:r>
              <a:rPr lang="en-US" sz="4000" dirty="0"/>
              <a:t>Understanding Model Theft Using an Image Model</a:t>
            </a:r>
          </a:p>
        </p:txBody>
      </p:sp>
      <p:sp>
        <p:nvSpPr>
          <p:cNvPr id="3" name="TextBox 2">
            <a:extLst>
              <a:ext uri="{FF2B5EF4-FFF2-40B4-BE49-F238E27FC236}">
                <a16:creationId xmlns:a16="http://schemas.microsoft.com/office/drawing/2014/main" id="{9369A24A-1249-F799-9F58-6875A99DAEE0}"/>
              </a:ext>
            </a:extLst>
          </p:cNvPr>
          <p:cNvSpPr txBox="1"/>
          <p:nvPr/>
        </p:nvSpPr>
        <p:spPr>
          <a:xfrm>
            <a:off x="838200" y="1364568"/>
            <a:ext cx="9245367" cy="707886"/>
          </a:xfrm>
          <a:prstGeom prst="rect">
            <a:avLst/>
          </a:prstGeom>
          <a:noFill/>
        </p:spPr>
        <p:txBody>
          <a:bodyPr wrap="square">
            <a:spAutoFit/>
          </a:bodyPr>
          <a:lstStyle/>
          <a:p>
            <a:r>
              <a:rPr lang="en-US" sz="2000" dirty="0"/>
              <a:t>Let’s use an Image Generation Model (Diffusion) to understand how model theft happens</a:t>
            </a:r>
          </a:p>
        </p:txBody>
      </p:sp>
      <p:pic>
        <p:nvPicPr>
          <p:cNvPr id="6" name="Picture 5">
            <a:extLst>
              <a:ext uri="{FF2B5EF4-FFF2-40B4-BE49-F238E27FC236}">
                <a16:creationId xmlns:a16="http://schemas.microsoft.com/office/drawing/2014/main" id="{9442FB9C-1858-D4C3-821B-453CB5E35203}"/>
              </a:ext>
            </a:extLst>
          </p:cNvPr>
          <p:cNvPicPr>
            <a:picLocks noChangeAspect="1"/>
          </p:cNvPicPr>
          <p:nvPr/>
        </p:nvPicPr>
        <p:blipFill>
          <a:blip r:embed="rId2"/>
          <a:stretch>
            <a:fillRect/>
          </a:stretch>
        </p:blipFill>
        <p:spPr>
          <a:xfrm>
            <a:off x="976311" y="2162785"/>
            <a:ext cx="1143845" cy="897918"/>
          </a:xfrm>
          <a:prstGeom prst="rect">
            <a:avLst/>
          </a:prstGeom>
        </p:spPr>
      </p:pic>
      <p:pic>
        <p:nvPicPr>
          <p:cNvPr id="8" name="Picture 7">
            <a:extLst>
              <a:ext uri="{FF2B5EF4-FFF2-40B4-BE49-F238E27FC236}">
                <a16:creationId xmlns:a16="http://schemas.microsoft.com/office/drawing/2014/main" id="{20C50812-22FA-5E4D-D4C7-3BA3C8A4E32D}"/>
              </a:ext>
            </a:extLst>
          </p:cNvPr>
          <p:cNvPicPr>
            <a:picLocks noChangeAspect="1"/>
          </p:cNvPicPr>
          <p:nvPr/>
        </p:nvPicPr>
        <p:blipFill>
          <a:blip r:embed="rId3"/>
          <a:stretch>
            <a:fillRect/>
          </a:stretch>
        </p:blipFill>
        <p:spPr>
          <a:xfrm>
            <a:off x="976311" y="3238968"/>
            <a:ext cx="1143845" cy="871848"/>
          </a:xfrm>
          <a:prstGeom prst="rect">
            <a:avLst/>
          </a:prstGeom>
        </p:spPr>
      </p:pic>
      <p:pic>
        <p:nvPicPr>
          <p:cNvPr id="10" name="Picture 9">
            <a:extLst>
              <a:ext uri="{FF2B5EF4-FFF2-40B4-BE49-F238E27FC236}">
                <a16:creationId xmlns:a16="http://schemas.microsoft.com/office/drawing/2014/main" id="{7C1920B4-86D0-5133-FE62-3D161F0205A7}"/>
              </a:ext>
            </a:extLst>
          </p:cNvPr>
          <p:cNvPicPr>
            <a:picLocks noChangeAspect="1"/>
          </p:cNvPicPr>
          <p:nvPr/>
        </p:nvPicPr>
        <p:blipFill>
          <a:blip r:embed="rId4"/>
          <a:stretch>
            <a:fillRect/>
          </a:stretch>
        </p:blipFill>
        <p:spPr>
          <a:xfrm>
            <a:off x="976311" y="4239481"/>
            <a:ext cx="1143845" cy="902117"/>
          </a:xfrm>
          <a:prstGeom prst="rect">
            <a:avLst/>
          </a:prstGeom>
        </p:spPr>
      </p:pic>
      <p:pic>
        <p:nvPicPr>
          <p:cNvPr id="12" name="Picture 11">
            <a:extLst>
              <a:ext uri="{FF2B5EF4-FFF2-40B4-BE49-F238E27FC236}">
                <a16:creationId xmlns:a16="http://schemas.microsoft.com/office/drawing/2014/main" id="{B1D77072-0F81-FB4A-2EFF-179EACAB5D14}"/>
              </a:ext>
            </a:extLst>
          </p:cNvPr>
          <p:cNvPicPr>
            <a:picLocks noChangeAspect="1"/>
          </p:cNvPicPr>
          <p:nvPr/>
        </p:nvPicPr>
        <p:blipFill>
          <a:blip r:embed="rId5"/>
          <a:stretch>
            <a:fillRect/>
          </a:stretch>
        </p:blipFill>
        <p:spPr>
          <a:xfrm>
            <a:off x="976311" y="5986651"/>
            <a:ext cx="1143845" cy="633287"/>
          </a:xfrm>
          <a:prstGeom prst="rect">
            <a:avLst/>
          </a:prstGeom>
        </p:spPr>
      </p:pic>
      <p:sp>
        <p:nvSpPr>
          <p:cNvPr id="13" name="TextBox 12">
            <a:extLst>
              <a:ext uri="{FF2B5EF4-FFF2-40B4-BE49-F238E27FC236}">
                <a16:creationId xmlns:a16="http://schemas.microsoft.com/office/drawing/2014/main" id="{025D0335-7505-17A3-46F3-2950F20FFCB5}"/>
              </a:ext>
            </a:extLst>
          </p:cNvPr>
          <p:cNvSpPr txBox="1"/>
          <p:nvPr/>
        </p:nvSpPr>
        <p:spPr>
          <a:xfrm>
            <a:off x="1374332" y="4985600"/>
            <a:ext cx="347802" cy="1015663"/>
          </a:xfrm>
          <a:prstGeom prst="rect">
            <a:avLst/>
          </a:prstGeom>
          <a:noFill/>
        </p:spPr>
        <p:txBody>
          <a:bodyPr wrap="square">
            <a:spAutoFit/>
          </a:bodyPr>
          <a:lstStyle/>
          <a:p>
            <a:r>
              <a:rPr lang="en-US" sz="2000" dirty="0"/>
              <a:t>.</a:t>
            </a:r>
          </a:p>
          <a:p>
            <a:r>
              <a:rPr lang="en-US" sz="2000" dirty="0"/>
              <a:t>.</a:t>
            </a:r>
          </a:p>
          <a:p>
            <a:r>
              <a:rPr lang="en-US" sz="2000" dirty="0"/>
              <a:t>.</a:t>
            </a:r>
          </a:p>
        </p:txBody>
      </p:sp>
      <p:pic>
        <p:nvPicPr>
          <p:cNvPr id="15" name="Picture 14">
            <a:extLst>
              <a:ext uri="{FF2B5EF4-FFF2-40B4-BE49-F238E27FC236}">
                <a16:creationId xmlns:a16="http://schemas.microsoft.com/office/drawing/2014/main" id="{FFAC1A6B-A5B7-E6D3-1454-BA2997916F5A}"/>
              </a:ext>
            </a:extLst>
          </p:cNvPr>
          <p:cNvPicPr>
            <a:picLocks noChangeAspect="1"/>
          </p:cNvPicPr>
          <p:nvPr/>
        </p:nvPicPr>
        <p:blipFill>
          <a:blip r:embed="rId6"/>
          <a:srcRect l="3240"/>
          <a:stretch>
            <a:fillRect/>
          </a:stretch>
        </p:blipFill>
        <p:spPr>
          <a:xfrm rot="10800000">
            <a:off x="3899646" y="3429000"/>
            <a:ext cx="2196354" cy="1305625"/>
          </a:xfrm>
          <a:prstGeom prst="rect">
            <a:avLst/>
          </a:prstGeom>
        </p:spPr>
      </p:pic>
      <p:cxnSp>
        <p:nvCxnSpPr>
          <p:cNvPr id="17" name="Straight Arrow Connector 16">
            <a:extLst>
              <a:ext uri="{FF2B5EF4-FFF2-40B4-BE49-F238E27FC236}">
                <a16:creationId xmlns:a16="http://schemas.microsoft.com/office/drawing/2014/main" id="{9B77FD22-A633-6671-62E1-4A0FAC9B1CCF}"/>
              </a:ext>
            </a:extLst>
          </p:cNvPr>
          <p:cNvCxnSpPr>
            <a:cxnSpLocks/>
            <a:endCxn id="15" idx="3"/>
          </p:cNvCxnSpPr>
          <p:nvPr/>
        </p:nvCxnSpPr>
        <p:spPr>
          <a:xfrm>
            <a:off x="2343057" y="4081812"/>
            <a:ext cx="15565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DE525440-6390-1F73-C903-FDE0FB277AF0}"/>
              </a:ext>
            </a:extLst>
          </p:cNvPr>
          <p:cNvPicPr>
            <a:picLocks noChangeAspect="1"/>
          </p:cNvPicPr>
          <p:nvPr/>
        </p:nvPicPr>
        <p:blipFill>
          <a:blip r:embed="rId7"/>
          <a:stretch>
            <a:fillRect/>
          </a:stretch>
        </p:blipFill>
        <p:spPr>
          <a:xfrm>
            <a:off x="8880825" y="1946878"/>
            <a:ext cx="1265811" cy="959907"/>
          </a:xfrm>
          <a:prstGeom prst="rect">
            <a:avLst/>
          </a:prstGeom>
        </p:spPr>
      </p:pic>
      <p:pic>
        <p:nvPicPr>
          <p:cNvPr id="22" name="Picture 21">
            <a:extLst>
              <a:ext uri="{FF2B5EF4-FFF2-40B4-BE49-F238E27FC236}">
                <a16:creationId xmlns:a16="http://schemas.microsoft.com/office/drawing/2014/main" id="{AF78CBEC-CBF2-FAE3-65F0-64F95D452845}"/>
              </a:ext>
            </a:extLst>
          </p:cNvPr>
          <p:cNvPicPr>
            <a:picLocks noChangeAspect="1"/>
          </p:cNvPicPr>
          <p:nvPr/>
        </p:nvPicPr>
        <p:blipFill>
          <a:blip r:embed="rId8"/>
          <a:stretch>
            <a:fillRect/>
          </a:stretch>
        </p:blipFill>
        <p:spPr>
          <a:xfrm>
            <a:off x="8880825" y="3482719"/>
            <a:ext cx="1208572" cy="846000"/>
          </a:xfrm>
          <a:prstGeom prst="rect">
            <a:avLst/>
          </a:prstGeom>
        </p:spPr>
      </p:pic>
      <p:pic>
        <p:nvPicPr>
          <p:cNvPr id="24" name="Picture 23">
            <a:extLst>
              <a:ext uri="{FF2B5EF4-FFF2-40B4-BE49-F238E27FC236}">
                <a16:creationId xmlns:a16="http://schemas.microsoft.com/office/drawing/2014/main" id="{5A4ADD99-EEEB-71A9-3B32-014BFBD5E92C}"/>
              </a:ext>
            </a:extLst>
          </p:cNvPr>
          <p:cNvPicPr>
            <a:picLocks noChangeAspect="1"/>
          </p:cNvPicPr>
          <p:nvPr/>
        </p:nvPicPr>
        <p:blipFill>
          <a:blip r:embed="rId9"/>
          <a:stretch>
            <a:fillRect/>
          </a:stretch>
        </p:blipFill>
        <p:spPr>
          <a:xfrm>
            <a:off x="9007798" y="4904653"/>
            <a:ext cx="1011864" cy="640775"/>
          </a:xfrm>
          <a:prstGeom prst="rect">
            <a:avLst/>
          </a:prstGeom>
        </p:spPr>
      </p:pic>
      <p:cxnSp>
        <p:nvCxnSpPr>
          <p:cNvPr id="25" name="Straight Arrow Connector 24">
            <a:extLst>
              <a:ext uri="{FF2B5EF4-FFF2-40B4-BE49-F238E27FC236}">
                <a16:creationId xmlns:a16="http://schemas.microsoft.com/office/drawing/2014/main" id="{5AA70993-663D-02BF-269C-685FC6A6FFBA}"/>
              </a:ext>
            </a:extLst>
          </p:cNvPr>
          <p:cNvCxnSpPr>
            <a:cxnSpLocks/>
            <a:stCxn id="15" idx="1"/>
          </p:cNvCxnSpPr>
          <p:nvPr/>
        </p:nvCxnSpPr>
        <p:spPr>
          <a:xfrm flipV="1">
            <a:off x="6096000" y="4051883"/>
            <a:ext cx="2389464" cy="29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DFA06F12-6F86-7A42-80F4-C8A2E0739199}"/>
              </a:ext>
            </a:extLst>
          </p:cNvPr>
          <p:cNvSpPr txBox="1"/>
          <p:nvPr/>
        </p:nvSpPr>
        <p:spPr>
          <a:xfrm>
            <a:off x="4524718" y="3085387"/>
            <a:ext cx="946208" cy="369332"/>
          </a:xfrm>
          <a:prstGeom prst="rect">
            <a:avLst/>
          </a:prstGeom>
          <a:noFill/>
        </p:spPr>
        <p:txBody>
          <a:bodyPr wrap="square">
            <a:spAutoFit/>
          </a:bodyPr>
          <a:lstStyle/>
          <a:p>
            <a:pPr algn="ctr"/>
            <a:r>
              <a:rPr lang="en-US" dirty="0"/>
              <a:t>Model</a:t>
            </a:r>
          </a:p>
        </p:txBody>
      </p:sp>
      <p:sp>
        <p:nvSpPr>
          <p:cNvPr id="29" name="TextBox 28">
            <a:extLst>
              <a:ext uri="{FF2B5EF4-FFF2-40B4-BE49-F238E27FC236}">
                <a16:creationId xmlns:a16="http://schemas.microsoft.com/office/drawing/2014/main" id="{48C1B77F-0664-2738-7D05-072382CBDE5C}"/>
              </a:ext>
            </a:extLst>
          </p:cNvPr>
          <p:cNvSpPr txBox="1"/>
          <p:nvPr/>
        </p:nvSpPr>
        <p:spPr>
          <a:xfrm>
            <a:off x="2648247" y="3783071"/>
            <a:ext cx="946208" cy="369332"/>
          </a:xfrm>
          <a:prstGeom prst="rect">
            <a:avLst/>
          </a:prstGeom>
          <a:noFill/>
        </p:spPr>
        <p:txBody>
          <a:bodyPr wrap="square">
            <a:spAutoFit/>
          </a:bodyPr>
          <a:lstStyle/>
          <a:p>
            <a:pPr algn="ctr"/>
            <a:r>
              <a:rPr lang="en-US" dirty="0"/>
              <a:t>Train</a:t>
            </a:r>
          </a:p>
        </p:txBody>
      </p:sp>
      <p:sp>
        <p:nvSpPr>
          <p:cNvPr id="30" name="TextBox 29">
            <a:extLst>
              <a:ext uri="{FF2B5EF4-FFF2-40B4-BE49-F238E27FC236}">
                <a16:creationId xmlns:a16="http://schemas.microsoft.com/office/drawing/2014/main" id="{43432207-22A4-9363-2344-816AB571B5AC}"/>
              </a:ext>
            </a:extLst>
          </p:cNvPr>
          <p:cNvSpPr txBox="1"/>
          <p:nvPr/>
        </p:nvSpPr>
        <p:spPr>
          <a:xfrm>
            <a:off x="6817627" y="3721053"/>
            <a:ext cx="1151913" cy="369332"/>
          </a:xfrm>
          <a:prstGeom prst="rect">
            <a:avLst/>
          </a:prstGeom>
          <a:noFill/>
        </p:spPr>
        <p:txBody>
          <a:bodyPr wrap="square">
            <a:spAutoFit/>
          </a:bodyPr>
          <a:lstStyle/>
          <a:p>
            <a:pPr algn="ctr"/>
            <a:r>
              <a:rPr lang="en-US" dirty="0"/>
              <a:t>Generate</a:t>
            </a:r>
          </a:p>
        </p:txBody>
      </p:sp>
    </p:spTree>
    <p:extLst>
      <p:ext uri="{BB962C8B-B14F-4D97-AF65-F5344CB8AC3E}">
        <p14:creationId xmlns:p14="http://schemas.microsoft.com/office/powerpoint/2010/main" val="1574548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14428-290E-987F-4D0C-E789048D4B53}"/>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8E66AF16-C39C-F5DE-D346-C3E842DBBB68}"/>
              </a:ext>
            </a:extLst>
          </p:cNvPr>
          <p:cNvPicPr>
            <a:picLocks noChangeAspect="1"/>
          </p:cNvPicPr>
          <p:nvPr/>
        </p:nvPicPr>
        <p:blipFill>
          <a:blip r:embed="rId2">
            <a:extLst>
              <a:ext uri="{28A0092B-C50C-407E-A947-70E740481C1C}">
                <a14:useLocalDpi xmlns:a14="http://schemas.microsoft.com/office/drawing/2010/main" val="0"/>
              </a:ext>
            </a:extLst>
          </a:blip>
          <a:srcRect l="19851" t="18591" r="19085" b="18550"/>
          <a:stretch>
            <a:fillRect/>
          </a:stretch>
        </p:blipFill>
        <p:spPr>
          <a:xfrm>
            <a:off x="351779" y="3683920"/>
            <a:ext cx="1208573" cy="897623"/>
          </a:xfrm>
          <a:prstGeom prst="rect">
            <a:avLst/>
          </a:prstGeom>
        </p:spPr>
      </p:pic>
      <p:sp>
        <p:nvSpPr>
          <p:cNvPr id="29" name="TextBox 28">
            <a:extLst>
              <a:ext uri="{FF2B5EF4-FFF2-40B4-BE49-F238E27FC236}">
                <a16:creationId xmlns:a16="http://schemas.microsoft.com/office/drawing/2014/main" id="{8D18F260-20A6-B5B5-5ECA-9949AA6E1D42}"/>
              </a:ext>
            </a:extLst>
          </p:cNvPr>
          <p:cNvSpPr txBox="1"/>
          <p:nvPr/>
        </p:nvSpPr>
        <p:spPr>
          <a:xfrm>
            <a:off x="1200266" y="3896089"/>
            <a:ext cx="1251397" cy="261610"/>
          </a:xfrm>
          <a:prstGeom prst="rect">
            <a:avLst/>
          </a:prstGeom>
          <a:noFill/>
        </p:spPr>
        <p:txBody>
          <a:bodyPr wrap="square">
            <a:spAutoFit/>
          </a:bodyPr>
          <a:lstStyle/>
          <a:p>
            <a:pPr algn="ctr"/>
            <a:r>
              <a:rPr lang="en-US" sz="1100" dirty="0"/>
              <a:t>Use API</a:t>
            </a:r>
          </a:p>
        </p:txBody>
      </p:sp>
      <p:sp>
        <p:nvSpPr>
          <p:cNvPr id="3" name="TextBox 2">
            <a:extLst>
              <a:ext uri="{FF2B5EF4-FFF2-40B4-BE49-F238E27FC236}">
                <a16:creationId xmlns:a16="http://schemas.microsoft.com/office/drawing/2014/main" id="{F1DAB4F7-7C14-1DD2-4251-230282BA3B08}"/>
              </a:ext>
            </a:extLst>
          </p:cNvPr>
          <p:cNvSpPr txBox="1"/>
          <p:nvPr/>
        </p:nvSpPr>
        <p:spPr>
          <a:xfrm>
            <a:off x="838200" y="1364568"/>
            <a:ext cx="9245367" cy="707886"/>
          </a:xfrm>
          <a:prstGeom prst="rect">
            <a:avLst/>
          </a:prstGeom>
          <a:noFill/>
        </p:spPr>
        <p:txBody>
          <a:bodyPr wrap="square">
            <a:spAutoFit/>
          </a:bodyPr>
          <a:lstStyle/>
          <a:p>
            <a:r>
              <a:rPr lang="en-US" sz="2000" dirty="0"/>
              <a:t>Let’s use an Image Generation Model (Diffusion) to understand how model theft happens</a:t>
            </a:r>
          </a:p>
        </p:txBody>
      </p:sp>
      <p:pic>
        <p:nvPicPr>
          <p:cNvPr id="15" name="Picture 14">
            <a:extLst>
              <a:ext uri="{FF2B5EF4-FFF2-40B4-BE49-F238E27FC236}">
                <a16:creationId xmlns:a16="http://schemas.microsoft.com/office/drawing/2014/main" id="{9A51CA3E-EF6B-4C8E-D023-1CCBAB85D77C}"/>
              </a:ext>
            </a:extLst>
          </p:cNvPr>
          <p:cNvPicPr>
            <a:picLocks noChangeAspect="1"/>
          </p:cNvPicPr>
          <p:nvPr/>
        </p:nvPicPr>
        <p:blipFill>
          <a:blip r:embed="rId3"/>
          <a:srcRect l="3240"/>
          <a:stretch>
            <a:fillRect/>
          </a:stretch>
        </p:blipFill>
        <p:spPr>
          <a:xfrm rot="10800000">
            <a:off x="2233842" y="3479922"/>
            <a:ext cx="2196354" cy="1305625"/>
          </a:xfrm>
          <a:prstGeom prst="rect">
            <a:avLst/>
          </a:prstGeom>
        </p:spPr>
      </p:pic>
      <p:cxnSp>
        <p:nvCxnSpPr>
          <p:cNvPr id="17" name="Straight Arrow Connector 16">
            <a:extLst>
              <a:ext uri="{FF2B5EF4-FFF2-40B4-BE49-F238E27FC236}">
                <a16:creationId xmlns:a16="http://schemas.microsoft.com/office/drawing/2014/main" id="{66D50F21-9810-4027-2F86-14DB113672D4}"/>
              </a:ext>
            </a:extLst>
          </p:cNvPr>
          <p:cNvCxnSpPr>
            <a:cxnSpLocks/>
            <a:endCxn id="15" idx="3"/>
          </p:cNvCxnSpPr>
          <p:nvPr/>
        </p:nvCxnSpPr>
        <p:spPr>
          <a:xfrm>
            <a:off x="1550787" y="4132733"/>
            <a:ext cx="68305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CCB314F0-D218-E46C-99CB-14D7026CBFC9}"/>
              </a:ext>
            </a:extLst>
          </p:cNvPr>
          <p:cNvPicPr>
            <a:picLocks noChangeAspect="1"/>
          </p:cNvPicPr>
          <p:nvPr/>
        </p:nvPicPr>
        <p:blipFill>
          <a:blip r:embed="rId4"/>
          <a:stretch>
            <a:fillRect/>
          </a:stretch>
        </p:blipFill>
        <p:spPr>
          <a:xfrm>
            <a:off x="5080613" y="2210177"/>
            <a:ext cx="1265811" cy="959907"/>
          </a:xfrm>
          <a:prstGeom prst="rect">
            <a:avLst/>
          </a:prstGeom>
        </p:spPr>
      </p:pic>
      <p:pic>
        <p:nvPicPr>
          <p:cNvPr id="22" name="Picture 21">
            <a:extLst>
              <a:ext uri="{FF2B5EF4-FFF2-40B4-BE49-F238E27FC236}">
                <a16:creationId xmlns:a16="http://schemas.microsoft.com/office/drawing/2014/main" id="{4E64E190-5B03-3121-ADCE-930ACF5D0E94}"/>
              </a:ext>
            </a:extLst>
          </p:cNvPr>
          <p:cNvPicPr>
            <a:picLocks noChangeAspect="1"/>
          </p:cNvPicPr>
          <p:nvPr/>
        </p:nvPicPr>
        <p:blipFill>
          <a:blip r:embed="rId5"/>
          <a:stretch>
            <a:fillRect/>
          </a:stretch>
        </p:blipFill>
        <p:spPr>
          <a:xfrm>
            <a:off x="5080613" y="3746018"/>
            <a:ext cx="1208572" cy="846000"/>
          </a:xfrm>
          <a:prstGeom prst="rect">
            <a:avLst/>
          </a:prstGeom>
        </p:spPr>
      </p:pic>
      <p:pic>
        <p:nvPicPr>
          <p:cNvPr id="24" name="Picture 23">
            <a:extLst>
              <a:ext uri="{FF2B5EF4-FFF2-40B4-BE49-F238E27FC236}">
                <a16:creationId xmlns:a16="http://schemas.microsoft.com/office/drawing/2014/main" id="{5010362C-A55A-EF9A-92DB-DF0B727DD51F}"/>
              </a:ext>
            </a:extLst>
          </p:cNvPr>
          <p:cNvPicPr>
            <a:picLocks noChangeAspect="1"/>
          </p:cNvPicPr>
          <p:nvPr/>
        </p:nvPicPr>
        <p:blipFill>
          <a:blip r:embed="rId6"/>
          <a:stretch>
            <a:fillRect/>
          </a:stretch>
        </p:blipFill>
        <p:spPr>
          <a:xfrm>
            <a:off x="5207586" y="5167952"/>
            <a:ext cx="1011864" cy="640775"/>
          </a:xfrm>
          <a:prstGeom prst="rect">
            <a:avLst/>
          </a:prstGeom>
        </p:spPr>
      </p:pic>
      <p:cxnSp>
        <p:nvCxnSpPr>
          <p:cNvPr id="25" name="Straight Arrow Connector 24">
            <a:extLst>
              <a:ext uri="{FF2B5EF4-FFF2-40B4-BE49-F238E27FC236}">
                <a16:creationId xmlns:a16="http://schemas.microsoft.com/office/drawing/2014/main" id="{EE426C9B-9110-5D76-5059-9EDB332D444C}"/>
              </a:ext>
            </a:extLst>
          </p:cNvPr>
          <p:cNvCxnSpPr>
            <a:cxnSpLocks/>
            <a:stCxn id="15" idx="1"/>
          </p:cNvCxnSpPr>
          <p:nvPr/>
        </p:nvCxnSpPr>
        <p:spPr>
          <a:xfrm flipV="1">
            <a:off x="4430196" y="4130851"/>
            <a:ext cx="617028" cy="1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B3C64F2E-C86A-A655-B947-A9A4711C7CDE}"/>
              </a:ext>
            </a:extLst>
          </p:cNvPr>
          <p:cNvSpPr txBox="1"/>
          <p:nvPr/>
        </p:nvSpPr>
        <p:spPr>
          <a:xfrm>
            <a:off x="2233842" y="3160519"/>
            <a:ext cx="2196354" cy="369332"/>
          </a:xfrm>
          <a:prstGeom prst="rect">
            <a:avLst/>
          </a:prstGeom>
          <a:noFill/>
        </p:spPr>
        <p:txBody>
          <a:bodyPr wrap="square">
            <a:spAutoFit/>
          </a:bodyPr>
          <a:lstStyle/>
          <a:p>
            <a:pPr algn="ctr"/>
            <a:r>
              <a:rPr lang="en-US" dirty="0"/>
              <a:t>Deployed Model</a:t>
            </a:r>
          </a:p>
        </p:txBody>
      </p:sp>
      <p:sp>
        <p:nvSpPr>
          <p:cNvPr id="18" name="TextBox 17">
            <a:extLst>
              <a:ext uri="{FF2B5EF4-FFF2-40B4-BE49-F238E27FC236}">
                <a16:creationId xmlns:a16="http://schemas.microsoft.com/office/drawing/2014/main" id="{B25E7BB5-AE67-64DE-C497-9F3C39A8C53E}"/>
              </a:ext>
            </a:extLst>
          </p:cNvPr>
          <p:cNvSpPr txBox="1"/>
          <p:nvPr/>
        </p:nvSpPr>
        <p:spPr>
          <a:xfrm>
            <a:off x="1550787" y="4098197"/>
            <a:ext cx="528444" cy="261610"/>
          </a:xfrm>
          <a:prstGeom prst="rect">
            <a:avLst/>
          </a:prstGeom>
          <a:noFill/>
        </p:spPr>
        <p:txBody>
          <a:bodyPr wrap="square">
            <a:spAutoFit/>
          </a:bodyPr>
          <a:lstStyle/>
          <a:p>
            <a:pPr algn="ctr"/>
            <a:r>
              <a:rPr lang="en-US" sz="1100" dirty="0"/>
              <a:t>$5</a:t>
            </a:r>
          </a:p>
        </p:txBody>
      </p:sp>
      <p:pic>
        <p:nvPicPr>
          <p:cNvPr id="19" name="Picture 18">
            <a:extLst>
              <a:ext uri="{FF2B5EF4-FFF2-40B4-BE49-F238E27FC236}">
                <a16:creationId xmlns:a16="http://schemas.microsoft.com/office/drawing/2014/main" id="{177F7017-A6FC-DAD6-EA90-A9916CC0A3D7}"/>
              </a:ext>
            </a:extLst>
          </p:cNvPr>
          <p:cNvPicPr>
            <a:picLocks noChangeAspect="1"/>
          </p:cNvPicPr>
          <p:nvPr/>
        </p:nvPicPr>
        <p:blipFill>
          <a:blip r:embed="rId3"/>
          <a:srcRect l="3240"/>
          <a:stretch>
            <a:fillRect/>
          </a:stretch>
        </p:blipFill>
        <p:spPr>
          <a:xfrm rot="10800000">
            <a:off x="7243578" y="3479922"/>
            <a:ext cx="2196354" cy="1305625"/>
          </a:xfrm>
          <a:prstGeom prst="rect">
            <a:avLst/>
          </a:prstGeom>
        </p:spPr>
      </p:pic>
      <p:sp>
        <p:nvSpPr>
          <p:cNvPr id="21" name="TextBox 20">
            <a:extLst>
              <a:ext uri="{FF2B5EF4-FFF2-40B4-BE49-F238E27FC236}">
                <a16:creationId xmlns:a16="http://schemas.microsoft.com/office/drawing/2014/main" id="{CF344FCA-D333-6249-7EBE-D3AA5EB9AF24}"/>
              </a:ext>
            </a:extLst>
          </p:cNvPr>
          <p:cNvSpPr txBox="1"/>
          <p:nvPr/>
        </p:nvSpPr>
        <p:spPr>
          <a:xfrm>
            <a:off x="7868651" y="3170084"/>
            <a:ext cx="946208" cy="369332"/>
          </a:xfrm>
          <a:prstGeom prst="rect">
            <a:avLst/>
          </a:prstGeom>
          <a:noFill/>
        </p:spPr>
        <p:txBody>
          <a:bodyPr wrap="square">
            <a:spAutoFit/>
          </a:bodyPr>
          <a:lstStyle/>
          <a:p>
            <a:pPr algn="ctr"/>
            <a:r>
              <a:rPr lang="en-US" dirty="0"/>
              <a:t>Model</a:t>
            </a:r>
          </a:p>
        </p:txBody>
      </p:sp>
      <p:cxnSp>
        <p:nvCxnSpPr>
          <p:cNvPr id="26" name="Straight Arrow Connector 25">
            <a:extLst>
              <a:ext uri="{FF2B5EF4-FFF2-40B4-BE49-F238E27FC236}">
                <a16:creationId xmlns:a16="http://schemas.microsoft.com/office/drawing/2014/main" id="{E11173A4-B843-5ABC-6781-5A0CC774C86A}"/>
              </a:ext>
            </a:extLst>
          </p:cNvPr>
          <p:cNvCxnSpPr>
            <a:cxnSpLocks/>
            <a:endCxn id="19" idx="3"/>
          </p:cNvCxnSpPr>
          <p:nvPr/>
        </p:nvCxnSpPr>
        <p:spPr>
          <a:xfrm>
            <a:off x="6441266" y="4132734"/>
            <a:ext cx="8023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088C8381-2F73-89CB-F655-7C2EBCDA72F0}"/>
              </a:ext>
            </a:extLst>
          </p:cNvPr>
          <p:cNvPicPr>
            <a:picLocks noChangeAspect="1"/>
          </p:cNvPicPr>
          <p:nvPr/>
        </p:nvPicPr>
        <p:blipFill>
          <a:blip r:embed="rId7"/>
          <a:stretch>
            <a:fillRect/>
          </a:stretch>
        </p:blipFill>
        <p:spPr>
          <a:xfrm>
            <a:off x="10331243" y="3344390"/>
            <a:ext cx="960302" cy="753807"/>
          </a:xfrm>
          <a:prstGeom prst="rect">
            <a:avLst/>
          </a:prstGeom>
        </p:spPr>
      </p:pic>
      <p:pic>
        <p:nvPicPr>
          <p:cNvPr id="40" name="Picture 39">
            <a:extLst>
              <a:ext uri="{FF2B5EF4-FFF2-40B4-BE49-F238E27FC236}">
                <a16:creationId xmlns:a16="http://schemas.microsoft.com/office/drawing/2014/main" id="{A49EBC15-EFA3-D0E8-A3CD-2BB88920E691}"/>
              </a:ext>
            </a:extLst>
          </p:cNvPr>
          <p:cNvPicPr>
            <a:picLocks noChangeAspect="1"/>
          </p:cNvPicPr>
          <p:nvPr/>
        </p:nvPicPr>
        <p:blipFill>
          <a:blip r:embed="rId8"/>
          <a:stretch>
            <a:fillRect/>
          </a:stretch>
        </p:blipFill>
        <p:spPr>
          <a:xfrm>
            <a:off x="10268988" y="4493861"/>
            <a:ext cx="1050076" cy="773396"/>
          </a:xfrm>
          <a:prstGeom prst="rect">
            <a:avLst/>
          </a:prstGeom>
        </p:spPr>
      </p:pic>
      <p:pic>
        <p:nvPicPr>
          <p:cNvPr id="42" name="Picture 41">
            <a:extLst>
              <a:ext uri="{FF2B5EF4-FFF2-40B4-BE49-F238E27FC236}">
                <a16:creationId xmlns:a16="http://schemas.microsoft.com/office/drawing/2014/main" id="{12DBCDBC-7C97-72FE-07EB-3D585229DB57}"/>
              </a:ext>
            </a:extLst>
          </p:cNvPr>
          <p:cNvPicPr>
            <a:picLocks noChangeAspect="1"/>
          </p:cNvPicPr>
          <p:nvPr/>
        </p:nvPicPr>
        <p:blipFill>
          <a:blip r:embed="rId9"/>
          <a:stretch>
            <a:fillRect/>
          </a:stretch>
        </p:blipFill>
        <p:spPr>
          <a:xfrm>
            <a:off x="10268988" y="2045221"/>
            <a:ext cx="1213943" cy="943335"/>
          </a:xfrm>
          <a:prstGeom prst="rect">
            <a:avLst/>
          </a:prstGeom>
        </p:spPr>
      </p:pic>
      <p:cxnSp>
        <p:nvCxnSpPr>
          <p:cNvPr id="43" name="Straight Arrow Connector 42">
            <a:extLst>
              <a:ext uri="{FF2B5EF4-FFF2-40B4-BE49-F238E27FC236}">
                <a16:creationId xmlns:a16="http://schemas.microsoft.com/office/drawing/2014/main" id="{3DD4BAAF-5967-F762-E827-823D6608C01C}"/>
              </a:ext>
            </a:extLst>
          </p:cNvPr>
          <p:cNvCxnSpPr>
            <a:cxnSpLocks/>
            <a:stCxn id="19" idx="1"/>
          </p:cNvCxnSpPr>
          <p:nvPr/>
        </p:nvCxnSpPr>
        <p:spPr>
          <a:xfrm flipV="1">
            <a:off x="9439932" y="4130851"/>
            <a:ext cx="891311" cy="1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EE672BE7-6F2A-3D65-2696-8A633C280A02}"/>
              </a:ext>
            </a:extLst>
          </p:cNvPr>
          <p:cNvSpPr txBox="1"/>
          <p:nvPr/>
        </p:nvSpPr>
        <p:spPr>
          <a:xfrm>
            <a:off x="4102816" y="3928920"/>
            <a:ext cx="1251397" cy="553998"/>
          </a:xfrm>
          <a:prstGeom prst="rect">
            <a:avLst/>
          </a:prstGeom>
          <a:noFill/>
        </p:spPr>
        <p:txBody>
          <a:bodyPr wrap="square">
            <a:spAutoFit/>
          </a:bodyPr>
          <a:lstStyle/>
          <a:p>
            <a:pPr algn="ctr"/>
            <a:r>
              <a:rPr lang="en-US" sz="1000" dirty="0"/>
              <a:t>Generate</a:t>
            </a:r>
          </a:p>
          <a:p>
            <a:pPr algn="ctr"/>
            <a:r>
              <a:rPr lang="en-US" sz="1000" dirty="0"/>
              <a:t>Synthetic</a:t>
            </a:r>
          </a:p>
          <a:p>
            <a:pPr algn="ctr"/>
            <a:r>
              <a:rPr lang="en-US" sz="1000" dirty="0"/>
              <a:t>Dataset</a:t>
            </a:r>
          </a:p>
        </p:txBody>
      </p:sp>
      <p:sp>
        <p:nvSpPr>
          <p:cNvPr id="50" name="TextBox 49">
            <a:extLst>
              <a:ext uri="{FF2B5EF4-FFF2-40B4-BE49-F238E27FC236}">
                <a16:creationId xmlns:a16="http://schemas.microsoft.com/office/drawing/2014/main" id="{24142ED2-7E34-3C82-3546-55E7A5B6DD8C}"/>
              </a:ext>
            </a:extLst>
          </p:cNvPr>
          <p:cNvSpPr txBox="1"/>
          <p:nvPr/>
        </p:nvSpPr>
        <p:spPr>
          <a:xfrm>
            <a:off x="6163766" y="3776908"/>
            <a:ext cx="1251397" cy="707886"/>
          </a:xfrm>
          <a:prstGeom prst="rect">
            <a:avLst/>
          </a:prstGeom>
          <a:noFill/>
        </p:spPr>
        <p:txBody>
          <a:bodyPr wrap="square">
            <a:spAutoFit/>
          </a:bodyPr>
          <a:lstStyle/>
          <a:p>
            <a:pPr algn="ctr"/>
            <a:r>
              <a:rPr lang="en-US" sz="1000" dirty="0"/>
              <a:t>Train substitute</a:t>
            </a:r>
          </a:p>
          <a:p>
            <a:pPr algn="ctr"/>
            <a:r>
              <a:rPr lang="en-US" sz="1000" dirty="0"/>
              <a:t>Model on</a:t>
            </a:r>
          </a:p>
          <a:p>
            <a:pPr algn="ctr"/>
            <a:r>
              <a:rPr lang="en-US" sz="1000" dirty="0"/>
              <a:t>Synthetic</a:t>
            </a:r>
          </a:p>
          <a:p>
            <a:pPr algn="ctr"/>
            <a:r>
              <a:rPr lang="en-US" sz="1000" dirty="0"/>
              <a:t>dataset</a:t>
            </a:r>
          </a:p>
        </p:txBody>
      </p:sp>
      <p:sp>
        <p:nvSpPr>
          <p:cNvPr id="51" name="TextBox 50">
            <a:extLst>
              <a:ext uri="{FF2B5EF4-FFF2-40B4-BE49-F238E27FC236}">
                <a16:creationId xmlns:a16="http://schemas.microsoft.com/office/drawing/2014/main" id="{44B3A93F-90A3-02C8-8A10-C9D3A2DAEBFB}"/>
              </a:ext>
            </a:extLst>
          </p:cNvPr>
          <p:cNvSpPr txBox="1"/>
          <p:nvPr/>
        </p:nvSpPr>
        <p:spPr>
          <a:xfrm>
            <a:off x="9366308" y="3852645"/>
            <a:ext cx="1113851" cy="461665"/>
          </a:xfrm>
          <a:prstGeom prst="rect">
            <a:avLst/>
          </a:prstGeom>
          <a:noFill/>
        </p:spPr>
        <p:txBody>
          <a:bodyPr wrap="square">
            <a:spAutoFit/>
          </a:bodyPr>
          <a:lstStyle/>
          <a:p>
            <a:pPr algn="ctr"/>
            <a:r>
              <a:rPr lang="en-US" sz="800" dirty="0"/>
              <a:t>Attacker creates a model similar to the proprietary one.</a:t>
            </a:r>
          </a:p>
        </p:txBody>
      </p:sp>
      <p:sp>
        <p:nvSpPr>
          <p:cNvPr id="52" name="TextBox 51">
            <a:extLst>
              <a:ext uri="{FF2B5EF4-FFF2-40B4-BE49-F238E27FC236}">
                <a16:creationId xmlns:a16="http://schemas.microsoft.com/office/drawing/2014/main" id="{8C9A325E-F101-6960-8A86-5E48E0A6B358}"/>
              </a:ext>
            </a:extLst>
          </p:cNvPr>
          <p:cNvSpPr txBox="1"/>
          <p:nvPr/>
        </p:nvSpPr>
        <p:spPr>
          <a:xfrm>
            <a:off x="7193560" y="4695893"/>
            <a:ext cx="2298583" cy="523220"/>
          </a:xfrm>
          <a:prstGeom prst="rect">
            <a:avLst/>
          </a:prstGeom>
          <a:noFill/>
        </p:spPr>
        <p:txBody>
          <a:bodyPr wrap="square">
            <a:spAutoFit/>
          </a:bodyPr>
          <a:lstStyle/>
          <a:p>
            <a:pPr algn="ctr"/>
            <a:r>
              <a:rPr lang="en-US" sz="1400" dirty="0"/>
              <a:t>Similar performance as the deployed model</a:t>
            </a:r>
          </a:p>
        </p:txBody>
      </p:sp>
      <p:sp>
        <p:nvSpPr>
          <p:cNvPr id="7" name="Title 1">
            <a:extLst>
              <a:ext uri="{FF2B5EF4-FFF2-40B4-BE49-F238E27FC236}">
                <a16:creationId xmlns:a16="http://schemas.microsoft.com/office/drawing/2014/main" id="{2C28BE7B-6F6F-D5A3-99BE-2C1E2D277ECB}"/>
              </a:ext>
            </a:extLst>
          </p:cNvPr>
          <p:cNvSpPr>
            <a:spLocks noGrp="1"/>
          </p:cNvSpPr>
          <p:nvPr>
            <p:ph type="title"/>
          </p:nvPr>
        </p:nvSpPr>
        <p:spPr>
          <a:xfrm>
            <a:off x="838200" y="363825"/>
            <a:ext cx="10515600" cy="1325563"/>
          </a:xfrm>
        </p:spPr>
        <p:txBody>
          <a:bodyPr>
            <a:normAutofit/>
          </a:bodyPr>
          <a:lstStyle/>
          <a:p>
            <a:r>
              <a:rPr lang="en-US" sz="4000" dirty="0"/>
              <a:t>Understanding Model Theft Using an Image Model</a:t>
            </a:r>
          </a:p>
        </p:txBody>
      </p:sp>
    </p:spTree>
    <p:extLst>
      <p:ext uri="{BB962C8B-B14F-4D97-AF65-F5344CB8AC3E}">
        <p14:creationId xmlns:p14="http://schemas.microsoft.com/office/powerpoint/2010/main" val="189206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D6B1F-1C76-0B06-D38E-A3DB2C85CDF2}"/>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820767D1-B160-2B79-240F-48820C9FDB96}"/>
              </a:ext>
            </a:extLst>
          </p:cNvPr>
          <p:cNvPicPr>
            <a:picLocks noChangeAspect="1"/>
          </p:cNvPicPr>
          <p:nvPr/>
        </p:nvPicPr>
        <p:blipFill>
          <a:blip r:embed="rId2"/>
          <a:stretch>
            <a:fillRect/>
          </a:stretch>
        </p:blipFill>
        <p:spPr>
          <a:xfrm>
            <a:off x="4963522" y="2931447"/>
            <a:ext cx="807381" cy="612264"/>
          </a:xfrm>
          <a:prstGeom prst="rect">
            <a:avLst/>
          </a:prstGeom>
        </p:spPr>
      </p:pic>
      <p:pic>
        <p:nvPicPr>
          <p:cNvPr id="36" name="Picture 35">
            <a:extLst>
              <a:ext uri="{FF2B5EF4-FFF2-40B4-BE49-F238E27FC236}">
                <a16:creationId xmlns:a16="http://schemas.microsoft.com/office/drawing/2014/main" id="{3F4E2B24-EA54-B36F-7629-65EC6C4224A9}"/>
              </a:ext>
            </a:extLst>
          </p:cNvPr>
          <p:cNvPicPr>
            <a:picLocks noChangeAspect="1"/>
          </p:cNvPicPr>
          <p:nvPr/>
        </p:nvPicPr>
        <p:blipFill>
          <a:blip r:embed="rId3"/>
          <a:stretch>
            <a:fillRect/>
          </a:stretch>
        </p:blipFill>
        <p:spPr>
          <a:xfrm>
            <a:off x="5000031" y="3760211"/>
            <a:ext cx="770872" cy="539610"/>
          </a:xfrm>
          <a:prstGeom prst="rect">
            <a:avLst/>
          </a:prstGeom>
        </p:spPr>
      </p:pic>
      <p:pic>
        <p:nvPicPr>
          <p:cNvPr id="37" name="Picture 36">
            <a:extLst>
              <a:ext uri="{FF2B5EF4-FFF2-40B4-BE49-F238E27FC236}">
                <a16:creationId xmlns:a16="http://schemas.microsoft.com/office/drawing/2014/main" id="{06D754F2-C74B-28EF-FF08-5842E9E35CFC}"/>
              </a:ext>
            </a:extLst>
          </p:cNvPr>
          <p:cNvPicPr>
            <a:picLocks noChangeAspect="1"/>
          </p:cNvPicPr>
          <p:nvPr/>
        </p:nvPicPr>
        <p:blipFill>
          <a:blip r:embed="rId4"/>
          <a:stretch>
            <a:fillRect/>
          </a:stretch>
        </p:blipFill>
        <p:spPr>
          <a:xfrm>
            <a:off x="5062764" y="4497990"/>
            <a:ext cx="645405" cy="408710"/>
          </a:xfrm>
          <a:prstGeom prst="rect">
            <a:avLst/>
          </a:prstGeom>
        </p:spPr>
      </p:pic>
      <p:pic>
        <p:nvPicPr>
          <p:cNvPr id="16" name="Picture 15">
            <a:extLst>
              <a:ext uri="{FF2B5EF4-FFF2-40B4-BE49-F238E27FC236}">
                <a16:creationId xmlns:a16="http://schemas.microsoft.com/office/drawing/2014/main" id="{1728D254-B10A-F1CF-311E-6A2DA51D56F6}"/>
              </a:ext>
            </a:extLst>
          </p:cNvPr>
          <p:cNvPicPr>
            <a:picLocks noChangeAspect="1"/>
          </p:cNvPicPr>
          <p:nvPr/>
        </p:nvPicPr>
        <p:blipFill>
          <a:blip r:embed="rId5">
            <a:extLst>
              <a:ext uri="{28A0092B-C50C-407E-A947-70E740481C1C}">
                <a14:useLocalDpi xmlns:a14="http://schemas.microsoft.com/office/drawing/2010/main" val="0"/>
              </a:ext>
            </a:extLst>
          </a:blip>
          <a:srcRect l="19851" t="18591" r="19085" b="18550"/>
          <a:stretch>
            <a:fillRect/>
          </a:stretch>
        </p:blipFill>
        <p:spPr>
          <a:xfrm>
            <a:off x="351779" y="3683921"/>
            <a:ext cx="898191" cy="667098"/>
          </a:xfrm>
          <a:prstGeom prst="rect">
            <a:avLst/>
          </a:prstGeom>
        </p:spPr>
      </p:pic>
      <p:sp>
        <p:nvSpPr>
          <p:cNvPr id="29" name="TextBox 28">
            <a:extLst>
              <a:ext uri="{FF2B5EF4-FFF2-40B4-BE49-F238E27FC236}">
                <a16:creationId xmlns:a16="http://schemas.microsoft.com/office/drawing/2014/main" id="{DBEFE044-E75C-8C15-5F62-3D0B227D18F5}"/>
              </a:ext>
            </a:extLst>
          </p:cNvPr>
          <p:cNvSpPr txBox="1"/>
          <p:nvPr/>
        </p:nvSpPr>
        <p:spPr>
          <a:xfrm>
            <a:off x="1074267" y="3808111"/>
            <a:ext cx="819986" cy="230832"/>
          </a:xfrm>
          <a:prstGeom prst="rect">
            <a:avLst/>
          </a:prstGeom>
          <a:noFill/>
        </p:spPr>
        <p:txBody>
          <a:bodyPr wrap="square">
            <a:spAutoFit/>
          </a:bodyPr>
          <a:lstStyle/>
          <a:p>
            <a:pPr algn="ctr"/>
            <a:r>
              <a:rPr lang="en-US" sz="900" dirty="0"/>
              <a:t>Use API</a:t>
            </a:r>
          </a:p>
        </p:txBody>
      </p:sp>
      <p:sp>
        <p:nvSpPr>
          <p:cNvPr id="3" name="TextBox 2">
            <a:extLst>
              <a:ext uri="{FF2B5EF4-FFF2-40B4-BE49-F238E27FC236}">
                <a16:creationId xmlns:a16="http://schemas.microsoft.com/office/drawing/2014/main" id="{00C990A9-7868-72D9-58EA-4C1883D4B1FC}"/>
              </a:ext>
            </a:extLst>
          </p:cNvPr>
          <p:cNvSpPr txBox="1"/>
          <p:nvPr/>
        </p:nvSpPr>
        <p:spPr>
          <a:xfrm>
            <a:off x="838200" y="1364568"/>
            <a:ext cx="9245367" cy="400110"/>
          </a:xfrm>
          <a:prstGeom prst="rect">
            <a:avLst/>
          </a:prstGeom>
          <a:noFill/>
        </p:spPr>
        <p:txBody>
          <a:bodyPr wrap="square">
            <a:spAutoFit/>
          </a:bodyPr>
          <a:lstStyle/>
          <a:p>
            <a:r>
              <a:rPr lang="en-US" sz="2000" dirty="0"/>
              <a:t>But there is something you can do about it</a:t>
            </a:r>
          </a:p>
        </p:txBody>
      </p:sp>
      <p:pic>
        <p:nvPicPr>
          <p:cNvPr id="15" name="Picture 14">
            <a:extLst>
              <a:ext uri="{FF2B5EF4-FFF2-40B4-BE49-F238E27FC236}">
                <a16:creationId xmlns:a16="http://schemas.microsoft.com/office/drawing/2014/main" id="{FC88D417-3808-A36F-1983-B9E81B0D294E}"/>
              </a:ext>
            </a:extLst>
          </p:cNvPr>
          <p:cNvPicPr>
            <a:picLocks noChangeAspect="1"/>
          </p:cNvPicPr>
          <p:nvPr/>
        </p:nvPicPr>
        <p:blipFill>
          <a:blip r:embed="rId6"/>
          <a:srcRect l="3240"/>
          <a:stretch>
            <a:fillRect/>
          </a:stretch>
        </p:blipFill>
        <p:spPr>
          <a:xfrm rot="10800000">
            <a:off x="1805274" y="3662520"/>
            <a:ext cx="1193195" cy="709296"/>
          </a:xfrm>
          <a:prstGeom prst="rect">
            <a:avLst/>
          </a:prstGeom>
        </p:spPr>
      </p:pic>
      <p:cxnSp>
        <p:nvCxnSpPr>
          <p:cNvPr id="17" name="Straight Arrow Connector 16">
            <a:extLst>
              <a:ext uri="{FF2B5EF4-FFF2-40B4-BE49-F238E27FC236}">
                <a16:creationId xmlns:a16="http://schemas.microsoft.com/office/drawing/2014/main" id="{7DD0E7A9-3BB8-B0AC-D3D1-2629A5220323}"/>
              </a:ext>
            </a:extLst>
          </p:cNvPr>
          <p:cNvCxnSpPr>
            <a:cxnSpLocks/>
            <a:stCxn id="16" idx="3"/>
            <a:endCxn id="15" idx="3"/>
          </p:cNvCxnSpPr>
          <p:nvPr/>
        </p:nvCxnSpPr>
        <p:spPr>
          <a:xfrm flipV="1">
            <a:off x="1249970" y="4017168"/>
            <a:ext cx="555304" cy="3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B8F4C476-595A-1480-1285-C6874A313FA4}"/>
              </a:ext>
            </a:extLst>
          </p:cNvPr>
          <p:cNvPicPr>
            <a:picLocks noChangeAspect="1"/>
          </p:cNvPicPr>
          <p:nvPr/>
        </p:nvPicPr>
        <p:blipFill>
          <a:blip r:embed="rId2"/>
          <a:stretch>
            <a:fillRect/>
          </a:stretch>
        </p:blipFill>
        <p:spPr>
          <a:xfrm>
            <a:off x="3547131" y="2940374"/>
            <a:ext cx="807381" cy="612264"/>
          </a:xfrm>
          <a:prstGeom prst="rect">
            <a:avLst/>
          </a:prstGeom>
        </p:spPr>
      </p:pic>
      <p:pic>
        <p:nvPicPr>
          <p:cNvPr id="22" name="Picture 21">
            <a:extLst>
              <a:ext uri="{FF2B5EF4-FFF2-40B4-BE49-F238E27FC236}">
                <a16:creationId xmlns:a16="http://schemas.microsoft.com/office/drawing/2014/main" id="{1DE618F1-45B4-E217-9923-3466558C9A81}"/>
              </a:ext>
            </a:extLst>
          </p:cNvPr>
          <p:cNvPicPr>
            <a:picLocks noChangeAspect="1"/>
          </p:cNvPicPr>
          <p:nvPr/>
        </p:nvPicPr>
        <p:blipFill>
          <a:blip r:embed="rId3"/>
          <a:stretch>
            <a:fillRect/>
          </a:stretch>
        </p:blipFill>
        <p:spPr>
          <a:xfrm>
            <a:off x="3583640" y="3769138"/>
            <a:ext cx="770872" cy="539610"/>
          </a:xfrm>
          <a:prstGeom prst="rect">
            <a:avLst/>
          </a:prstGeom>
        </p:spPr>
      </p:pic>
      <p:pic>
        <p:nvPicPr>
          <p:cNvPr id="24" name="Picture 23">
            <a:extLst>
              <a:ext uri="{FF2B5EF4-FFF2-40B4-BE49-F238E27FC236}">
                <a16:creationId xmlns:a16="http://schemas.microsoft.com/office/drawing/2014/main" id="{4D1F1D0F-D33C-3B64-A3B3-C9B24232B734}"/>
              </a:ext>
            </a:extLst>
          </p:cNvPr>
          <p:cNvPicPr>
            <a:picLocks noChangeAspect="1"/>
          </p:cNvPicPr>
          <p:nvPr/>
        </p:nvPicPr>
        <p:blipFill>
          <a:blip r:embed="rId4"/>
          <a:stretch>
            <a:fillRect/>
          </a:stretch>
        </p:blipFill>
        <p:spPr>
          <a:xfrm>
            <a:off x="3646373" y="4506917"/>
            <a:ext cx="645405" cy="408710"/>
          </a:xfrm>
          <a:prstGeom prst="rect">
            <a:avLst/>
          </a:prstGeom>
        </p:spPr>
      </p:pic>
      <p:cxnSp>
        <p:nvCxnSpPr>
          <p:cNvPr id="25" name="Straight Arrow Connector 24">
            <a:extLst>
              <a:ext uri="{FF2B5EF4-FFF2-40B4-BE49-F238E27FC236}">
                <a16:creationId xmlns:a16="http://schemas.microsoft.com/office/drawing/2014/main" id="{294F3142-0126-425E-73BD-AA4AA51FB83E}"/>
              </a:ext>
            </a:extLst>
          </p:cNvPr>
          <p:cNvCxnSpPr>
            <a:cxnSpLocks/>
            <a:stCxn id="15" idx="1"/>
          </p:cNvCxnSpPr>
          <p:nvPr/>
        </p:nvCxnSpPr>
        <p:spPr>
          <a:xfrm>
            <a:off x="2998469" y="4017168"/>
            <a:ext cx="5851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6089BD5B-82C6-413D-76EC-ACA141A0F8C6}"/>
              </a:ext>
            </a:extLst>
          </p:cNvPr>
          <p:cNvSpPr txBox="1"/>
          <p:nvPr/>
        </p:nvSpPr>
        <p:spPr>
          <a:xfrm>
            <a:off x="1701282" y="3447429"/>
            <a:ext cx="1439175" cy="261610"/>
          </a:xfrm>
          <a:prstGeom prst="rect">
            <a:avLst/>
          </a:prstGeom>
          <a:noFill/>
        </p:spPr>
        <p:txBody>
          <a:bodyPr wrap="square">
            <a:spAutoFit/>
          </a:bodyPr>
          <a:lstStyle/>
          <a:p>
            <a:pPr algn="ctr"/>
            <a:r>
              <a:rPr lang="en-US" sz="1050" dirty="0"/>
              <a:t>Deployed Model</a:t>
            </a:r>
          </a:p>
        </p:txBody>
      </p:sp>
      <p:sp>
        <p:nvSpPr>
          <p:cNvPr id="18" name="TextBox 17">
            <a:extLst>
              <a:ext uri="{FF2B5EF4-FFF2-40B4-BE49-F238E27FC236}">
                <a16:creationId xmlns:a16="http://schemas.microsoft.com/office/drawing/2014/main" id="{047F8295-CAA4-910A-E219-FBCA3E27E1FE}"/>
              </a:ext>
            </a:extLst>
          </p:cNvPr>
          <p:cNvSpPr txBox="1"/>
          <p:nvPr/>
        </p:nvSpPr>
        <p:spPr>
          <a:xfrm>
            <a:off x="1348789" y="3971229"/>
            <a:ext cx="346266" cy="246221"/>
          </a:xfrm>
          <a:prstGeom prst="rect">
            <a:avLst/>
          </a:prstGeom>
          <a:noFill/>
        </p:spPr>
        <p:txBody>
          <a:bodyPr wrap="square">
            <a:spAutoFit/>
          </a:bodyPr>
          <a:lstStyle/>
          <a:p>
            <a:pPr algn="ctr"/>
            <a:r>
              <a:rPr lang="en-US" sz="1000" dirty="0"/>
              <a:t>$5</a:t>
            </a:r>
          </a:p>
        </p:txBody>
      </p:sp>
      <p:pic>
        <p:nvPicPr>
          <p:cNvPr id="19" name="Picture 18">
            <a:extLst>
              <a:ext uri="{FF2B5EF4-FFF2-40B4-BE49-F238E27FC236}">
                <a16:creationId xmlns:a16="http://schemas.microsoft.com/office/drawing/2014/main" id="{DBDF1DC1-FF95-4A3E-D5FF-151159188A03}"/>
              </a:ext>
            </a:extLst>
          </p:cNvPr>
          <p:cNvPicPr>
            <a:picLocks noChangeAspect="1"/>
          </p:cNvPicPr>
          <p:nvPr/>
        </p:nvPicPr>
        <p:blipFill>
          <a:blip r:embed="rId6"/>
          <a:srcRect l="3240"/>
          <a:stretch>
            <a:fillRect/>
          </a:stretch>
        </p:blipFill>
        <p:spPr>
          <a:xfrm rot="10800000">
            <a:off x="6554094" y="3683921"/>
            <a:ext cx="1116957" cy="663976"/>
          </a:xfrm>
          <a:prstGeom prst="rect">
            <a:avLst/>
          </a:prstGeom>
        </p:spPr>
      </p:pic>
      <p:sp>
        <p:nvSpPr>
          <p:cNvPr id="21" name="TextBox 20">
            <a:extLst>
              <a:ext uri="{FF2B5EF4-FFF2-40B4-BE49-F238E27FC236}">
                <a16:creationId xmlns:a16="http://schemas.microsoft.com/office/drawing/2014/main" id="{146F79E2-CDEA-9DA5-5F24-0A1AD6020EE8}"/>
              </a:ext>
            </a:extLst>
          </p:cNvPr>
          <p:cNvSpPr txBox="1"/>
          <p:nvPr/>
        </p:nvSpPr>
        <p:spPr>
          <a:xfrm>
            <a:off x="6802567" y="3462818"/>
            <a:ext cx="620009" cy="246221"/>
          </a:xfrm>
          <a:prstGeom prst="rect">
            <a:avLst/>
          </a:prstGeom>
          <a:noFill/>
        </p:spPr>
        <p:txBody>
          <a:bodyPr wrap="square">
            <a:spAutoFit/>
          </a:bodyPr>
          <a:lstStyle/>
          <a:p>
            <a:pPr algn="ctr"/>
            <a:r>
              <a:rPr lang="en-US" sz="1000" dirty="0"/>
              <a:t>Model</a:t>
            </a:r>
          </a:p>
        </p:txBody>
      </p:sp>
      <p:cxnSp>
        <p:nvCxnSpPr>
          <p:cNvPr id="26" name="Straight Arrow Connector 25">
            <a:extLst>
              <a:ext uri="{FF2B5EF4-FFF2-40B4-BE49-F238E27FC236}">
                <a16:creationId xmlns:a16="http://schemas.microsoft.com/office/drawing/2014/main" id="{685B1802-6C97-DA18-350F-76A23A66A28D}"/>
              </a:ext>
            </a:extLst>
          </p:cNvPr>
          <p:cNvCxnSpPr>
            <a:cxnSpLocks/>
            <a:endCxn id="19" idx="3"/>
          </p:cNvCxnSpPr>
          <p:nvPr/>
        </p:nvCxnSpPr>
        <p:spPr>
          <a:xfrm>
            <a:off x="5883995" y="4015909"/>
            <a:ext cx="6700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33C1C8E2-AA70-A700-AD36-238F8DFCDE84}"/>
              </a:ext>
            </a:extLst>
          </p:cNvPr>
          <p:cNvPicPr>
            <a:picLocks noChangeAspect="1"/>
          </p:cNvPicPr>
          <p:nvPr/>
        </p:nvPicPr>
        <p:blipFill>
          <a:blip r:embed="rId7"/>
          <a:stretch>
            <a:fillRect/>
          </a:stretch>
        </p:blipFill>
        <p:spPr>
          <a:xfrm>
            <a:off x="8544694" y="3769188"/>
            <a:ext cx="713679" cy="560216"/>
          </a:xfrm>
          <a:prstGeom prst="rect">
            <a:avLst/>
          </a:prstGeom>
        </p:spPr>
      </p:pic>
      <p:pic>
        <p:nvPicPr>
          <p:cNvPr id="40" name="Picture 39">
            <a:extLst>
              <a:ext uri="{FF2B5EF4-FFF2-40B4-BE49-F238E27FC236}">
                <a16:creationId xmlns:a16="http://schemas.microsoft.com/office/drawing/2014/main" id="{58BEBA7A-6508-76DA-C955-5ACD88896890}"/>
              </a:ext>
            </a:extLst>
          </p:cNvPr>
          <p:cNvPicPr>
            <a:picLocks noChangeAspect="1"/>
          </p:cNvPicPr>
          <p:nvPr/>
        </p:nvPicPr>
        <p:blipFill>
          <a:blip r:embed="rId8"/>
          <a:stretch>
            <a:fillRect/>
          </a:stretch>
        </p:blipFill>
        <p:spPr>
          <a:xfrm>
            <a:off x="8482439" y="4918658"/>
            <a:ext cx="780398" cy="574774"/>
          </a:xfrm>
          <a:prstGeom prst="rect">
            <a:avLst/>
          </a:prstGeom>
        </p:spPr>
      </p:pic>
      <p:pic>
        <p:nvPicPr>
          <p:cNvPr id="42" name="Picture 41">
            <a:extLst>
              <a:ext uri="{FF2B5EF4-FFF2-40B4-BE49-F238E27FC236}">
                <a16:creationId xmlns:a16="http://schemas.microsoft.com/office/drawing/2014/main" id="{E65E6AE7-D5D9-94C5-091D-86A4CD39C966}"/>
              </a:ext>
            </a:extLst>
          </p:cNvPr>
          <p:cNvPicPr>
            <a:picLocks noChangeAspect="1"/>
          </p:cNvPicPr>
          <p:nvPr/>
        </p:nvPicPr>
        <p:blipFill>
          <a:blip r:embed="rId9"/>
          <a:stretch>
            <a:fillRect/>
          </a:stretch>
        </p:blipFill>
        <p:spPr>
          <a:xfrm>
            <a:off x="8482439" y="2470019"/>
            <a:ext cx="902181" cy="701070"/>
          </a:xfrm>
          <a:prstGeom prst="rect">
            <a:avLst/>
          </a:prstGeom>
        </p:spPr>
      </p:pic>
      <p:cxnSp>
        <p:nvCxnSpPr>
          <p:cNvPr id="43" name="Straight Arrow Connector 42">
            <a:extLst>
              <a:ext uri="{FF2B5EF4-FFF2-40B4-BE49-F238E27FC236}">
                <a16:creationId xmlns:a16="http://schemas.microsoft.com/office/drawing/2014/main" id="{748EDBA0-0644-7BDA-C1F9-B7075EA289A6}"/>
              </a:ext>
            </a:extLst>
          </p:cNvPr>
          <p:cNvCxnSpPr>
            <a:cxnSpLocks/>
            <a:stCxn id="19" idx="1"/>
          </p:cNvCxnSpPr>
          <p:nvPr/>
        </p:nvCxnSpPr>
        <p:spPr>
          <a:xfrm>
            <a:off x="7671051" y="4015909"/>
            <a:ext cx="8521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051EE616-E894-DC64-B86C-4563F9FA24B6}"/>
              </a:ext>
            </a:extLst>
          </p:cNvPr>
          <p:cNvSpPr txBox="1"/>
          <p:nvPr/>
        </p:nvSpPr>
        <p:spPr>
          <a:xfrm>
            <a:off x="5775275" y="3754299"/>
            <a:ext cx="819986" cy="523220"/>
          </a:xfrm>
          <a:prstGeom prst="rect">
            <a:avLst/>
          </a:prstGeom>
          <a:noFill/>
        </p:spPr>
        <p:txBody>
          <a:bodyPr wrap="square">
            <a:spAutoFit/>
          </a:bodyPr>
          <a:lstStyle/>
          <a:p>
            <a:pPr algn="ctr"/>
            <a:r>
              <a:rPr lang="en-US" sz="700" dirty="0"/>
              <a:t>Train substitute</a:t>
            </a:r>
          </a:p>
          <a:p>
            <a:pPr algn="ctr"/>
            <a:r>
              <a:rPr lang="en-US" sz="700" dirty="0"/>
              <a:t>Model on</a:t>
            </a:r>
          </a:p>
          <a:p>
            <a:pPr algn="ctr"/>
            <a:r>
              <a:rPr lang="en-US" sz="700" dirty="0"/>
              <a:t>watermarked</a:t>
            </a:r>
          </a:p>
          <a:p>
            <a:pPr algn="ctr"/>
            <a:r>
              <a:rPr lang="en-US" sz="700" dirty="0"/>
              <a:t>dataset</a:t>
            </a:r>
          </a:p>
        </p:txBody>
      </p:sp>
      <p:sp>
        <p:nvSpPr>
          <p:cNvPr id="52" name="TextBox 51">
            <a:extLst>
              <a:ext uri="{FF2B5EF4-FFF2-40B4-BE49-F238E27FC236}">
                <a16:creationId xmlns:a16="http://schemas.microsoft.com/office/drawing/2014/main" id="{5AD72D04-5A9F-1B0B-44F6-F1BC80135416}"/>
              </a:ext>
            </a:extLst>
          </p:cNvPr>
          <p:cNvSpPr txBox="1"/>
          <p:nvPr/>
        </p:nvSpPr>
        <p:spPr>
          <a:xfrm>
            <a:off x="7686546" y="3866560"/>
            <a:ext cx="780398" cy="369332"/>
          </a:xfrm>
          <a:prstGeom prst="rect">
            <a:avLst/>
          </a:prstGeom>
          <a:noFill/>
        </p:spPr>
        <p:txBody>
          <a:bodyPr wrap="square">
            <a:spAutoFit/>
          </a:bodyPr>
          <a:lstStyle/>
          <a:p>
            <a:pPr algn="ctr"/>
            <a:r>
              <a:rPr lang="en-US" sz="600" dirty="0"/>
              <a:t>Generates</a:t>
            </a:r>
          </a:p>
          <a:p>
            <a:pPr algn="ctr"/>
            <a:r>
              <a:rPr lang="en-US" sz="600" dirty="0"/>
              <a:t>Watermarked</a:t>
            </a:r>
          </a:p>
          <a:p>
            <a:pPr algn="ctr"/>
            <a:r>
              <a:rPr lang="en-US" sz="600" dirty="0"/>
              <a:t>Images</a:t>
            </a:r>
          </a:p>
        </p:txBody>
      </p:sp>
      <p:cxnSp>
        <p:nvCxnSpPr>
          <p:cNvPr id="11" name="Straight Arrow Connector 10">
            <a:extLst>
              <a:ext uri="{FF2B5EF4-FFF2-40B4-BE49-F238E27FC236}">
                <a16:creationId xmlns:a16="http://schemas.microsoft.com/office/drawing/2014/main" id="{981364CC-E52F-225F-419B-18E2367871EF}"/>
              </a:ext>
            </a:extLst>
          </p:cNvPr>
          <p:cNvCxnSpPr>
            <a:cxnSpLocks/>
          </p:cNvCxnSpPr>
          <p:nvPr/>
        </p:nvCxnSpPr>
        <p:spPr>
          <a:xfrm>
            <a:off x="4396324" y="4030016"/>
            <a:ext cx="588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FBA1471-6EDA-C3D5-F4B6-48EF721A57F8}"/>
              </a:ext>
            </a:extLst>
          </p:cNvPr>
          <p:cNvSpPr txBox="1"/>
          <p:nvPr/>
        </p:nvSpPr>
        <p:spPr>
          <a:xfrm>
            <a:off x="4239511" y="3857283"/>
            <a:ext cx="902129" cy="200055"/>
          </a:xfrm>
          <a:prstGeom prst="rect">
            <a:avLst/>
          </a:prstGeom>
          <a:noFill/>
        </p:spPr>
        <p:txBody>
          <a:bodyPr wrap="square">
            <a:spAutoFit/>
          </a:bodyPr>
          <a:lstStyle/>
          <a:p>
            <a:pPr algn="ctr"/>
            <a:r>
              <a:rPr lang="en-US" sz="700" dirty="0"/>
              <a:t>Watermark</a:t>
            </a:r>
          </a:p>
        </p:txBody>
      </p:sp>
      <p:sp>
        <p:nvSpPr>
          <p:cNvPr id="34" name="TextBox 33">
            <a:extLst>
              <a:ext uri="{FF2B5EF4-FFF2-40B4-BE49-F238E27FC236}">
                <a16:creationId xmlns:a16="http://schemas.microsoft.com/office/drawing/2014/main" id="{A2448332-2858-D014-F0B9-BE36E2017F1A}"/>
              </a:ext>
            </a:extLst>
          </p:cNvPr>
          <p:cNvSpPr txBox="1"/>
          <p:nvPr/>
        </p:nvSpPr>
        <p:spPr>
          <a:xfrm>
            <a:off x="2864428" y="3820394"/>
            <a:ext cx="819986" cy="230832"/>
          </a:xfrm>
          <a:prstGeom prst="rect">
            <a:avLst/>
          </a:prstGeom>
          <a:noFill/>
        </p:spPr>
        <p:txBody>
          <a:bodyPr wrap="square">
            <a:spAutoFit/>
          </a:bodyPr>
          <a:lstStyle/>
          <a:p>
            <a:pPr algn="ctr"/>
            <a:r>
              <a:rPr lang="en-US" sz="900" dirty="0"/>
              <a:t>Generate</a:t>
            </a:r>
          </a:p>
        </p:txBody>
      </p:sp>
      <p:sp>
        <p:nvSpPr>
          <p:cNvPr id="6" name="Title 1">
            <a:extLst>
              <a:ext uri="{FF2B5EF4-FFF2-40B4-BE49-F238E27FC236}">
                <a16:creationId xmlns:a16="http://schemas.microsoft.com/office/drawing/2014/main" id="{C32017B3-A6ED-2DFA-F13A-05C109BC1002}"/>
              </a:ext>
            </a:extLst>
          </p:cNvPr>
          <p:cNvSpPr>
            <a:spLocks noGrp="1"/>
          </p:cNvSpPr>
          <p:nvPr>
            <p:ph type="title"/>
          </p:nvPr>
        </p:nvSpPr>
        <p:spPr>
          <a:xfrm>
            <a:off x="838200" y="363825"/>
            <a:ext cx="10515600" cy="1325563"/>
          </a:xfrm>
        </p:spPr>
        <p:txBody>
          <a:bodyPr>
            <a:normAutofit/>
          </a:bodyPr>
          <a:lstStyle/>
          <a:p>
            <a:r>
              <a:rPr lang="en-US" sz="4000" dirty="0"/>
              <a:t>Understanding Model Theft Using an Image Model</a:t>
            </a:r>
          </a:p>
        </p:txBody>
      </p:sp>
      <p:pic>
        <p:nvPicPr>
          <p:cNvPr id="8" name="Picture 7">
            <a:extLst>
              <a:ext uri="{FF2B5EF4-FFF2-40B4-BE49-F238E27FC236}">
                <a16:creationId xmlns:a16="http://schemas.microsoft.com/office/drawing/2014/main" id="{14464828-F45A-3F6B-AF91-0F6260BFCEE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07019" y="3000324"/>
            <a:ext cx="77819" cy="116729"/>
          </a:xfrm>
          <a:prstGeom prst="rect">
            <a:avLst/>
          </a:prstGeom>
        </p:spPr>
      </p:pic>
      <p:pic>
        <p:nvPicPr>
          <p:cNvPr id="9" name="Picture 8">
            <a:extLst>
              <a:ext uri="{FF2B5EF4-FFF2-40B4-BE49-F238E27FC236}">
                <a16:creationId xmlns:a16="http://schemas.microsoft.com/office/drawing/2014/main" id="{0C9E7BB5-B752-94E6-30EE-EA0D1E72254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07019" y="3806798"/>
            <a:ext cx="77819" cy="116729"/>
          </a:xfrm>
          <a:prstGeom prst="rect">
            <a:avLst/>
          </a:prstGeom>
        </p:spPr>
      </p:pic>
      <p:pic>
        <p:nvPicPr>
          <p:cNvPr id="10" name="Picture 9">
            <a:extLst>
              <a:ext uri="{FF2B5EF4-FFF2-40B4-BE49-F238E27FC236}">
                <a16:creationId xmlns:a16="http://schemas.microsoft.com/office/drawing/2014/main" id="{5A703195-6070-8191-3087-D38B7EFF784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07018" y="4535437"/>
            <a:ext cx="77819" cy="116729"/>
          </a:xfrm>
          <a:prstGeom prst="rect">
            <a:avLst/>
          </a:prstGeom>
        </p:spPr>
      </p:pic>
      <p:pic>
        <p:nvPicPr>
          <p:cNvPr id="12" name="Picture 11">
            <a:extLst>
              <a:ext uri="{FF2B5EF4-FFF2-40B4-BE49-F238E27FC236}">
                <a16:creationId xmlns:a16="http://schemas.microsoft.com/office/drawing/2014/main" id="{FC7CCEC0-A13B-5E69-9CE3-B5347D8A7E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49261" y="2492159"/>
            <a:ext cx="77819" cy="116729"/>
          </a:xfrm>
          <a:prstGeom prst="rect">
            <a:avLst/>
          </a:prstGeom>
        </p:spPr>
      </p:pic>
      <p:pic>
        <p:nvPicPr>
          <p:cNvPr id="14" name="Picture 13">
            <a:extLst>
              <a:ext uri="{FF2B5EF4-FFF2-40B4-BE49-F238E27FC236}">
                <a16:creationId xmlns:a16="http://schemas.microsoft.com/office/drawing/2014/main" id="{2BF07EA4-BEC6-F59A-DB00-FD910A14D0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06720" y="3840581"/>
            <a:ext cx="77819" cy="116729"/>
          </a:xfrm>
          <a:prstGeom prst="rect">
            <a:avLst/>
          </a:prstGeom>
        </p:spPr>
      </p:pic>
      <p:pic>
        <p:nvPicPr>
          <p:cNvPr id="23" name="Picture 22">
            <a:extLst>
              <a:ext uri="{FF2B5EF4-FFF2-40B4-BE49-F238E27FC236}">
                <a16:creationId xmlns:a16="http://schemas.microsoft.com/office/drawing/2014/main" id="{AD70796C-5B43-FB4E-F103-BD869BC9B4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19739" y="4981524"/>
            <a:ext cx="77819" cy="116729"/>
          </a:xfrm>
          <a:prstGeom prst="rect">
            <a:avLst/>
          </a:prstGeom>
        </p:spPr>
      </p:pic>
    </p:spTree>
    <p:extLst>
      <p:ext uri="{BB962C8B-B14F-4D97-AF65-F5344CB8AC3E}">
        <p14:creationId xmlns:p14="http://schemas.microsoft.com/office/powerpoint/2010/main" val="4241809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E546-D943-906E-62F4-957986BF2344}"/>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8FC0B211-6527-CAE3-6F4C-2E99C1B7D9E2}"/>
              </a:ext>
            </a:extLst>
          </p:cNvPr>
          <p:cNvPicPr>
            <a:picLocks noChangeAspect="1"/>
          </p:cNvPicPr>
          <p:nvPr/>
        </p:nvPicPr>
        <p:blipFill>
          <a:blip r:embed="rId2"/>
          <a:stretch>
            <a:fillRect/>
          </a:stretch>
        </p:blipFill>
        <p:spPr>
          <a:xfrm>
            <a:off x="4963522" y="2931447"/>
            <a:ext cx="807381" cy="612264"/>
          </a:xfrm>
          <a:prstGeom prst="rect">
            <a:avLst/>
          </a:prstGeom>
        </p:spPr>
      </p:pic>
      <p:pic>
        <p:nvPicPr>
          <p:cNvPr id="36" name="Picture 35">
            <a:extLst>
              <a:ext uri="{FF2B5EF4-FFF2-40B4-BE49-F238E27FC236}">
                <a16:creationId xmlns:a16="http://schemas.microsoft.com/office/drawing/2014/main" id="{341F0E29-6081-A217-5F5E-C785C575C201}"/>
              </a:ext>
            </a:extLst>
          </p:cNvPr>
          <p:cNvPicPr>
            <a:picLocks noChangeAspect="1"/>
          </p:cNvPicPr>
          <p:nvPr/>
        </p:nvPicPr>
        <p:blipFill>
          <a:blip r:embed="rId3"/>
          <a:stretch>
            <a:fillRect/>
          </a:stretch>
        </p:blipFill>
        <p:spPr>
          <a:xfrm>
            <a:off x="5000031" y="3760211"/>
            <a:ext cx="770872" cy="539610"/>
          </a:xfrm>
          <a:prstGeom prst="rect">
            <a:avLst/>
          </a:prstGeom>
        </p:spPr>
      </p:pic>
      <p:pic>
        <p:nvPicPr>
          <p:cNvPr id="37" name="Picture 36">
            <a:extLst>
              <a:ext uri="{FF2B5EF4-FFF2-40B4-BE49-F238E27FC236}">
                <a16:creationId xmlns:a16="http://schemas.microsoft.com/office/drawing/2014/main" id="{90A9A212-4ABC-73C6-9AAB-5DEAF58E1FD9}"/>
              </a:ext>
            </a:extLst>
          </p:cNvPr>
          <p:cNvPicPr>
            <a:picLocks noChangeAspect="1"/>
          </p:cNvPicPr>
          <p:nvPr/>
        </p:nvPicPr>
        <p:blipFill>
          <a:blip r:embed="rId4"/>
          <a:stretch>
            <a:fillRect/>
          </a:stretch>
        </p:blipFill>
        <p:spPr>
          <a:xfrm>
            <a:off x="5062764" y="4497990"/>
            <a:ext cx="645405" cy="408710"/>
          </a:xfrm>
          <a:prstGeom prst="rect">
            <a:avLst/>
          </a:prstGeom>
        </p:spPr>
      </p:pic>
      <p:pic>
        <p:nvPicPr>
          <p:cNvPr id="16" name="Picture 15">
            <a:extLst>
              <a:ext uri="{FF2B5EF4-FFF2-40B4-BE49-F238E27FC236}">
                <a16:creationId xmlns:a16="http://schemas.microsoft.com/office/drawing/2014/main" id="{901D2A6B-5820-7A51-47FC-0406A01CB358}"/>
              </a:ext>
            </a:extLst>
          </p:cNvPr>
          <p:cNvPicPr>
            <a:picLocks noChangeAspect="1"/>
          </p:cNvPicPr>
          <p:nvPr/>
        </p:nvPicPr>
        <p:blipFill>
          <a:blip r:embed="rId5">
            <a:extLst>
              <a:ext uri="{28A0092B-C50C-407E-A947-70E740481C1C}">
                <a14:useLocalDpi xmlns:a14="http://schemas.microsoft.com/office/drawing/2010/main" val="0"/>
              </a:ext>
            </a:extLst>
          </a:blip>
          <a:srcRect l="19851" t="18591" r="19085" b="18550"/>
          <a:stretch>
            <a:fillRect/>
          </a:stretch>
        </p:blipFill>
        <p:spPr>
          <a:xfrm>
            <a:off x="351779" y="3683921"/>
            <a:ext cx="898191" cy="667098"/>
          </a:xfrm>
          <a:prstGeom prst="rect">
            <a:avLst/>
          </a:prstGeom>
        </p:spPr>
      </p:pic>
      <p:sp>
        <p:nvSpPr>
          <p:cNvPr id="29" name="TextBox 28">
            <a:extLst>
              <a:ext uri="{FF2B5EF4-FFF2-40B4-BE49-F238E27FC236}">
                <a16:creationId xmlns:a16="http://schemas.microsoft.com/office/drawing/2014/main" id="{10207CFC-D71B-1F8F-2005-A734B74849AC}"/>
              </a:ext>
            </a:extLst>
          </p:cNvPr>
          <p:cNvSpPr txBox="1"/>
          <p:nvPr/>
        </p:nvSpPr>
        <p:spPr>
          <a:xfrm>
            <a:off x="1074267" y="3808111"/>
            <a:ext cx="819986" cy="230832"/>
          </a:xfrm>
          <a:prstGeom prst="rect">
            <a:avLst/>
          </a:prstGeom>
          <a:noFill/>
        </p:spPr>
        <p:txBody>
          <a:bodyPr wrap="square">
            <a:spAutoFit/>
          </a:bodyPr>
          <a:lstStyle/>
          <a:p>
            <a:pPr algn="ctr"/>
            <a:r>
              <a:rPr lang="en-US" sz="900" dirty="0"/>
              <a:t>Use API</a:t>
            </a:r>
          </a:p>
        </p:txBody>
      </p:sp>
      <p:sp>
        <p:nvSpPr>
          <p:cNvPr id="3" name="TextBox 2">
            <a:extLst>
              <a:ext uri="{FF2B5EF4-FFF2-40B4-BE49-F238E27FC236}">
                <a16:creationId xmlns:a16="http://schemas.microsoft.com/office/drawing/2014/main" id="{F9940B3A-2611-9394-8FD3-E5D42A64607A}"/>
              </a:ext>
            </a:extLst>
          </p:cNvPr>
          <p:cNvSpPr txBox="1"/>
          <p:nvPr/>
        </p:nvSpPr>
        <p:spPr>
          <a:xfrm>
            <a:off x="838200" y="1364568"/>
            <a:ext cx="9245367" cy="400110"/>
          </a:xfrm>
          <a:prstGeom prst="rect">
            <a:avLst/>
          </a:prstGeom>
          <a:noFill/>
        </p:spPr>
        <p:txBody>
          <a:bodyPr wrap="square">
            <a:spAutoFit/>
          </a:bodyPr>
          <a:lstStyle/>
          <a:p>
            <a:r>
              <a:rPr lang="en-US" sz="2000" dirty="0"/>
              <a:t>But there is something you can do about it</a:t>
            </a:r>
          </a:p>
        </p:txBody>
      </p:sp>
      <p:pic>
        <p:nvPicPr>
          <p:cNvPr id="15" name="Picture 14">
            <a:extLst>
              <a:ext uri="{FF2B5EF4-FFF2-40B4-BE49-F238E27FC236}">
                <a16:creationId xmlns:a16="http://schemas.microsoft.com/office/drawing/2014/main" id="{958FB4E0-63CA-29D8-1A1C-91120E9FD4DF}"/>
              </a:ext>
            </a:extLst>
          </p:cNvPr>
          <p:cNvPicPr>
            <a:picLocks noChangeAspect="1"/>
          </p:cNvPicPr>
          <p:nvPr/>
        </p:nvPicPr>
        <p:blipFill>
          <a:blip r:embed="rId6"/>
          <a:srcRect l="3240"/>
          <a:stretch>
            <a:fillRect/>
          </a:stretch>
        </p:blipFill>
        <p:spPr>
          <a:xfrm rot="10800000">
            <a:off x="1805274" y="3662520"/>
            <a:ext cx="1193195" cy="709296"/>
          </a:xfrm>
          <a:prstGeom prst="rect">
            <a:avLst/>
          </a:prstGeom>
        </p:spPr>
      </p:pic>
      <p:cxnSp>
        <p:nvCxnSpPr>
          <p:cNvPr id="17" name="Straight Arrow Connector 16">
            <a:extLst>
              <a:ext uri="{FF2B5EF4-FFF2-40B4-BE49-F238E27FC236}">
                <a16:creationId xmlns:a16="http://schemas.microsoft.com/office/drawing/2014/main" id="{50AACEC9-81C4-3B7E-B430-CA49147AC1FA}"/>
              </a:ext>
            </a:extLst>
          </p:cNvPr>
          <p:cNvCxnSpPr>
            <a:cxnSpLocks/>
            <a:stCxn id="16" idx="3"/>
            <a:endCxn id="15" idx="3"/>
          </p:cNvCxnSpPr>
          <p:nvPr/>
        </p:nvCxnSpPr>
        <p:spPr>
          <a:xfrm flipV="1">
            <a:off x="1249970" y="4017168"/>
            <a:ext cx="555304" cy="3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2D7F3A0A-1AD8-44F0-027C-5E2EBCC798F5}"/>
              </a:ext>
            </a:extLst>
          </p:cNvPr>
          <p:cNvPicPr>
            <a:picLocks noChangeAspect="1"/>
          </p:cNvPicPr>
          <p:nvPr/>
        </p:nvPicPr>
        <p:blipFill>
          <a:blip r:embed="rId2"/>
          <a:stretch>
            <a:fillRect/>
          </a:stretch>
        </p:blipFill>
        <p:spPr>
          <a:xfrm>
            <a:off x="3547131" y="2940374"/>
            <a:ext cx="807381" cy="612264"/>
          </a:xfrm>
          <a:prstGeom prst="rect">
            <a:avLst/>
          </a:prstGeom>
        </p:spPr>
      </p:pic>
      <p:pic>
        <p:nvPicPr>
          <p:cNvPr id="22" name="Picture 21">
            <a:extLst>
              <a:ext uri="{FF2B5EF4-FFF2-40B4-BE49-F238E27FC236}">
                <a16:creationId xmlns:a16="http://schemas.microsoft.com/office/drawing/2014/main" id="{8A30BB20-3BE6-6C99-E13D-39377A1EA2AE}"/>
              </a:ext>
            </a:extLst>
          </p:cNvPr>
          <p:cNvPicPr>
            <a:picLocks noChangeAspect="1"/>
          </p:cNvPicPr>
          <p:nvPr/>
        </p:nvPicPr>
        <p:blipFill>
          <a:blip r:embed="rId3"/>
          <a:stretch>
            <a:fillRect/>
          </a:stretch>
        </p:blipFill>
        <p:spPr>
          <a:xfrm>
            <a:off x="3583640" y="3769138"/>
            <a:ext cx="770872" cy="539610"/>
          </a:xfrm>
          <a:prstGeom prst="rect">
            <a:avLst/>
          </a:prstGeom>
        </p:spPr>
      </p:pic>
      <p:pic>
        <p:nvPicPr>
          <p:cNvPr id="24" name="Picture 23">
            <a:extLst>
              <a:ext uri="{FF2B5EF4-FFF2-40B4-BE49-F238E27FC236}">
                <a16:creationId xmlns:a16="http://schemas.microsoft.com/office/drawing/2014/main" id="{278AC99C-1DFD-7FED-8B0F-A994862EFE0C}"/>
              </a:ext>
            </a:extLst>
          </p:cNvPr>
          <p:cNvPicPr>
            <a:picLocks noChangeAspect="1"/>
          </p:cNvPicPr>
          <p:nvPr/>
        </p:nvPicPr>
        <p:blipFill>
          <a:blip r:embed="rId4"/>
          <a:stretch>
            <a:fillRect/>
          </a:stretch>
        </p:blipFill>
        <p:spPr>
          <a:xfrm>
            <a:off x="3646373" y="4506917"/>
            <a:ext cx="645405" cy="408710"/>
          </a:xfrm>
          <a:prstGeom prst="rect">
            <a:avLst/>
          </a:prstGeom>
        </p:spPr>
      </p:pic>
      <p:cxnSp>
        <p:nvCxnSpPr>
          <p:cNvPr id="25" name="Straight Arrow Connector 24">
            <a:extLst>
              <a:ext uri="{FF2B5EF4-FFF2-40B4-BE49-F238E27FC236}">
                <a16:creationId xmlns:a16="http://schemas.microsoft.com/office/drawing/2014/main" id="{625AE4D4-70D0-C043-5F65-E76AFBA627A4}"/>
              </a:ext>
            </a:extLst>
          </p:cNvPr>
          <p:cNvCxnSpPr>
            <a:cxnSpLocks/>
            <a:stCxn id="15" idx="1"/>
          </p:cNvCxnSpPr>
          <p:nvPr/>
        </p:nvCxnSpPr>
        <p:spPr>
          <a:xfrm>
            <a:off x="2998469" y="4017168"/>
            <a:ext cx="5851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A0E5D4C8-8EE9-6909-3369-6DBA828C8EB1}"/>
              </a:ext>
            </a:extLst>
          </p:cNvPr>
          <p:cNvSpPr txBox="1"/>
          <p:nvPr/>
        </p:nvSpPr>
        <p:spPr>
          <a:xfrm>
            <a:off x="1701282" y="3447429"/>
            <a:ext cx="1439175" cy="261610"/>
          </a:xfrm>
          <a:prstGeom prst="rect">
            <a:avLst/>
          </a:prstGeom>
          <a:noFill/>
        </p:spPr>
        <p:txBody>
          <a:bodyPr wrap="square">
            <a:spAutoFit/>
          </a:bodyPr>
          <a:lstStyle/>
          <a:p>
            <a:pPr algn="ctr"/>
            <a:r>
              <a:rPr lang="en-US" sz="1050" dirty="0"/>
              <a:t>Deployed Model</a:t>
            </a:r>
          </a:p>
        </p:txBody>
      </p:sp>
      <p:sp>
        <p:nvSpPr>
          <p:cNvPr id="18" name="TextBox 17">
            <a:extLst>
              <a:ext uri="{FF2B5EF4-FFF2-40B4-BE49-F238E27FC236}">
                <a16:creationId xmlns:a16="http://schemas.microsoft.com/office/drawing/2014/main" id="{D6E67A2D-CE58-C2AC-C0EB-F52761D9ECA3}"/>
              </a:ext>
            </a:extLst>
          </p:cNvPr>
          <p:cNvSpPr txBox="1"/>
          <p:nvPr/>
        </p:nvSpPr>
        <p:spPr>
          <a:xfrm>
            <a:off x="1348789" y="3971229"/>
            <a:ext cx="346266" cy="246221"/>
          </a:xfrm>
          <a:prstGeom prst="rect">
            <a:avLst/>
          </a:prstGeom>
          <a:noFill/>
        </p:spPr>
        <p:txBody>
          <a:bodyPr wrap="square">
            <a:spAutoFit/>
          </a:bodyPr>
          <a:lstStyle/>
          <a:p>
            <a:pPr algn="ctr"/>
            <a:r>
              <a:rPr lang="en-US" sz="1000" dirty="0"/>
              <a:t>$5</a:t>
            </a:r>
          </a:p>
        </p:txBody>
      </p:sp>
      <p:pic>
        <p:nvPicPr>
          <p:cNvPr id="19" name="Picture 18">
            <a:extLst>
              <a:ext uri="{FF2B5EF4-FFF2-40B4-BE49-F238E27FC236}">
                <a16:creationId xmlns:a16="http://schemas.microsoft.com/office/drawing/2014/main" id="{2A402056-33CC-0DAF-F6C4-A30BA4FBB1B0}"/>
              </a:ext>
            </a:extLst>
          </p:cNvPr>
          <p:cNvPicPr>
            <a:picLocks noChangeAspect="1"/>
          </p:cNvPicPr>
          <p:nvPr/>
        </p:nvPicPr>
        <p:blipFill>
          <a:blip r:embed="rId6"/>
          <a:srcRect l="3240"/>
          <a:stretch>
            <a:fillRect/>
          </a:stretch>
        </p:blipFill>
        <p:spPr>
          <a:xfrm rot="10800000">
            <a:off x="8050883" y="3683921"/>
            <a:ext cx="1116957" cy="663976"/>
          </a:xfrm>
          <a:prstGeom prst="rect">
            <a:avLst/>
          </a:prstGeom>
        </p:spPr>
      </p:pic>
      <p:sp>
        <p:nvSpPr>
          <p:cNvPr id="21" name="TextBox 20">
            <a:extLst>
              <a:ext uri="{FF2B5EF4-FFF2-40B4-BE49-F238E27FC236}">
                <a16:creationId xmlns:a16="http://schemas.microsoft.com/office/drawing/2014/main" id="{EB53A254-129A-0467-8B07-C32E3690D15A}"/>
              </a:ext>
            </a:extLst>
          </p:cNvPr>
          <p:cNvSpPr txBox="1"/>
          <p:nvPr/>
        </p:nvSpPr>
        <p:spPr>
          <a:xfrm>
            <a:off x="8299356" y="3462818"/>
            <a:ext cx="620009" cy="246221"/>
          </a:xfrm>
          <a:prstGeom prst="rect">
            <a:avLst/>
          </a:prstGeom>
          <a:noFill/>
        </p:spPr>
        <p:txBody>
          <a:bodyPr wrap="square">
            <a:spAutoFit/>
          </a:bodyPr>
          <a:lstStyle/>
          <a:p>
            <a:pPr algn="ctr"/>
            <a:r>
              <a:rPr lang="en-US" sz="1000" dirty="0"/>
              <a:t>Model</a:t>
            </a:r>
          </a:p>
        </p:txBody>
      </p:sp>
      <p:cxnSp>
        <p:nvCxnSpPr>
          <p:cNvPr id="26" name="Straight Arrow Connector 25">
            <a:extLst>
              <a:ext uri="{FF2B5EF4-FFF2-40B4-BE49-F238E27FC236}">
                <a16:creationId xmlns:a16="http://schemas.microsoft.com/office/drawing/2014/main" id="{032EEF92-199C-A182-EFAC-05336B3CD2AE}"/>
              </a:ext>
            </a:extLst>
          </p:cNvPr>
          <p:cNvCxnSpPr>
            <a:cxnSpLocks/>
            <a:endCxn id="19" idx="3"/>
          </p:cNvCxnSpPr>
          <p:nvPr/>
        </p:nvCxnSpPr>
        <p:spPr>
          <a:xfrm>
            <a:off x="7380784" y="4015909"/>
            <a:ext cx="6700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95174E9E-274B-2686-3BB6-70D881113BDC}"/>
              </a:ext>
            </a:extLst>
          </p:cNvPr>
          <p:cNvPicPr>
            <a:picLocks noChangeAspect="1"/>
          </p:cNvPicPr>
          <p:nvPr/>
        </p:nvPicPr>
        <p:blipFill>
          <a:blip r:embed="rId7"/>
          <a:stretch>
            <a:fillRect/>
          </a:stretch>
        </p:blipFill>
        <p:spPr>
          <a:xfrm>
            <a:off x="10041483" y="3769188"/>
            <a:ext cx="713679" cy="560216"/>
          </a:xfrm>
          <a:prstGeom prst="rect">
            <a:avLst/>
          </a:prstGeom>
        </p:spPr>
      </p:pic>
      <p:pic>
        <p:nvPicPr>
          <p:cNvPr id="40" name="Picture 39">
            <a:extLst>
              <a:ext uri="{FF2B5EF4-FFF2-40B4-BE49-F238E27FC236}">
                <a16:creationId xmlns:a16="http://schemas.microsoft.com/office/drawing/2014/main" id="{B4B0898B-4395-FDBC-1213-12EDE6650181}"/>
              </a:ext>
            </a:extLst>
          </p:cNvPr>
          <p:cNvPicPr>
            <a:picLocks noChangeAspect="1"/>
          </p:cNvPicPr>
          <p:nvPr/>
        </p:nvPicPr>
        <p:blipFill>
          <a:blip r:embed="rId8"/>
          <a:stretch>
            <a:fillRect/>
          </a:stretch>
        </p:blipFill>
        <p:spPr>
          <a:xfrm>
            <a:off x="9979228" y="4918658"/>
            <a:ext cx="780398" cy="574774"/>
          </a:xfrm>
          <a:prstGeom prst="rect">
            <a:avLst/>
          </a:prstGeom>
        </p:spPr>
      </p:pic>
      <p:pic>
        <p:nvPicPr>
          <p:cNvPr id="42" name="Picture 41">
            <a:extLst>
              <a:ext uri="{FF2B5EF4-FFF2-40B4-BE49-F238E27FC236}">
                <a16:creationId xmlns:a16="http://schemas.microsoft.com/office/drawing/2014/main" id="{78FD0BB3-A481-98B8-382F-FD2851B3DF6E}"/>
              </a:ext>
            </a:extLst>
          </p:cNvPr>
          <p:cNvPicPr>
            <a:picLocks noChangeAspect="1"/>
          </p:cNvPicPr>
          <p:nvPr/>
        </p:nvPicPr>
        <p:blipFill>
          <a:blip r:embed="rId9"/>
          <a:stretch>
            <a:fillRect/>
          </a:stretch>
        </p:blipFill>
        <p:spPr>
          <a:xfrm>
            <a:off x="9979228" y="2470019"/>
            <a:ext cx="902181" cy="701070"/>
          </a:xfrm>
          <a:prstGeom prst="rect">
            <a:avLst/>
          </a:prstGeom>
        </p:spPr>
      </p:pic>
      <p:cxnSp>
        <p:nvCxnSpPr>
          <p:cNvPr id="43" name="Straight Arrow Connector 42">
            <a:extLst>
              <a:ext uri="{FF2B5EF4-FFF2-40B4-BE49-F238E27FC236}">
                <a16:creationId xmlns:a16="http://schemas.microsoft.com/office/drawing/2014/main" id="{1AAC1EA8-5A21-1615-18F5-571A96A14AE9}"/>
              </a:ext>
            </a:extLst>
          </p:cNvPr>
          <p:cNvCxnSpPr>
            <a:cxnSpLocks/>
            <a:stCxn id="19" idx="1"/>
          </p:cNvCxnSpPr>
          <p:nvPr/>
        </p:nvCxnSpPr>
        <p:spPr>
          <a:xfrm>
            <a:off x="9167840" y="4015909"/>
            <a:ext cx="8521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44C9B6A6-B28C-C97C-F0A6-BF318BE93D8D}"/>
              </a:ext>
            </a:extLst>
          </p:cNvPr>
          <p:cNvSpPr txBox="1"/>
          <p:nvPr/>
        </p:nvSpPr>
        <p:spPr>
          <a:xfrm>
            <a:off x="7272064" y="3754299"/>
            <a:ext cx="819986" cy="523220"/>
          </a:xfrm>
          <a:prstGeom prst="rect">
            <a:avLst/>
          </a:prstGeom>
          <a:noFill/>
        </p:spPr>
        <p:txBody>
          <a:bodyPr wrap="square">
            <a:spAutoFit/>
          </a:bodyPr>
          <a:lstStyle/>
          <a:p>
            <a:pPr algn="ctr"/>
            <a:r>
              <a:rPr lang="en-US" sz="700" dirty="0"/>
              <a:t>Train substitute</a:t>
            </a:r>
          </a:p>
          <a:p>
            <a:pPr algn="ctr"/>
            <a:r>
              <a:rPr lang="en-US" sz="700" dirty="0"/>
              <a:t>Model on</a:t>
            </a:r>
          </a:p>
          <a:p>
            <a:pPr algn="ctr"/>
            <a:r>
              <a:rPr lang="en-US" sz="700" dirty="0"/>
              <a:t>unwatermarked</a:t>
            </a:r>
          </a:p>
          <a:p>
            <a:pPr algn="ctr"/>
            <a:r>
              <a:rPr lang="en-US" sz="700" dirty="0"/>
              <a:t>dataset</a:t>
            </a:r>
          </a:p>
        </p:txBody>
      </p:sp>
      <p:sp>
        <p:nvSpPr>
          <p:cNvPr id="52" name="TextBox 51">
            <a:extLst>
              <a:ext uri="{FF2B5EF4-FFF2-40B4-BE49-F238E27FC236}">
                <a16:creationId xmlns:a16="http://schemas.microsoft.com/office/drawing/2014/main" id="{508A33F3-761B-F380-7294-DC216AB991C7}"/>
              </a:ext>
            </a:extLst>
          </p:cNvPr>
          <p:cNvSpPr txBox="1"/>
          <p:nvPr/>
        </p:nvSpPr>
        <p:spPr>
          <a:xfrm>
            <a:off x="9167840" y="3754299"/>
            <a:ext cx="780398" cy="523220"/>
          </a:xfrm>
          <a:prstGeom prst="rect">
            <a:avLst/>
          </a:prstGeom>
          <a:noFill/>
        </p:spPr>
        <p:txBody>
          <a:bodyPr wrap="square">
            <a:spAutoFit/>
          </a:bodyPr>
          <a:lstStyle/>
          <a:p>
            <a:pPr algn="ctr"/>
            <a:r>
              <a:rPr lang="en-US" sz="700" dirty="0"/>
              <a:t>Generates same output as the original model.</a:t>
            </a:r>
            <a:endParaRPr lang="en-US" sz="500" dirty="0"/>
          </a:p>
        </p:txBody>
      </p:sp>
      <p:cxnSp>
        <p:nvCxnSpPr>
          <p:cNvPr id="11" name="Straight Arrow Connector 10">
            <a:extLst>
              <a:ext uri="{FF2B5EF4-FFF2-40B4-BE49-F238E27FC236}">
                <a16:creationId xmlns:a16="http://schemas.microsoft.com/office/drawing/2014/main" id="{AC726C49-E3DC-1E23-4436-E8F066F1231C}"/>
              </a:ext>
            </a:extLst>
          </p:cNvPr>
          <p:cNvCxnSpPr>
            <a:cxnSpLocks/>
          </p:cNvCxnSpPr>
          <p:nvPr/>
        </p:nvCxnSpPr>
        <p:spPr>
          <a:xfrm>
            <a:off x="4396324" y="4030016"/>
            <a:ext cx="588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4FA9A1E-9A8C-C484-3E60-4ADE23F28F0F}"/>
              </a:ext>
            </a:extLst>
          </p:cNvPr>
          <p:cNvSpPr txBox="1"/>
          <p:nvPr/>
        </p:nvSpPr>
        <p:spPr>
          <a:xfrm>
            <a:off x="4239511" y="3857283"/>
            <a:ext cx="902129" cy="200055"/>
          </a:xfrm>
          <a:prstGeom prst="rect">
            <a:avLst/>
          </a:prstGeom>
          <a:noFill/>
        </p:spPr>
        <p:txBody>
          <a:bodyPr wrap="square">
            <a:spAutoFit/>
          </a:bodyPr>
          <a:lstStyle/>
          <a:p>
            <a:pPr algn="ctr"/>
            <a:r>
              <a:rPr lang="en-US" sz="700" dirty="0"/>
              <a:t>Watermark</a:t>
            </a:r>
          </a:p>
        </p:txBody>
      </p:sp>
      <p:sp>
        <p:nvSpPr>
          <p:cNvPr id="34" name="TextBox 33">
            <a:extLst>
              <a:ext uri="{FF2B5EF4-FFF2-40B4-BE49-F238E27FC236}">
                <a16:creationId xmlns:a16="http://schemas.microsoft.com/office/drawing/2014/main" id="{20D43D7D-2856-B005-E681-C1D72F54F93B}"/>
              </a:ext>
            </a:extLst>
          </p:cNvPr>
          <p:cNvSpPr txBox="1"/>
          <p:nvPr/>
        </p:nvSpPr>
        <p:spPr>
          <a:xfrm>
            <a:off x="2864428" y="3820394"/>
            <a:ext cx="819986" cy="230832"/>
          </a:xfrm>
          <a:prstGeom prst="rect">
            <a:avLst/>
          </a:prstGeom>
          <a:noFill/>
        </p:spPr>
        <p:txBody>
          <a:bodyPr wrap="square">
            <a:spAutoFit/>
          </a:bodyPr>
          <a:lstStyle/>
          <a:p>
            <a:pPr algn="ctr"/>
            <a:r>
              <a:rPr lang="en-US" sz="900" dirty="0"/>
              <a:t>Generate</a:t>
            </a:r>
          </a:p>
        </p:txBody>
      </p:sp>
      <p:pic>
        <p:nvPicPr>
          <p:cNvPr id="4" name="Picture 3">
            <a:extLst>
              <a:ext uri="{FF2B5EF4-FFF2-40B4-BE49-F238E27FC236}">
                <a16:creationId xmlns:a16="http://schemas.microsoft.com/office/drawing/2014/main" id="{C56194C1-48D0-EB42-A3EB-84CB6D21F1DB}"/>
              </a:ext>
            </a:extLst>
          </p:cNvPr>
          <p:cNvPicPr>
            <a:picLocks noChangeAspect="1"/>
          </p:cNvPicPr>
          <p:nvPr/>
        </p:nvPicPr>
        <p:blipFill>
          <a:blip r:embed="rId2"/>
          <a:stretch>
            <a:fillRect/>
          </a:stretch>
        </p:blipFill>
        <p:spPr>
          <a:xfrm>
            <a:off x="6449481" y="2940374"/>
            <a:ext cx="807381" cy="612264"/>
          </a:xfrm>
          <a:prstGeom prst="rect">
            <a:avLst/>
          </a:prstGeom>
        </p:spPr>
      </p:pic>
      <p:pic>
        <p:nvPicPr>
          <p:cNvPr id="5" name="Picture 4">
            <a:extLst>
              <a:ext uri="{FF2B5EF4-FFF2-40B4-BE49-F238E27FC236}">
                <a16:creationId xmlns:a16="http://schemas.microsoft.com/office/drawing/2014/main" id="{52293F9A-4EBE-4C0D-15C9-4225653D3AB2}"/>
              </a:ext>
            </a:extLst>
          </p:cNvPr>
          <p:cNvPicPr>
            <a:picLocks noChangeAspect="1"/>
          </p:cNvPicPr>
          <p:nvPr/>
        </p:nvPicPr>
        <p:blipFill>
          <a:blip r:embed="rId3"/>
          <a:stretch>
            <a:fillRect/>
          </a:stretch>
        </p:blipFill>
        <p:spPr>
          <a:xfrm>
            <a:off x="6485990" y="3769138"/>
            <a:ext cx="770872" cy="539610"/>
          </a:xfrm>
          <a:prstGeom prst="rect">
            <a:avLst/>
          </a:prstGeom>
        </p:spPr>
      </p:pic>
      <p:pic>
        <p:nvPicPr>
          <p:cNvPr id="6" name="Picture 5">
            <a:extLst>
              <a:ext uri="{FF2B5EF4-FFF2-40B4-BE49-F238E27FC236}">
                <a16:creationId xmlns:a16="http://schemas.microsoft.com/office/drawing/2014/main" id="{CC4C7D08-2C04-4390-47DC-33E97F11A239}"/>
              </a:ext>
            </a:extLst>
          </p:cNvPr>
          <p:cNvPicPr>
            <a:picLocks noChangeAspect="1"/>
          </p:cNvPicPr>
          <p:nvPr/>
        </p:nvPicPr>
        <p:blipFill>
          <a:blip r:embed="rId4"/>
          <a:stretch>
            <a:fillRect/>
          </a:stretch>
        </p:blipFill>
        <p:spPr>
          <a:xfrm>
            <a:off x="6548723" y="4506917"/>
            <a:ext cx="645405" cy="408710"/>
          </a:xfrm>
          <a:prstGeom prst="rect">
            <a:avLst/>
          </a:prstGeom>
        </p:spPr>
      </p:pic>
      <p:cxnSp>
        <p:nvCxnSpPr>
          <p:cNvPr id="7" name="Straight Arrow Connector 6">
            <a:extLst>
              <a:ext uri="{FF2B5EF4-FFF2-40B4-BE49-F238E27FC236}">
                <a16:creationId xmlns:a16="http://schemas.microsoft.com/office/drawing/2014/main" id="{5BEDAAC8-052E-D2B9-08E2-C9D38155B362}"/>
              </a:ext>
            </a:extLst>
          </p:cNvPr>
          <p:cNvCxnSpPr>
            <a:cxnSpLocks/>
          </p:cNvCxnSpPr>
          <p:nvPr/>
        </p:nvCxnSpPr>
        <p:spPr>
          <a:xfrm>
            <a:off x="5882283" y="4038943"/>
            <a:ext cx="588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F923618-7120-65AA-55F5-4CC127701251}"/>
              </a:ext>
            </a:extLst>
          </p:cNvPr>
          <p:cNvSpPr txBox="1"/>
          <p:nvPr/>
        </p:nvSpPr>
        <p:spPr>
          <a:xfrm>
            <a:off x="5725470" y="3866210"/>
            <a:ext cx="902129" cy="415498"/>
          </a:xfrm>
          <a:prstGeom prst="rect">
            <a:avLst/>
          </a:prstGeom>
          <a:noFill/>
        </p:spPr>
        <p:txBody>
          <a:bodyPr wrap="square">
            <a:spAutoFit/>
          </a:bodyPr>
          <a:lstStyle/>
          <a:p>
            <a:pPr algn="ctr"/>
            <a:r>
              <a:rPr lang="en-US" sz="700" dirty="0"/>
              <a:t>Attacker</a:t>
            </a:r>
          </a:p>
          <a:p>
            <a:pPr algn="ctr"/>
            <a:r>
              <a:rPr lang="en-US" sz="700" dirty="0"/>
              <a:t>Removes</a:t>
            </a:r>
          </a:p>
          <a:p>
            <a:pPr algn="ctr"/>
            <a:r>
              <a:rPr lang="en-US" sz="700" dirty="0"/>
              <a:t>Watermark</a:t>
            </a:r>
          </a:p>
        </p:txBody>
      </p:sp>
      <p:sp>
        <p:nvSpPr>
          <p:cNvPr id="12" name="Title 1">
            <a:extLst>
              <a:ext uri="{FF2B5EF4-FFF2-40B4-BE49-F238E27FC236}">
                <a16:creationId xmlns:a16="http://schemas.microsoft.com/office/drawing/2014/main" id="{5E677CC8-5C2A-58F7-FC3D-74FBFF4E0AB2}"/>
              </a:ext>
            </a:extLst>
          </p:cNvPr>
          <p:cNvSpPr>
            <a:spLocks noGrp="1"/>
          </p:cNvSpPr>
          <p:nvPr>
            <p:ph type="title"/>
          </p:nvPr>
        </p:nvSpPr>
        <p:spPr>
          <a:xfrm>
            <a:off x="838200" y="363825"/>
            <a:ext cx="10515600" cy="1325563"/>
          </a:xfrm>
        </p:spPr>
        <p:txBody>
          <a:bodyPr>
            <a:normAutofit/>
          </a:bodyPr>
          <a:lstStyle/>
          <a:p>
            <a:r>
              <a:rPr lang="en-US" sz="4000" dirty="0"/>
              <a:t>Understanding Model Theft Using an Image Model</a:t>
            </a:r>
          </a:p>
        </p:txBody>
      </p:sp>
      <p:pic>
        <p:nvPicPr>
          <p:cNvPr id="14" name="Picture 13">
            <a:extLst>
              <a:ext uri="{FF2B5EF4-FFF2-40B4-BE49-F238E27FC236}">
                <a16:creationId xmlns:a16="http://schemas.microsoft.com/office/drawing/2014/main" id="{A2CD2FFB-57A1-BEEC-17BB-FDE67FC5520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07019" y="3000324"/>
            <a:ext cx="77819" cy="116729"/>
          </a:xfrm>
          <a:prstGeom prst="rect">
            <a:avLst/>
          </a:prstGeom>
        </p:spPr>
      </p:pic>
      <p:pic>
        <p:nvPicPr>
          <p:cNvPr id="23" name="Picture 22">
            <a:extLst>
              <a:ext uri="{FF2B5EF4-FFF2-40B4-BE49-F238E27FC236}">
                <a16:creationId xmlns:a16="http://schemas.microsoft.com/office/drawing/2014/main" id="{20D80FB0-2AB7-197B-CD1E-C433AF6C44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07019" y="3806798"/>
            <a:ext cx="77819" cy="116729"/>
          </a:xfrm>
          <a:prstGeom prst="rect">
            <a:avLst/>
          </a:prstGeom>
        </p:spPr>
      </p:pic>
      <p:pic>
        <p:nvPicPr>
          <p:cNvPr id="27" name="Picture 26">
            <a:extLst>
              <a:ext uri="{FF2B5EF4-FFF2-40B4-BE49-F238E27FC236}">
                <a16:creationId xmlns:a16="http://schemas.microsoft.com/office/drawing/2014/main" id="{AA54D5BA-9146-E69F-23DC-8DFC1D3FE24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07018" y="4535437"/>
            <a:ext cx="77819" cy="116729"/>
          </a:xfrm>
          <a:prstGeom prst="rect">
            <a:avLst/>
          </a:prstGeom>
        </p:spPr>
      </p:pic>
    </p:spTree>
    <p:extLst>
      <p:ext uri="{BB962C8B-B14F-4D97-AF65-F5344CB8AC3E}">
        <p14:creationId xmlns:p14="http://schemas.microsoft.com/office/powerpoint/2010/main" val="1411513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DA024-72FF-4928-B39F-0546FF76A7FB}"/>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1034C3B6-80DC-46F1-DB59-4023F64BB407}"/>
              </a:ext>
            </a:extLst>
          </p:cNvPr>
          <p:cNvPicPr>
            <a:picLocks noChangeAspect="1"/>
          </p:cNvPicPr>
          <p:nvPr/>
        </p:nvPicPr>
        <p:blipFill>
          <a:blip r:embed="rId2"/>
          <a:stretch>
            <a:fillRect/>
          </a:stretch>
        </p:blipFill>
        <p:spPr>
          <a:xfrm>
            <a:off x="4963522" y="2931447"/>
            <a:ext cx="807381" cy="612264"/>
          </a:xfrm>
          <a:prstGeom prst="rect">
            <a:avLst/>
          </a:prstGeom>
        </p:spPr>
      </p:pic>
      <p:pic>
        <p:nvPicPr>
          <p:cNvPr id="36" name="Picture 35">
            <a:extLst>
              <a:ext uri="{FF2B5EF4-FFF2-40B4-BE49-F238E27FC236}">
                <a16:creationId xmlns:a16="http://schemas.microsoft.com/office/drawing/2014/main" id="{BC0B0961-F585-F7EB-E33C-CCA2F0F1C7F8}"/>
              </a:ext>
            </a:extLst>
          </p:cNvPr>
          <p:cNvPicPr>
            <a:picLocks noChangeAspect="1"/>
          </p:cNvPicPr>
          <p:nvPr/>
        </p:nvPicPr>
        <p:blipFill>
          <a:blip r:embed="rId3"/>
          <a:stretch>
            <a:fillRect/>
          </a:stretch>
        </p:blipFill>
        <p:spPr>
          <a:xfrm>
            <a:off x="5000031" y="3760211"/>
            <a:ext cx="770872" cy="539610"/>
          </a:xfrm>
          <a:prstGeom prst="rect">
            <a:avLst/>
          </a:prstGeom>
        </p:spPr>
      </p:pic>
      <p:pic>
        <p:nvPicPr>
          <p:cNvPr id="37" name="Picture 36">
            <a:extLst>
              <a:ext uri="{FF2B5EF4-FFF2-40B4-BE49-F238E27FC236}">
                <a16:creationId xmlns:a16="http://schemas.microsoft.com/office/drawing/2014/main" id="{7B658B3B-7AEA-5A78-F453-046C028A1E3D}"/>
              </a:ext>
            </a:extLst>
          </p:cNvPr>
          <p:cNvPicPr>
            <a:picLocks noChangeAspect="1"/>
          </p:cNvPicPr>
          <p:nvPr/>
        </p:nvPicPr>
        <p:blipFill>
          <a:blip r:embed="rId4"/>
          <a:stretch>
            <a:fillRect/>
          </a:stretch>
        </p:blipFill>
        <p:spPr>
          <a:xfrm>
            <a:off x="5062764" y="4497990"/>
            <a:ext cx="645405" cy="408710"/>
          </a:xfrm>
          <a:prstGeom prst="rect">
            <a:avLst/>
          </a:prstGeom>
        </p:spPr>
      </p:pic>
      <p:pic>
        <p:nvPicPr>
          <p:cNvPr id="16" name="Picture 15">
            <a:extLst>
              <a:ext uri="{FF2B5EF4-FFF2-40B4-BE49-F238E27FC236}">
                <a16:creationId xmlns:a16="http://schemas.microsoft.com/office/drawing/2014/main" id="{2B6474F7-CFF4-7921-C6B5-EC8BE6AC6962}"/>
              </a:ext>
            </a:extLst>
          </p:cNvPr>
          <p:cNvPicPr>
            <a:picLocks noChangeAspect="1"/>
          </p:cNvPicPr>
          <p:nvPr/>
        </p:nvPicPr>
        <p:blipFill>
          <a:blip r:embed="rId5">
            <a:extLst>
              <a:ext uri="{28A0092B-C50C-407E-A947-70E740481C1C}">
                <a14:useLocalDpi xmlns:a14="http://schemas.microsoft.com/office/drawing/2010/main" val="0"/>
              </a:ext>
            </a:extLst>
          </a:blip>
          <a:srcRect l="19851" t="18591" r="19085" b="18550"/>
          <a:stretch>
            <a:fillRect/>
          </a:stretch>
        </p:blipFill>
        <p:spPr>
          <a:xfrm>
            <a:off x="351779" y="3683921"/>
            <a:ext cx="898191" cy="667098"/>
          </a:xfrm>
          <a:prstGeom prst="rect">
            <a:avLst/>
          </a:prstGeom>
        </p:spPr>
      </p:pic>
      <p:sp>
        <p:nvSpPr>
          <p:cNvPr id="29" name="TextBox 28">
            <a:extLst>
              <a:ext uri="{FF2B5EF4-FFF2-40B4-BE49-F238E27FC236}">
                <a16:creationId xmlns:a16="http://schemas.microsoft.com/office/drawing/2014/main" id="{C70CBF69-0C6B-563B-EAB4-A1CCF00A8F2D}"/>
              </a:ext>
            </a:extLst>
          </p:cNvPr>
          <p:cNvSpPr txBox="1"/>
          <p:nvPr/>
        </p:nvSpPr>
        <p:spPr>
          <a:xfrm>
            <a:off x="1074267" y="3808111"/>
            <a:ext cx="819986" cy="230832"/>
          </a:xfrm>
          <a:prstGeom prst="rect">
            <a:avLst/>
          </a:prstGeom>
          <a:noFill/>
        </p:spPr>
        <p:txBody>
          <a:bodyPr wrap="square">
            <a:spAutoFit/>
          </a:bodyPr>
          <a:lstStyle/>
          <a:p>
            <a:pPr algn="ctr"/>
            <a:r>
              <a:rPr lang="en-US" sz="900" dirty="0"/>
              <a:t>Use API</a:t>
            </a:r>
          </a:p>
        </p:txBody>
      </p:sp>
      <p:sp>
        <p:nvSpPr>
          <p:cNvPr id="3" name="TextBox 2">
            <a:extLst>
              <a:ext uri="{FF2B5EF4-FFF2-40B4-BE49-F238E27FC236}">
                <a16:creationId xmlns:a16="http://schemas.microsoft.com/office/drawing/2014/main" id="{6CABB05E-16C6-2651-EC05-FDDCF4C544BD}"/>
              </a:ext>
            </a:extLst>
          </p:cNvPr>
          <p:cNvSpPr txBox="1"/>
          <p:nvPr/>
        </p:nvSpPr>
        <p:spPr>
          <a:xfrm>
            <a:off x="838200" y="1364568"/>
            <a:ext cx="9245367" cy="400110"/>
          </a:xfrm>
          <a:prstGeom prst="rect">
            <a:avLst/>
          </a:prstGeom>
          <a:noFill/>
        </p:spPr>
        <p:txBody>
          <a:bodyPr wrap="square">
            <a:spAutoFit/>
          </a:bodyPr>
          <a:lstStyle/>
          <a:p>
            <a:r>
              <a:rPr lang="en-US" sz="2000" dirty="0"/>
              <a:t>The watermark can be anything</a:t>
            </a:r>
          </a:p>
        </p:txBody>
      </p:sp>
      <p:pic>
        <p:nvPicPr>
          <p:cNvPr id="15" name="Picture 14">
            <a:extLst>
              <a:ext uri="{FF2B5EF4-FFF2-40B4-BE49-F238E27FC236}">
                <a16:creationId xmlns:a16="http://schemas.microsoft.com/office/drawing/2014/main" id="{C36BEC34-70DF-CAA8-5B22-BB6AD1EB5E6A}"/>
              </a:ext>
            </a:extLst>
          </p:cNvPr>
          <p:cNvPicPr>
            <a:picLocks noChangeAspect="1"/>
          </p:cNvPicPr>
          <p:nvPr/>
        </p:nvPicPr>
        <p:blipFill>
          <a:blip r:embed="rId6"/>
          <a:srcRect l="3240"/>
          <a:stretch>
            <a:fillRect/>
          </a:stretch>
        </p:blipFill>
        <p:spPr>
          <a:xfrm rot="10800000">
            <a:off x="1805274" y="3662520"/>
            <a:ext cx="1193195" cy="709296"/>
          </a:xfrm>
          <a:prstGeom prst="rect">
            <a:avLst/>
          </a:prstGeom>
        </p:spPr>
      </p:pic>
      <p:cxnSp>
        <p:nvCxnSpPr>
          <p:cNvPr id="17" name="Straight Arrow Connector 16">
            <a:extLst>
              <a:ext uri="{FF2B5EF4-FFF2-40B4-BE49-F238E27FC236}">
                <a16:creationId xmlns:a16="http://schemas.microsoft.com/office/drawing/2014/main" id="{8F69C4BA-A377-7E63-E82C-A0A2E8678B25}"/>
              </a:ext>
            </a:extLst>
          </p:cNvPr>
          <p:cNvCxnSpPr>
            <a:cxnSpLocks/>
            <a:stCxn id="16" idx="3"/>
            <a:endCxn id="15" idx="3"/>
          </p:cNvCxnSpPr>
          <p:nvPr/>
        </p:nvCxnSpPr>
        <p:spPr>
          <a:xfrm flipV="1">
            <a:off x="1249970" y="4017168"/>
            <a:ext cx="555304" cy="3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197CB50E-6D6C-0DB2-654B-BF12C8397247}"/>
              </a:ext>
            </a:extLst>
          </p:cNvPr>
          <p:cNvPicPr>
            <a:picLocks noChangeAspect="1"/>
          </p:cNvPicPr>
          <p:nvPr/>
        </p:nvPicPr>
        <p:blipFill>
          <a:blip r:embed="rId2"/>
          <a:stretch>
            <a:fillRect/>
          </a:stretch>
        </p:blipFill>
        <p:spPr>
          <a:xfrm>
            <a:off x="3547131" y="2940374"/>
            <a:ext cx="807381" cy="612264"/>
          </a:xfrm>
          <a:prstGeom prst="rect">
            <a:avLst/>
          </a:prstGeom>
        </p:spPr>
      </p:pic>
      <p:pic>
        <p:nvPicPr>
          <p:cNvPr id="22" name="Picture 21">
            <a:extLst>
              <a:ext uri="{FF2B5EF4-FFF2-40B4-BE49-F238E27FC236}">
                <a16:creationId xmlns:a16="http://schemas.microsoft.com/office/drawing/2014/main" id="{F0DBFA30-C715-CDD1-88DC-C6BA3C24DCD1}"/>
              </a:ext>
            </a:extLst>
          </p:cNvPr>
          <p:cNvPicPr>
            <a:picLocks noChangeAspect="1"/>
          </p:cNvPicPr>
          <p:nvPr/>
        </p:nvPicPr>
        <p:blipFill>
          <a:blip r:embed="rId3"/>
          <a:stretch>
            <a:fillRect/>
          </a:stretch>
        </p:blipFill>
        <p:spPr>
          <a:xfrm>
            <a:off x="3583640" y="3769138"/>
            <a:ext cx="770872" cy="539610"/>
          </a:xfrm>
          <a:prstGeom prst="rect">
            <a:avLst/>
          </a:prstGeom>
        </p:spPr>
      </p:pic>
      <p:pic>
        <p:nvPicPr>
          <p:cNvPr id="24" name="Picture 23">
            <a:extLst>
              <a:ext uri="{FF2B5EF4-FFF2-40B4-BE49-F238E27FC236}">
                <a16:creationId xmlns:a16="http://schemas.microsoft.com/office/drawing/2014/main" id="{32667402-5C4B-B1E5-84E8-3306F88D798B}"/>
              </a:ext>
            </a:extLst>
          </p:cNvPr>
          <p:cNvPicPr>
            <a:picLocks noChangeAspect="1"/>
          </p:cNvPicPr>
          <p:nvPr/>
        </p:nvPicPr>
        <p:blipFill>
          <a:blip r:embed="rId4"/>
          <a:stretch>
            <a:fillRect/>
          </a:stretch>
        </p:blipFill>
        <p:spPr>
          <a:xfrm>
            <a:off x="3646373" y="4506917"/>
            <a:ext cx="645405" cy="408710"/>
          </a:xfrm>
          <a:prstGeom prst="rect">
            <a:avLst/>
          </a:prstGeom>
        </p:spPr>
      </p:pic>
      <p:cxnSp>
        <p:nvCxnSpPr>
          <p:cNvPr id="25" name="Straight Arrow Connector 24">
            <a:extLst>
              <a:ext uri="{FF2B5EF4-FFF2-40B4-BE49-F238E27FC236}">
                <a16:creationId xmlns:a16="http://schemas.microsoft.com/office/drawing/2014/main" id="{FB98059C-B461-CC08-3E39-88A66DC7BFF5}"/>
              </a:ext>
            </a:extLst>
          </p:cNvPr>
          <p:cNvCxnSpPr>
            <a:cxnSpLocks/>
            <a:stCxn id="15" idx="1"/>
          </p:cNvCxnSpPr>
          <p:nvPr/>
        </p:nvCxnSpPr>
        <p:spPr>
          <a:xfrm>
            <a:off x="2998469" y="4017168"/>
            <a:ext cx="5851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6ADABBB0-1AE9-D12B-0543-33D280EDA791}"/>
              </a:ext>
            </a:extLst>
          </p:cNvPr>
          <p:cNvSpPr txBox="1"/>
          <p:nvPr/>
        </p:nvSpPr>
        <p:spPr>
          <a:xfrm>
            <a:off x="1701282" y="3447429"/>
            <a:ext cx="1439175" cy="261610"/>
          </a:xfrm>
          <a:prstGeom prst="rect">
            <a:avLst/>
          </a:prstGeom>
          <a:noFill/>
        </p:spPr>
        <p:txBody>
          <a:bodyPr wrap="square">
            <a:spAutoFit/>
          </a:bodyPr>
          <a:lstStyle/>
          <a:p>
            <a:pPr algn="ctr"/>
            <a:r>
              <a:rPr lang="en-US" sz="1050" dirty="0"/>
              <a:t>Deployed Model</a:t>
            </a:r>
          </a:p>
        </p:txBody>
      </p:sp>
      <p:sp>
        <p:nvSpPr>
          <p:cNvPr id="18" name="TextBox 17">
            <a:extLst>
              <a:ext uri="{FF2B5EF4-FFF2-40B4-BE49-F238E27FC236}">
                <a16:creationId xmlns:a16="http://schemas.microsoft.com/office/drawing/2014/main" id="{DCBF1752-47B5-AFB7-D60C-A0A8F555D556}"/>
              </a:ext>
            </a:extLst>
          </p:cNvPr>
          <p:cNvSpPr txBox="1"/>
          <p:nvPr/>
        </p:nvSpPr>
        <p:spPr>
          <a:xfrm>
            <a:off x="1348789" y="3971229"/>
            <a:ext cx="346266" cy="246221"/>
          </a:xfrm>
          <a:prstGeom prst="rect">
            <a:avLst/>
          </a:prstGeom>
          <a:noFill/>
        </p:spPr>
        <p:txBody>
          <a:bodyPr wrap="square">
            <a:spAutoFit/>
          </a:bodyPr>
          <a:lstStyle/>
          <a:p>
            <a:pPr algn="ctr"/>
            <a:r>
              <a:rPr lang="en-US" sz="1000" dirty="0"/>
              <a:t>$5</a:t>
            </a:r>
          </a:p>
        </p:txBody>
      </p:sp>
      <p:pic>
        <p:nvPicPr>
          <p:cNvPr id="19" name="Picture 18">
            <a:extLst>
              <a:ext uri="{FF2B5EF4-FFF2-40B4-BE49-F238E27FC236}">
                <a16:creationId xmlns:a16="http://schemas.microsoft.com/office/drawing/2014/main" id="{DFD86A7F-A961-CA60-4653-F31458718B54}"/>
              </a:ext>
            </a:extLst>
          </p:cNvPr>
          <p:cNvPicPr>
            <a:picLocks noChangeAspect="1"/>
          </p:cNvPicPr>
          <p:nvPr/>
        </p:nvPicPr>
        <p:blipFill>
          <a:blip r:embed="rId6"/>
          <a:srcRect l="3240"/>
          <a:stretch>
            <a:fillRect/>
          </a:stretch>
        </p:blipFill>
        <p:spPr>
          <a:xfrm rot="10800000">
            <a:off x="6554094" y="3683921"/>
            <a:ext cx="1116957" cy="663976"/>
          </a:xfrm>
          <a:prstGeom prst="rect">
            <a:avLst/>
          </a:prstGeom>
        </p:spPr>
      </p:pic>
      <p:sp>
        <p:nvSpPr>
          <p:cNvPr id="21" name="TextBox 20">
            <a:extLst>
              <a:ext uri="{FF2B5EF4-FFF2-40B4-BE49-F238E27FC236}">
                <a16:creationId xmlns:a16="http://schemas.microsoft.com/office/drawing/2014/main" id="{8B6E98B4-57F7-9FC8-2FC9-35D147AB4F18}"/>
              </a:ext>
            </a:extLst>
          </p:cNvPr>
          <p:cNvSpPr txBox="1"/>
          <p:nvPr/>
        </p:nvSpPr>
        <p:spPr>
          <a:xfrm>
            <a:off x="6802567" y="3462818"/>
            <a:ext cx="620009" cy="246221"/>
          </a:xfrm>
          <a:prstGeom prst="rect">
            <a:avLst/>
          </a:prstGeom>
          <a:noFill/>
        </p:spPr>
        <p:txBody>
          <a:bodyPr wrap="square">
            <a:spAutoFit/>
          </a:bodyPr>
          <a:lstStyle/>
          <a:p>
            <a:pPr algn="ctr"/>
            <a:r>
              <a:rPr lang="en-US" sz="1000" dirty="0"/>
              <a:t>Model</a:t>
            </a:r>
          </a:p>
        </p:txBody>
      </p:sp>
      <p:cxnSp>
        <p:nvCxnSpPr>
          <p:cNvPr id="26" name="Straight Arrow Connector 25">
            <a:extLst>
              <a:ext uri="{FF2B5EF4-FFF2-40B4-BE49-F238E27FC236}">
                <a16:creationId xmlns:a16="http://schemas.microsoft.com/office/drawing/2014/main" id="{0C476111-19DA-62D4-69B2-7AC1A27A00B0}"/>
              </a:ext>
            </a:extLst>
          </p:cNvPr>
          <p:cNvCxnSpPr>
            <a:cxnSpLocks/>
            <a:endCxn id="19" idx="3"/>
          </p:cNvCxnSpPr>
          <p:nvPr/>
        </p:nvCxnSpPr>
        <p:spPr>
          <a:xfrm>
            <a:off x="5883995" y="4015909"/>
            <a:ext cx="6700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4A783F12-0508-095B-4C06-DF7C148C8DA5}"/>
              </a:ext>
            </a:extLst>
          </p:cNvPr>
          <p:cNvPicPr>
            <a:picLocks noChangeAspect="1"/>
          </p:cNvPicPr>
          <p:nvPr/>
        </p:nvPicPr>
        <p:blipFill>
          <a:blip r:embed="rId7"/>
          <a:stretch>
            <a:fillRect/>
          </a:stretch>
        </p:blipFill>
        <p:spPr>
          <a:xfrm>
            <a:off x="8544694" y="3769188"/>
            <a:ext cx="713679" cy="560216"/>
          </a:xfrm>
          <a:prstGeom prst="rect">
            <a:avLst/>
          </a:prstGeom>
        </p:spPr>
      </p:pic>
      <p:pic>
        <p:nvPicPr>
          <p:cNvPr id="40" name="Picture 39">
            <a:extLst>
              <a:ext uri="{FF2B5EF4-FFF2-40B4-BE49-F238E27FC236}">
                <a16:creationId xmlns:a16="http://schemas.microsoft.com/office/drawing/2014/main" id="{FE4A4D17-0FC9-6EFD-CEB8-5CDE54A5AC01}"/>
              </a:ext>
            </a:extLst>
          </p:cNvPr>
          <p:cNvPicPr>
            <a:picLocks noChangeAspect="1"/>
          </p:cNvPicPr>
          <p:nvPr/>
        </p:nvPicPr>
        <p:blipFill>
          <a:blip r:embed="rId8"/>
          <a:stretch>
            <a:fillRect/>
          </a:stretch>
        </p:blipFill>
        <p:spPr>
          <a:xfrm>
            <a:off x="8482439" y="4918658"/>
            <a:ext cx="780398" cy="574774"/>
          </a:xfrm>
          <a:prstGeom prst="rect">
            <a:avLst/>
          </a:prstGeom>
        </p:spPr>
      </p:pic>
      <p:pic>
        <p:nvPicPr>
          <p:cNvPr id="42" name="Picture 41">
            <a:extLst>
              <a:ext uri="{FF2B5EF4-FFF2-40B4-BE49-F238E27FC236}">
                <a16:creationId xmlns:a16="http://schemas.microsoft.com/office/drawing/2014/main" id="{22779FE5-59CD-E41F-DAE1-A69A3540392F}"/>
              </a:ext>
            </a:extLst>
          </p:cNvPr>
          <p:cNvPicPr>
            <a:picLocks noChangeAspect="1"/>
          </p:cNvPicPr>
          <p:nvPr/>
        </p:nvPicPr>
        <p:blipFill>
          <a:blip r:embed="rId9"/>
          <a:stretch>
            <a:fillRect/>
          </a:stretch>
        </p:blipFill>
        <p:spPr>
          <a:xfrm>
            <a:off x="8482439" y="2470019"/>
            <a:ext cx="902181" cy="701070"/>
          </a:xfrm>
          <a:prstGeom prst="rect">
            <a:avLst/>
          </a:prstGeom>
        </p:spPr>
      </p:pic>
      <p:cxnSp>
        <p:nvCxnSpPr>
          <p:cNvPr id="43" name="Straight Arrow Connector 42">
            <a:extLst>
              <a:ext uri="{FF2B5EF4-FFF2-40B4-BE49-F238E27FC236}">
                <a16:creationId xmlns:a16="http://schemas.microsoft.com/office/drawing/2014/main" id="{A0E3C225-0D8D-2368-0696-EBC6B94A9604}"/>
              </a:ext>
            </a:extLst>
          </p:cNvPr>
          <p:cNvCxnSpPr>
            <a:cxnSpLocks/>
            <a:stCxn id="19" idx="1"/>
          </p:cNvCxnSpPr>
          <p:nvPr/>
        </p:nvCxnSpPr>
        <p:spPr>
          <a:xfrm>
            <a:off x="7671051" y="4015909"/>
            <a:ext cx="8521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C819C951-2A14-8503-BFA3-442622DB194A}"/>
              </a:ext>
            </a:extLst>
          </p:cNvPr>
          <p:cNvSpPr txBox="1"/>
          <p:nvPr/>
        </p:nvSpPr>
        <p:spPr>
          <a:xfrm>
            <a:off x="5775275" y="3754299"/>
            <a:ext cx="819986" cy="523220"/>
          </a:xfrm>
          <a:prstGeom prst="rect">
            <a:avLst/>
          </a:prstGeom>
          <a:noFill/>
        </p:spPr>
        <p:txBody>
          <a:bodyPr wrap="square">
            <a:spAutoFit/>
          </a:bodyPr>
          <a:lstStyle/>
          <a:p>
            <a:pPr algn="ctr"/>
            <a:r>
              <a:rPr lang="en-US" sz="700" dirty="0"/>
              <a:t>Train substitute</a:t>
            </a:r>
          </a:p>
          <a:p>
            <a:pPr algn="ctr"/>
            <a:r>
              <a:rPr lang="en-US" sz="700" dirty="0"/>
              <a:t>Model on</a:t>
            </a:r>
          </a:p>
          <a:p>
            <a:pPr algn="ctr"/>
            <a:r>
              <a:rPr lang="en-US" sz="700" dirty="0"/>
              <a:t>watermarked</a:t>
            </a:r>
          </a:p>
          <a:p>
            <a:pPr algn="ctr"/>
            <a:r>
              <a:rPr lang="en-US" sz="700" dirty="0"/>
              <a:t>dataset</a:t>
            </a:r>
          </a:p>
        </p:txBody>
      </p:sp>
      <p:sp>
        <p:nvSpPr>
          <p:cNvPr id="52" name="TextBox 51">
            <a:extLst>
              <a:ext uri="{FF2B5EF4-FFF2-40B4-BE49-F238E27FC236}">
                <a16:creationId xmlns:a16="http://schemas.microsoft.com/office/drawing/2014/main" id="{48415BB4-75C4-4C3A-3142-DDD97E802EE5}"/>
              </a:ext>
            </a:extLst>
          </p:cNvPr>
          <p:cNvSpPr txBox="1"/>
          <p:nvPr/>
        </p:nvSpPr>
        <p:spPr>
          <a:xfrm>
            <a:off x="7686546" y="3866560"/>
            <a:ext cx="780398" cy="369332"/>
          </a:xfrm>
          <a:prstGeom prst="rect">
            <a:avLst/>
          </a:prstGeom>
          <a:noFill/>
        </p:spPr>
        <p:txBody>
          <a:bodyPr wrap="square">
            <a:spAutoFit/>
          </a:bodyPr>
          <a:lstStyle/>
          <a:p>
            <a:pPr algn="ctr"/>
            <a:r>
              <a:rPr lang="en-US" sz="600" dirty="0"/>
              <a:t>Generates</a:t>
            </a:r>
          </a:p>
          <a:p>
            <a:pPr algn="ctr"/>
            <a:r>
              <a:rPr lang="en-US" sz="600" dirty="0"/>
              <a:t>Watermarked</a:t>
            </a:r>
          </a:p>
          <a:p>
            <a:pPr algn="ctr"/>
            <a:r>
              <a:rPr lang="en-US" sz="600" dirty="0"/>
              <a:t>Images</a:t>
            </a:r>
          </a:p>
        </p:txBody>
      </p:sp>
      <p:cxnSp>
        <p:nvCxnSpPr>
          <p:cNvPr id="11" name="Straight Arrow Connector 10">
            <a:extLst>
              <a:ext uri="{FF2B5EF4-FFF2-40B4-BE49-F238E27FC236}">
                <a16:creationId xmlns:a16="http://schemas.microsoft.com/office/drawing/2014/main" id="{65441402-7BA4-F660-7730-888B9E47B805}"/>
              </a:ext>
            </a:extLst>
          </p:cNvPr>
          <p:cNvCxnSpPr>
            <a:cxnSpLocks/>
          </p:cNvCxnSpPr>
          <p:nvPr/>
        </p:nvCxnSpPr>
        <p:spPr>
          <a:xfrm>
            <a:off x="4396324" y="4030016"/>
            <a:ext cx="588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CEDD2DD-5777-B71E-91ED-A80E0DBCA5BD}"/>
              </a:ext>
            </a:extLst>
          </p:cNvPr>
          <p:cNvSpPr txBox="1"/>
          <p:nvPr/>
        </p:nvSpPr>
        <p:spPr>
          <a:xfrm>
            <a:off x="4239511" y="3857283"/>
            <a:ext cx="902129" cy="200055"/>
          </a:xfrm>
          <a:prstGeom prst="rect">
            <a:avLst/>
          </a:prstGeom>
          <a:noFill/>
        </p:spPr>
        <p:txBody>
          <a:bodyPr wrap="square">
            <a:spAutoFit/>
          </a:bodyPr>
          <a:lstStyle/>
          <a:p>
            <a:pPr algn="ctr"/>
            <a:r>
              <a:rPr lang="en-US" sz="700" dirty="0"/>
              <a:t>Watermark</a:t>
            </a:r>
          </a:p>
        </p:txBody>
      </p:sp>
      <p:sp>
        <p:nvSpPr>
          <p:cNvPr id="34" name="TextBox 33">
            <a:extLst>
              <a:ext uri="{FF2B5EF4-FFF2-40B4-BE49-F238E27FC236}">
                <a16:creationId xmlns:a16="http://schemas.microsoft.com/office/drawing/2014/main" id="{86C827B0-E952-3B13-3A26-AC9CC962E286}"/>
              </a:ext>
            </a:extLst>
          </p:cNvPr>
          <p:cNvSpPr txBox="1"/>
          <p:nvPr/>
        </p:nvSpPr>
        <p:spPr>
          <a:xfrm>
            <a:off x="2864428" y="3820394"/>
            <a:ext cx="819986" cy="230832"/>
          </a:xfrm>
          <a:prstGeom prst="rect">
            <a:avLst/>
          </a:prstGeom>
          <a:noFill/>
        </p:spPr>
        <p:txBody>
          <a:bodyPr wrap="square">
            <a:spAutoFit/>
          </a:bodyPr>
          <a:lstStyle/>
          <a:p>
            <a:pPr algn="ctr"/>
            <a:r>
              <a:rPr lang="en-US" sz="900" dirty="0"/>
              <a:t>Generate</a:t>
            </a:r>
          </a:p>
        </p:txBody>
      </p:sp>
      <p:sp>
        <p:nvSpPr>
          <p:cNvPr id="6" name="Title 1">
            <a:extLst>
              <a:ext uri="{FF2B5EF4-FFF2-40B4-BE49-F238E27FC236}">
                <a16:creationId xmlns:a16="http://schemas.microsoft.com/office/drawing/2014/main" id="{F9891F01-A978-0F37-E7F9-E52FC8D7B665}"/>
              </a:ext>
            </a:extLst>
          </p:cNvPr>
          <p:cNvSpPr>
            <a:spLocks noGrp="1"/>
          </p:cNvSpPr>
          <p:nvPr>
            <p:ph type="title"/>
          </p:nvPr>
        </p:nvSpPr>
        <p:spPr>
          <a:xfrm>
            <a:off x="838200" y="363825"/>
            <a:ext cx="10515600" cy="1325563"/>
          </a:xfrm>
        </p:spPr>
        <p:txBody>
          <a:bodyPr>
            <a:normAutofit/>
          </a:bodyPr>
          <a:lstStyle/>
          <a:p>
            <a:r>
              <a:rPr lang="en-US" sz="4000" dirty="0"/>
              <a:t>Understanding Model Theft Using an Image Model</a:t>
            </a:r>
          </a:p>
        </p:txBody>
      </p:sp>
      <p:pic>
        <p:nvPicPr>
          <p:cNvPr id="2" name="Picture 1">
            <a:extLst>
              <a:ext uri="{FF2B5EF4-FFF2-40B4-BE49-F238E27FC236}">
                <a16:creationId xmlns:a16="http://schemas.microsoft.com/office/drawing/2014/main" id="{8E4D4D71-2890-3BF2-46F8-652A9062588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27696" y="2886024"/>
            <a:ext cx="692210" cy="692210"/>
          </a:xfrm>
          <a:prstGeom prst="rect">
            <a:avLst/>
          </a:prstGeom>
        </p:spPr>
      </p:pic>
      <p:pic>
        <p:nvPicPr>
          <p:cNvPr id="4" name="Picture 3">
            <a:extLst>
              <a:ext uri="{FF2B5EF4-FFF2-40B4-BE49-F238E27FC236}">
                <a16:creationId xmlns:a16="http://schemas.microsoft.com/office/drawing/2014/main" id="{11E59D70-BD52-BB1E-8B02-08241467859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39361" y="3655687"/>
            <a:ext cx="692210" cy="692210"/>
          </a:xfrm>
          <a:prstGeom prst="rect">
            <a:avLst/>
          </a:prstGeom>
        </p:spPr>
      </p:pic>
      <p:pic>
        <p:nvPicPr>
          <p:cNvPr id="5" name="Picture 4">
            <a:extLst>
              <a:ext uri="{FF2B5EF4-FFF2-40B4-BE49-F238E27FC236}">
                <a16:creationId xmlns:a16="http://schemas.microsoft.com/office/drawing/2014/main" id="{F5A5F031-7C9D-4754-D867-63E14826CB0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62764" y="4387707"/>
            <a:ext cx="692210" cy="692210"/>
          </a:xfrm>
          <a:prstGeom prst="rect">
            <a:avLst/>
          </a:prstGeom>
        </p:spPr>
      </p:pic>
      <p:pic>
        <p:nvPicPr>
          <p:cNvPr id="7" name="Picture 6">
            <a:extLst>
              <a:ext uri="{FF2B5EF4-FFF2-40B4-BE49-F238E27FC236}">
                <a16:creationId xmlns:a16="http://schemas.microsoft.com/office/drawing/2014/main" id="{5B229B78-AAFE-2BD3-C35D-86148C870FA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41830" y="2496769"/>
            <a:ext cx="692210" cy="692210"/>
          </a:xfrm>
          <a:prstGeom prst="rect">
            <a:avLst/>
          </a:prstGeom>
        </p:spPr>
      </p:pic>
      <p:pic>
        <p:nvPicPr>
          <p:cNvPr id="27" name="Picture 26">
            <a:extLst>
              <a:ext uri="{FF2B5EF4-FFF2-40B4-BE49-F238E27FC236}">
                <a16:creationId xmlns:a16="http://schemas.microsoft.com/office/drawing/2014/main" id="{4EB5E960-16C2-C010-A167-926197EF818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593802" y="3692838"/>
            <a:ext cx="692210" cy="692210"/>
          </a:xfrm>
          <a:prstGeom prst="rect">
            <a:avLst/>
          </a:prstGeom>
        </p:spPr>
      </p:pic>
      <p:pic>
        <p:nvPicPr>
          <p:cNvPr id="30" name="Picture 29">
            <a:extLst>
              <a:ext uri="{FF2B5EF4-FFF2-40B4-BE49-F238E27FC236}">
                <a16:creationId xmlns:a16="http://schemas.microsoft.com/office/drawing/2014/main" id="{AB865056-DFC2-99BA-1AF8-32FB076E59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544694" y="4859940"/>
            <a:ext cx="692210" cy="692210"/>
          </a:xfrm>
          <a:prstGeom prst="rect">
            <a:avLst/>
          </a:prstGeom>
        </p:spPr>
      </p:pic>
    </p:spTree>
    <p:extLst>
      <p:ext uri="{BB962C8B-B14F-4D97-AF65-F5344CB8AC3E}">
        <p14:creationId xmlns:p14="http://schemas.microsoft.com/office/powerpoint/2010/main" val="1365642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DA3E9-B435-2936-FBD1-4AD4CBEEF200}"/>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A11D30B2-3EED-28D9-6517-4BF496C8828B}"/>
              </a:ext>
            </a:extLst>
          </p:cNvPr>
          <p:cNvPicPr>
            <a:picLocks noChangeAspect="1"/>
          </p:cNvPicPr>
          <p:nvPr/>
        </p:nvPicPr>
        <p:blipFill>
          <a:blip r:embed="rId2"/>
          <a:stretch>
            <a:fillRect/>
          </a:stretch>
        </p:blipFill>
        <p:spPr>
          <a:xfrm>
            <a:off x="4963522" y="2931447"/>
            <a:ext cx="807381" cy="612264"/>
          </a:xfrm>
          <a:prstGeom prst="rect">
            <a:avLst/>
          </a:prstGeom>
        </p:spPr>
      </p:pic>
      <p:pic>
        <p:nvPicPr>
          <p:cNvPr id="36" name="Picture 35">
            <a:extLst>
              <a:ext uri="{FF2B5EF4-FFF2-40B4-BE49-F238E27FC236}">
                <a16:creationId xmlns:a16="http://schemas.microsoft.com/office/drawing/2014/main" id="{C11CFE39-0723-F7E8-77CF-46D384B5D039}"/>
              </a:ext>
            </a:extLst>
          </p:cNvPr>
          <p:cNvPicPr>
            <a:picLocks noChangeAspect="1"/>
          </p:cNvPicPr>
          <p:nvPr/>
        </p:nvPicPr>
        <p:blipFill>
          <a:blip r:embed="rId3"/>
          <a:stretch>
            <a:fillRect/>
          </a:stretch>
        </p:blipFill>
        <p:spPr>
          <a:xfrm>
            <a:off x="5000031" y="3760211"/>
            <a:ext cx="770872" cy="539610"/>
          </a:xfrm>
          <a:prstGeom prst="rect">
            <a:avLst/>
          </a:prstGeom>
        </p:spPr>
      </p:pic>
      <p:pic>
        <p:nvPicPr>
          <p:cNvPr id="37" name="Picture 36">
            <a:extLst>
              <a:ext uri="{FF2B5EF4-FFF2-40B4-BE49-F238E27FC236}">
                <a16:creationId xmlns:a16="http://schemas.microsoft.com/office/drawing/2014/main" id="{C396FD19-F26C-D521-E267-1552B875808B}"/>
              </a:ext>
            </a:extLst>
          </p:cNvPr>
          <p:cNvPicPr>
            <a:picLocks noChangeAspect="1"/>
          </p:cNvPicPr>
          <p:nvPr/>
        </p:nvPicPr>
        <p:blipFill>
          <a:blip r:embed="rId4"/>
          <a:stretch>
            <a:fillRect/>
          </a:stretch>
        </p:blipFill>
        <p:spPr>
          <a:xfrm>
            <a:off x="5062764" y="4497990"/>
            <a:ext cx="645405" cy="408710"/>
          </a:xfrm>
          <a:prstGeom prst="rect">
            <a:avLst/>
          </a:prstGeom>
        </p:spPr>
      </p:pic>
      <p:pic>
        <p:nvPicPr>
          <p:cNvPr id="16" name="Picture 15">
            <a:extLst>
              <a:ext uri="{FF2B5EF4-FFF2-40B4-BE49-F238E27FC236}">
                <a16:creationId xmlns:a16="http://schemas.microsoft.com/office/drawing/2014/main" id="{56D12ABD-C95F-D7CB-A486-CDD879EAFBF7}"/>
              </a:ext>
            </a:extLst>
          </p:cNvPr>
          <p:cNvPicPr>
            <a:picLocks noChangeAspect="1"/>
          </p:cNvPicPr>
          <p:nvPr/>
        </p:nvPicPr>
        <p:blipFill>
          <a:blip r:embed="rId5">
            <a:extLst>
              <a:ext uri="{28A0092B-C50C-407E-A947-70E740481C1C}">
                <a14:useLocalDpi xmlns:a14="http://schemas.microsoft.com/office/drawing/2010/main" val="0"/>
              </a:ext>
            </a:extLst>
          </a:blip>
          <a:srcRect l="19851" t="18591" r="19085" b="18550"/>
          <a:stretch>
            <a:fillRect/>
          </a:stretch>
        </p:blipFill>
        <p:spPr>
          <a:xfrm>
            <a:off x="351779" y="3683921"/>
            <a:ext cx="898191" cy="667098"/>
          </a:xfrm>
          <a:prstGeom prst="rect">
            <a:avLst/>
          </a:prstGeom>
        </p:spPr>
      </p:pic>
      <p:sp>
        <p:nvSpPr>
          <p:cNvPr id="29" name="TextBox 28">
            <a:extLst>
              <a:ext uri="{FF2B5EF4-FFF2-40B4-BE49-F238E27FC236}">
                <a16:creationId xmlns:a16="http://schemas.microsoft.com/office/drawing/2014/main" id="{1A650D98-34F1-FE7B-50E4-0C2E41D21D07}"/>
              </a:ext>
            </a:extLst>
          </p:cNvPr>
          <p:cNvSpPr txBox="1"/>
          <p:nvPr/>
        </p:nvSpPr>
        <p:spPr>
          <a:xfrm>
            <a:off x="1074267" y="3808111"/>
            <a:ext cx="819986" cy="230832"/>
          </a:xfrm>
          <a:prstGeom prst="rect">
            <a:avLst/>
          </a:prstGeom>
          <a:noFill/>
        </p:spPr>
        <p:txBody>
          <a:bodyPr wrap="square">
            <a:spAutoFit/>
          </a:bodyPr>
          <a:lstStyle/>
          <a:p>
            <a:pPr algn="ctr"/>
            <a:r>
              <a:rPr lang="en-US" sz="900" dirty="0"/>
              <a:t>Use API</a:t>
            </a:r>
          </a:p>
        </p:txBody>
      </p:sp>
      <p:sp>
        <p:nvSpPr>
          <p:cNvPr id="3" name="TextBox 2">
            <a:extLst>
              <a:ext uri="{FF2B5EF4-FFF2-40B4-BE49-F238E27FC236}">
                <a16:creationId xmlns:a16="http://schemas.microsoft.com/office/drawing/2014/main" id="{A91F31BD-64AB-F8C1-F9CB-01D7509299BA}"/>
              </a:ext>
            </a:extLst>
          </p:cNvPr>
          <p:cNvSpPr txBox="1"/>
          <p:nvPr/>
        </p:nvSpPr>
        <p:spPr>
          <a:xfrm>
            <a:off x="838200" y="1364568"/>
            <a:ext cx="9245367" cy="400110"/>
          </a:xfrm>
          <a:prstGeom prst="rect">
            <a:avLst/>
          </a:prstGeom>
          <a:noFill/>
        </p:spPr>
        <p:txBody>
          <a:bodyPr wrap="square">
            <a:spAutoFit/>
          </a:bodyPr>
          <a:lstStyle/>
          <a:p>
            <a:r>
              <a:rPr lang="en-US" sz="2000" dirty="0"/>
              <a:t>The watermark can be anything</a:t>
            </a:r>
          </a:p>
        </p:txBody>
      </p:sp>
      <p:pic>
        <p:nvPicPr>
          <p:cNvPr id="15" name="Picture 14">
            <a:extLst>
              <a:ext uri="{FF2B5EF4-FFF2-40B4-BE49-F238E27FC236}">
                <a16:creationId xmlns:a16="http://schemas.microsoft.com/office/drawing/2014/main" id="{1ABAE72B-7F24-AF0E-EAD1-FBE6E6217B8E}"/>
              </a:ext>
            </a:extLst>
          </p:cNvPr>
          <p:cNvPicPr>
            <a:picLocks noChangeAspect="1"/>
          </p:cNvPicPr>
          <p:nvPr/>
        </p:nvPicPr>
        <p:blipFill>
          <a:blip r:embed="rId6"/>
          <a:srcRect l="3240"/>
          <a:stretch>
            <a:fillRect/>
          </a:stretch>
        </p:blipFill>
        <p:spPr>
          <a:xfrm rot="10800000">
            <a:off x="1805274" y="3662520"/>
            <a:ext cx="1193195" cy="709296"/>
          </a:xfrm>
          <a:prstGeom prst="rect">
            <a:avLst/>
          </a:prstGeom>
        </p:spPr>
      </p:pic>
      <p:cxnSp>
        <p:nvCxnSpPr>
          <p:cNvPr id="17" name="Straight Arrow Connector 16">
            <a:extLst>
              <a:ext uri="{FF2B5EF4-FFF2-40B4-BE49-F238E27FC236}">
                <a16:creationId xmlns:a16="http://schemas.microsoft.com/office/drawing/2014/main" id="{1AC9F7FA-1EF6-D1FB-E87B-61A16B395796}"/>
              </a:ext>
            </a:extLst>
          </p:cNvPr>
          <p:cNvCxnSpPr>
            <a:cxnSpLocks/>
            <a:stCxn id="16" idx="3"/>
            <a:endCxn id="15" idx="3"/>
          </p:cNvCxnSpPr>
          <p:nvPr/>
        </p:nvCxnSpPr>
        <p:spPr>
          <a:xfrm flipV="1">
            <a:off x="1249970" y="4017168"/>
            <a:ext cx="555304" cy="3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B2215B29-35A4-D6ED-5646-1890423807A6}"/>
              </a:ext>
            </a:extLst>
          </p:cNvPr>
          <p:cNvPicPr>
            <a:picLocks noChangeAspect="1"/>
          </p:cNvPicPr>
          <p:nvPr/>
        </p:nvPicPr>
        <p:blipFill>
          <a:blip r:embed="rId2"/>
          <a:stretch>
            <a:fillRect/>
          </a:stretch>
        </p:blipFill>
        <p:spPr>
          <a:xfrm>
            <a:off x="3547131" y="2940374"/>
            <a:ext cx="807381" cy="612264"/>
          </a:xfrm>
          <a:prstGeom prst="rect">
            <a:avLst/>
          </a:prstGeom>
        </p:spPr>
      </p:pic>
      <p:pic>
        <p:nvPicPr>
          <p:cNvPr id="22" name="Picture 21">
            <a:extLst>
              <a:ext uri="{FF2B5EF4-FFF2-40B4-BE49-F238E27FC236}">
                <a16:creationId xmlns:a16="http://schemas.microsoft.com/office/drawing/2014/main" id="{ED2E4923-4000-0D69-A189-352F0D1AEBF5}"/>
              </a:ext>
            </a:extLst>
          </p:cNvPr>
          <p:cNvPicPr>
            <a:picLocks noChangeAspect="1"/>
          </p:cNvPicPr>
          <p:nvPr/>
        </p:nvPicPr>
        <p:blipFill>
          <a:blip r:embed="rId3"/>
          <a:stretch>
            <a:fillRect/>
          </a:stretch>
        </p:blipFill>
        <p:spPr>
          <a:xfrm>
            <a:off x="3583640" y="3769138"/>
            <a:ext cx="770872" cy="539610"/>
          </a:xfrm>
          <a:prstGeom prst="rect">
            <a:avLst/>
          </a:prstGeom>
        </p:spPr>
      </p:pic>
      <p:pic>
        <p:nvPicPr>
          <p:cNvPr id="24" name="Picture 23">
            <a:extLst>
              <a:ext uri="{FF2B5EF4-FFF2-40B4-BE49-F238E27FC236}">
                <a16:creationId xmlns:a16="http://schemas.microsoft.com/office/drawing/2014/main" id="{A97DB61F-B046-13E6-60D0-B3A1C0840380}"/>
              </a:ext>
            </a:extLst>
          </p:cNvPr>
          <p:cNvPicPr>
            <a:picLocks noChangeAspect="1"/>
          </p:cNvPicPr>
          <p:nvPr/>
        </p:nvPicPr>
        <p:blipFill>
          <a:blip r:embed="rId4"/>
          <a:stretch>
            <a:fillRect/>
          </a:stretch>
        </p:blipFill>
        <p:spPr>
          <a:xfrm>
            <a:off x="3646373" y="4506917"/>
            <a:ext cx="645405" cy="408710"/>
          </a:xfrm>
          <a:prstGeom prst="rect">
            <a:avLst/>
          </a:prstGeom>
        </p:spPr>
      </p:pic>
      <p:cxnSp>
        <p:nvCxnSpPr>
          <p:cNvPr id="25" name="Straight Arrow Connector 24">
            <a:extLst>
              <a:ext uri="{FF2B5EF4-FFF2-40B4-BE49-F238E27FC236}">
                <a16:creationId xmlns:a16="http://schemas.microsoft.com/office/drawing/2014/main" id="{CB6292A9-353F-C27C-48C3-EAD1E26CB519}"/>
              </a:ext>
            </a:extLst>
          </p:cNvPr>
          <p:cNvCxnSpPr>
            <a:cxnSpLocks/>
            <a:stCxn id="15" idx="1"/>
          </p:cNvCxnSpPr>
          <p:nvPr/>
        </p:nvCxnSpPr>
        <p:spPr>
          <a:xfrm>
            <a:off x="2998469" y="4017168"/>
            <a:ext cx="5851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3941CA69-C57E-B676-67C7-C5014C3E41E7}"/>
              </a:ext>
            </a:extLst>
          </p:cNvPr>
          <p:cNvSpPr txBox="1"/>
          <p:nvPr/>
        </p:nvSpPr>
        <p:spPr>
          <a:xfrm>
            <a:off x="1701282" y="3447429"/>
            <a:ext cx="1439175" cy="261610"/>
          </a:xfrm>
          <a:prstGeom prst="rect">
            <a:avLst/>
          </a:prstGeom>
          <a:noFill/>
        </p:spPr>
        <p:txBody>
          <a:bodyPr wrap="square">
            <a:spAutoFit/>
          </a:bodyPr>
          <a:lstStyle/>
          <a:p>
            <a:pPr algn="ctr"/>
            <a:r>
              <a:rPr lang="en-US" sz="1050" dirty="0"/>
              <a:t>Deployed Model</a:t>
            </a:r>
          </a:p>
        </p:txBody>
      </p:sp>
      <p:sp>
        <p:nvSpPr>
          <p:cNvPr id="18" name="TextBox 17">
            <a:extLst>
              <a:ext uri="{FF2B5EF4-FFF2-40B4-BE49-F238E27FC236}">
                <a16:creationId xmlns:a16="http://schemas.microsoft.com/office/drawing/2014/main" id="{09610501-6A65-9F48-C35A-3CE2316609C0}"/>
              </a:ext>
            </a:extLst>
          </p:cNvPr>
          <p:cNvSpPr txBox="1"/>
          <p:nvPr/>
        </p:nvSpPr>
        <p:spPr>
          <a:xfrm>
            <a:off x="1348789" y="3971229"/>
            <a:ext cx="346266" cy="246221"/>
          </a:xfrm>
          <a:prstGeom prst="rect">
            <a:avLst/>
          </a:prstGeom>
          <a:noFill/>
        </p:spPr>
        <p:txBody>
          <a:bodyPr wrap="square">
            <a:spAutoFit/>
          </a:bodyPr>
          <a:lstStyle/>
          <a:p>
            <a:pPr algn="ctr"/>
            <a:r>
              <a:rPr lang="en-US" sz="1000" dirty="0"/>
              <a:t>$5</a:t>
            </a:r>
          </a:p>
        </p:txBody>
      </p:sp>
      <p:pic>
        <p:nvPicPr>
          <p:cNvPr id="19" name="Picture 18">
            <a:extLst>
              <a:ext uri="{FF2B5EF4-FFF2-40B4-BE49-F238E27FC236}">
                <a16:creationId xmlns:a16="http://schemas.microsoft.com/office/drawing/2014/main" id="{061E9EBF-97AB-A59E-8ABE-D0584EC1C668}"/>
              </a:ext>
            </a:extLst>
          </p:cNvPr>
          <p:cNvPicPr>
            <a:picLocks noChangeAspect="1"/>
          </p:cNvPicPr>
          <p:nvPr/>
        </p:nvPicPr>
        <p:blipFill>
          <a:blip r:embed="rId6"/>
          <a:srcRect l="3240"/>
          <a:stretch>
            <a:fillRect/>
          </a:stretch>
        </p:blipFill>
        <p:spPr>
          <a:xfrm rot="10800000">
            <a:off x="8050883" y="3683921"/>
            <a:ext cx="1116957" cy="663976"/>
          </a:xfrm>
          <a:prstGeom prst="rect">
            <a:avLst/>
          </a:prstGeom>
        </p:spPr>
      </p:pic>
      <p:sp>
        <p:nvSpPr>
          <p:cNvPr id="21" name="TextBox 20">
            <a:extLst>
              <a:ext uri="{FF2B5EF4-FFF2-40B4-BE49-F238E27FC236}">
                <a16:creationId xmlns:a16="http://schemas.microsoft.com/office/drawing/2014/main" id="{C2E6425E-6237-1A2F-9621-FEC894942C91}"/>
              </a:ext>
            </a:extLst>
          </p:cNvPr>
          <p:cNvSpPr txBox="1"/>
          <p:nvPr/>
        </p:nvSpPr>
        <p:spPr>
          <a:xfrm>
            <a:off x="8299356" y="3462818"/>
            <a:ext cx="620009" cy="246221"/>
          </a:xfrm>
          <a:prstGeom prst="rect">
            <a:avLst/>
          </a:prstGeom>
          <a:noFill/>
        </p:spPr>
        <p:txBody>
          <a:bodyPr wrap="square">
            <a:spAutoFit/>
          </a:bodyPr>
          <a:lstStyle/>
          <a:p>
            <a:pPr algn="ctr"/>
            <a:r>
              <a:rPr lang="en-US" sz="1000" dirty="0"/>
              <a:t>Model</a:t>
            </a:r>
          </a:p>
        </p:txBody>
      </p:sp>
      <p:cxnSp>
        <p:nvCxnSpPr>
          <p:cNvPr id="26" name="Straight Arrow Connector 25">
            <a:extLst>
              <a:ext uri="{FF2B5EF4-FFF2-40B4-BE49-F238E27FC236}">
                <a16:creationId xmlns:a16="http://schemas.microsoft.com/office/drawing/2014/main" id="{0A76DA20-A4E9-1084-2A5F-AEA0C563D187}"/>
              </a:ext>
            </a:extLst>
          </p:cNvPr>
          <p:cNvCxnSpPr>
            <a:cxnSpLocks/>
            <a:endCxn id="19" idx="3"/>
          </p:cNvCxnSpPr>
          <p:nvPr/>
        </p:nvCxnSpPr>
        <p:spPr>
          <a:xfrm>
            <a:off x="7380784" y="4015909"/>
            <a:ext cx="6700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643085BD-558F-5FBD-476F-38F70B457379}"/>
              </a:ext>
            </a:extLst>
          </p:cNvPr>
          <p:cNvPicPr>
            <a:picLocks noChangeAspect="1"/>
          </p:cNvPicPr>
          <p:nvPr/>
        </p:nvPicPr>
        <p:blipFill>
          <a:blip r:embed="rId7"/>
          <a:stretch>
            <a:fillRect/>
          </a:stretch>
        </p:blipFill>
        <p:spPr>
          <a:xfrm>
            <a:off x="10041483" y="3769188"/>
            <a:ext cx="713679" cy="560216"/>
          </a:xfrm>
          <a:prstGeom prst="rect">
            <a:avLst/>
          </a:prstGeom>
        </p:spPr>
      </p:pic>
      <p:pic>
        <p:nvPicPr>
          <p:cNvPr id="40" name="Picture 39">
            <a:extLst>
              <a:ext uri="{FF2B5EF4-FFF2-40B4-BE49-F238E27FC236}">
                <a16:creationId xmlns:a16="http://schemas.microsoft.com/office/drawing/2014/main" id="{C67E1937-CF4B-2752-A6D5-12D3F7F2618B}"/>
              </a:ext>
            </a:extLst>
          </p:cNvPr>
          <p:cNvPicPr>
            <a:picLocks noChangeAspect="1"/>
          </p:cNvPicPr>
          <p:nvPr/>
        </p:nvPicPr>
        <p:blipFill>
          <a:blip r:embed="rId8"/>
          <a:stretch>
            <a:fillRect/>
          </a:stretch>
        </p:blipFill>
        <p:spPr>
          <a:xfrm>
            <a:off x="9979228" y="4918658"/>
            <a:ext cx="780398" cy="574774"/>
          </a:xfrm>
          <a:prstGeom prst="rect">
            <a:avLst/>
          </a:prstGeom>
        </p:spPr>
      </p:pic>
      <p:pic>
        <p:nvPicPr>
          <p:cNvPr id="42" name="Picture 41">
            <a:extLst>
              <a:ext uri="{FF2B5EF4-FFF2-40B4-BE49-F238E27FC236}">
                <a16:creationId xmlns:a16="http://schemas.microsoft.com/office/drawing/2014/main" id="{A65CD720-1FAC-437C-6313-0D3BDDA7296E}"/>
              </a:ext>
            </a:extLst>
          </p:cNvPr>
          <p:cNvPicPr>
            <a:picLocks noChangeAspect="1"/>
          </p:cNvPicPr>
          <p:nvPr/>
        </p:nvPicPr>
        <p:blipFill>
          <a:blip r:embed="rId9"/>
          <a:stretch>
            <a:fillRect/>
          </a:stretch>
        </p:blipFill>
        <p:spPr>
          <a:xfrm>
            <a:off x="9979228" y="2470019"/>
            <a:ext cx="902181" cy="701070"/>
          </a:xfrm>
          <a:prstGeom prst="rect">
            <a:avLst/>
          </a:prstGeom>
        </p:spPr>
      </p:pic>
      <p:cxnSp>
        <p:nvCxnSpPr>
          <p:cNvPr id="43" name="Straight Arrow Connector 42">
            <a:extLst>
              <a:ext uri="{FF2B5EF4-FFF2-40B4-BE49-F238E27FC236}">
                <a16:creationId xmlns:a16="http://schemas.microsoft.com/office/drawing/2014/main" id="{9971A0DF-C47C-9178-7953-603B1B2DB956}"/>
              </a:ext>
            </a:extLst>
          </p:cNvPr>
          <p:cNvCxnSpPr>
            <a:cxnSpLocks/>
            <a:stCxn id="19" idx="1"/>
          </p:cNvCxnSpPr>
          <p:nvPr/>
        </p:nvCxnSpPr>
        <p:spPr>
          <a:xfrm>
            <a:off x="9167840" y="4015909"/>
            <a:ext cx="8521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309A6659-18D0-A3D7-7A20-7D5318E04424}"/>
              </a:ext>
            </a:extLst>
          </p:cNvPr>
          <p:cNvSpPr txBox="1"/>
          <p:nvPr/>
        </p:nvSpPr>
        <p:spPr>
          <a:xfrm>
            <a:off x="7272064" y="3754299"/>
            <a:ext cx="819986" cy="523220"/>
          </a:xfrm>
          <a:prstGeom prst="rect">
            <a:avLst/>
          </a:prstGeom>
          <a:noFill/>
        </p:spPr>
        <p:txBody>
          <a:bodyPr wrap="square">
            <a:spAutoFit/>
          </a:bodyPr>
          <a:lstStyle/>
          <a:p>
            <a:pPr algn="ctr"/>
            <a:r>
              <a:rPr lang="en-US" sz="700" dirty="0"/>
              <a:t>Train substitute</a:t>
            </a:r>
          </a:p>
          <a:p>
            <a:pPr algn="ctr"/>
            <a:r>
              <a:rPr lang="en-US" sz="700" dirty="0"/>
              <a:t>Model on</a:t>
            </a:r>
          </a:p>
          <a:p>
            <a:pPr algn="ctr"/>
            <a:r>
              <a:rPr lang="en-US" sz="700" dirty="0"/>
              <a:t>unwatermarked</a:t>
            </a:r>
          </a:p>
          <a:p>
            <a:pPr algn="ctr"/>
            <a:r>
              <a:rPr lang="en-US" sz="700" dirty="0"/>
              <a:t>dataset</a:t>
            </a:r>
          </a:p>
        </p:txBody>
      </p:sp>
      <p:sp>
        <p:nvSpPr>
          <p:cNvPr id="52" name="TextBox 51">
            <a:extLst>
              <a:ext uri="{FF2B5EF4-FFF2-40B4-BE49-F238E27FC236}">
                <a16:creationId xmlns:a16="http://schemas.microsoft.com/office/drawing/2014/main" id="{EF541A6B-C3F1-4F08-29E3-8812B52F05EB}"/>
              </a:ext>
            </a:extLst>
          </p:cNvPr>
          <p:cNvSpPr txBox="1"/>
          <p:nvPr/>
        </p:nvSpPr>
        <p:spPr>
          <a:xfrm>
            <a:off x="9183335" y="3866560"/>
            <a:ext cx="780398" cy="369332"/>
          </a:xfrm>
          <a:prstGeom prst="rect">
            <a:avLst/>
          </a:prstGeom>
          <a:noFill/>
        </p:spPr>
        <p:txBody>
          <a:bodyPr wrap="square">
            <a:spAutoFit/>
          </a:bodyPr>
          <a:lstStyle/>
          <a:p>
            <a:pPr algn="ctr"/>
            <a:r>
              <a:rPr lang="en-US" sz="600" dirty="0"/>
              <a:t>Generates</a:t>
            </a:r>
          </a:p>
          <a:p>
            <a:pPr algn="ctr"/>
            <a:r>
              <a:rPr lang="en-US" sz="600" dirty="0"/>
              <a:t>Same as original</a:t>
            </a:r>
          </a:p>
          <a:p>
            <a:pPr algn="ctr"/>
            <a:r>
              <a:rPr lang="en-US" sz="600" dirty="0"/>
              <a:t>model</a:t>
            </a:r>
          </a:p>
        </p:txBody>
      </p:sp>
      <p:cxnSp>
        <p:nvCxnSpPr>
          <p:cNvPr id="11" name="Straight Arrow Connector 10">
            <a:extLst>
              <a:ext uri="{FF2B5EF4-FFF2-40B4-BE49-F238E27FC236}">
                <a16:creationId xmlns:a16="http://schemas.microsoft.com/office/drawing/2014/main" id="{76B7469D-AD7B-7F76-4310-5B30A92C668D}"/>
              </a:ext>
            </a:extLst>
          </p:cNvPr>
          <p:cNvCxnSpPr>
            <a:cxnSpLocks/>
          </p:cNvCxnSpPr>
          <p:nvPr/>
        </p:nvCxnSpPr>
        <p:spPr>
          <a:xfrm>
            <a:off x="4396324" y="4030016"/>
            <a:ext cx="588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6EB83CD-88A7-A020-74E7-519600E8FB7E}"/>
              </a:ext>
            </a:extLst>
          </p:cNvPr>
          <p:cNvSpPr txBox="1"/>
          <p:nvPr/>
        </p:nvSpPr>
        <p:spPr>
          <a:xfrm>
            <a:off x="4239511" y="3857283"/>
            <a:ext cx="902129" cy="200055"/>
          </a:xfrm>
          <a:prstGeom prst="rect">
            <a:avLst/>
          </a:prstGeom>
          <a:noFill/>
        </p:spPr>
        <p:txBody>
          <a:bodyPr wrap="square">
            <a:spAutoFit/>
          </a:bodyPr>
          <a:lstStyle/>
          <a:p>
            <a:pPr algn="ctr"/>
            <a:r>
              <a:rPr lang="en-US" sz="700" dirty="0"/>
              <a:t>Watermark</a:t>
            </a:r>
          </a:p>
        </p:txBody>
      </p:sp>
      <p:sp>
        <p:nvSpPr>
          <p:cNvPr id="34" name="TextBox 33">
            <a:extLst>
              <a:ext uri="{FF2B5EF4-FFF2-40B4-BE49-F238E27FC236}">
                <a16:creationId xmlns:a16="http://schemas.microsoft.com/office/drawing/2014/main" id="{373C893D-04A9-6BB0-DD23-11AB7394E605}"/>
              </a:ext>
            </a:extLst>
          </p:cNvPr>
          <p:cNvSpPr txBox="1"/>
          <p:nvPr/>
        </p:nvSpPr>
        <p:spPr>
          <a:xfrm>
            <a:off x="2864428" y="3820394"/>
            <a:ext cx="819986" cy="230832"/>
          </a:xfrm>
          <a:prstGeom prst="rect">
            <a:avLst/>
          </a:prstGeom>
          <a:noFill/>
        </p:spPr>
        <p:txBody>
          <a:bodyPr wrap="square">
            <a:spAutoFit/>
          </a:bodyPr>
          <a:lstStyle/>
          <a:p>
            <a:pPr algn="ctr"/>
            <a:r>
              <a:rPr lang="en-US" sz="900" dirty="0"/>
              <a:t>Generate</a:t>
            </a:r>
          </a:p>
        </p:txBody>
      </p:sp>
      <p:pic>
        <p:nvPicPr>
          <p:cNvPr id="4" name="Picture 3">
            <a:extLst>
              <a:ext uri="{FF2B5EF4-FFF2-40B4-BE49-F238E27FC236}">
                <a16:creationId xmlns:a16="http://schemas.microsoft.com/office/drawing/2014/main" id="{7BB4F4B7-7F9B-1941-A1BF-E4CAA8414995}"/>
              </a:ext>
            </a:extLst>
          </p:cNvPr>
          <p:cNvPicPr>
            <a:picLocks noChangeAspect="1"/>
          </p:cNvPicPr>
          <p:nvPr/>
        </p:nvPicPr>
        <p:blipFill>
          <a:blip r:embed="rId2"/>
          <a:stretch>
            <a:fillRect/>
          </a:stretch>
        </p:blipFill>
        <p:spPr>
          <a:xfrm>
            <a:off x="6449481" y="2940374"/>
            <a:ext cx="807381" cy="612264"/>
          </a:xfrm>
          <a:prstGeom prst="rect">
            <a:avLst/>
          </a:prstGeom>
        </p:spPr>
      </p:pic>
      <p:pic>
        <p:nvPicPr>
          <p:cNvPr id="5" name="Picture 4">
            <a:extLst>
              <a:ext uri="{FF2B5EF4-FFF2-40B4-BE49-F238E27FC236}">
                <a16:creationId xmlns:a16="http://schemas.microsoft.com/office/drawing/2014/main" id="{B08D888F-AD73-9C7E-B8CC-F5B4E53E478F}"/>
              </a:ext>
            </a:extLst>
          </p:cNvPr>
          <p:cNvPicPr>
            <a:picLocks noChangeAspect="1"/>
          </p:cNvPicPr>
          <p:nvPr/>
        </p:nvPicPr>
        <p:blipFill>
          <a:blip r:embed="rId3"/>
          <a:stretch>
            <a:fillRect/>
          </a:stretch>
        </p:blipFill>
        <p:spPr>
          <a:xfrm>
            <a:off x="6485990" y="3769138"/>
            <a:ext cx="770872" cy="539610"/>
          </a:xfrm>
          <a:prstGeom prst="rect">
            <a:avLst/>
          </a:prstGeom>
        </p:spPr>
      </p:pic>
      <p:pic>
        <p:nvPicPr>
          <p:cNvPr id="6" name="Picture 5">
            <a:extLst>
              <a:ext uri="{FF2B5EF4-FFF2-40B4-BE49-F238E27FC236}">
                <a16:creationId xmlns:a16="http://schemas.microsoft.com/office/drawing/2014/main" id="{85308990-7962-ABA6-3BD8-21198991C2FD}"/>
              </a:ext>
            </a:extLst>
          </p:cNvPr>
          <p:cNvPicPr>
            <a:picLocks noChangeAspect="1"/>
          </p:cNvPicPr>
          <p:nvPr/>
        </p:nvPicPr>
        <p:blipFill>
          <a:blip r:embed="rId4"/>
          <a:stretch>
            <a:fillRect/>
          </a:stretch>
        </p:blipFill>
        <p:spPr>
          <a:xfrm>
            <a:off x="6548723" y="4506917"/>
            <a:ext cx="645405" cy="408710"/>
          </a:xfrm>
          <a:prstGeom prst="rect">
            <a:avLst/>
          </a:prstGeom>
        </p:spPr>
      </p:pic>
      <p:cxnSp>
        <p:nvCxnSpPr>
          <p:cNvPr id="7" name="Straight Arrow Connector 6">
            <a:extLst>
              <a:ext uri="{FF2B5EF4-FFF2-40B4-BE49-F238E27FC236}">
                <a16:creationId xmlns:a16="http://schemas.microsoft.com/office/drawing/2014/main" id="{268560BA-8D03-C48A-825A-1376F364F842}"/>
              </a:ext>
            </a:extLst>
          </p:cNvPr>
          <p:cNvCxnSpPr>
            <a:cxnSpLocks/>
          </p:cNvCxnSpPr>
          <p:nvPr/>
        </p:nvCxnSpPr>
        <p:spPr>
          <a:xfrm>
            <a:off x="5882283" y="4038943"/>
            <a:ext cx="588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0E216C8-DEA1-06FE-4071-775ABC751E37}"/>
              </a:ext>
            </a:extLst>
          </p:cNvPr>
          <p:cNvSpPr txBox="1"/>
          <p:nvPr/>
        </p:nvSpPr>
        <p:spPr>
          <a:xfrm>
            <a:off x="5725470" y="3866210"/>
            <a:ext cx="902129" cy="415498"/>
          </a:xfrm>
          <a:prstGeom prst="rect">
            <a:avLst/>
          </a:prstGeom>
          <a:noFill/>
        </p:spPr>
        <p:txBody>
          <a:bodyPr wrap="square">
            <a:spAutoFit/>
          </a:bodyPr>
          <a:lstStyle/>
          <a:p>
            <a:pPr algn="ctr"/>
            <a:r>
              <a:rPr lang="en-US" sz="700" dirty="0"/>
              <a:t>Attacker</a:t>
            </a:r>
          </a:p>
          <a:p>
            <a:pPr algn="ctr"/>
            <a:r>
              <a:rPr lang="en-US" sz="700" dirty="0"/>
              <a:t>Removes</a:t>
            </a:r>
          </a:p>
          <a:p>
            <a:pPr algn="ctr"/>
            <a:r>
              <a:rPr lang="en-US" sz="700" dirty="0"/>
              <a:t>Watermark</a:t>
            </a:r>
          </a:p>
        </p:txBody>
      </p:sp>
      <p:sp>
        <p:nvSpPr>
          <p:cNvPr id="12" name="Title 1">
            <a:extLst>
              <a:ext uri="{FF2B5EF4-FFF2-40B4-BE49-F238E27FC236}">
                <a16:creationId xmlns:a16="http://schemas.microsoft.com/office/drawing/2014/main" id="{36CE11CF-F300-E7FE-BA68-DB475EFBF448}"/>
              </a:ext>
            </a:extLst>
          </p:cNvPr>
          <p:cNvSpPr>
            <a:spLocks noGrp="1"/>
          </p:cNvSpPr>
          <p:nvPr>
            <p:ph type="title"/>
          </p:nvPr>
        </p:nvSpPr>
        <p:spPr>
          <a:xfrm>
            <a:off x="838200" y="365125"/>
            <a:ext cx="10515600" cy="1325563"/>
          </a:xfrm>
        </p:spPr>
        <p:txBody>
          <a:bodyPr>
            <a:normAutofit/>
          </a:bodyPr>
          <a:lstStyle/>
          <a:p>
            <a:r>
              <a:rPr lang="en-US" sz="4000" dirty="0"/>
              <a:t>Understanding Model Theft Using an Image Model</a:t>
            </a:r>
          </a:p>
        </p:txBody>
      </p:sp>
      <p:pic>
        <p:nvPicPr>
          <p:cNvPr id="23" name="Picture 22">
            <a:extLst>
              <a:ext uri="{FF2B5EF4-FFF2-40B4-BE49-F238E27FC236}">
                <a16:creationId xmlns:a16="http://schemas.microsoft.com/office/drawing/2014/main" id="{29E7ED76-2AEB-2A97-4C54-76F00F1E836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27696" y="2886024"/>
            <a:ext cx="692210" cy="692210"/>
          </a:xfrm>
          <a:prstGeom prst="rect">
            <a:avLst/>
          </a:prstGeom>
        </p:spPr>
      </p:pic>
      <p:pic>
        <p:nvPicPr>
          <p:cNvPr id="27" name="Picture 26">
            <a:extLst>
              <a:ext uri="{FF2B5EF4-FFF2-40B4-BE49-F238E27FC236}">
                <a16:creationId xmlns:a16="http://schemas.microsoft.com/office/drawing/2014/main" id="{2F975DCB-F6CA-1FEC-D638-10D7795553B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39361" y="3655687"/>
            <a:ext cx="692210" cy="692210"/>
          </a:xfrm>
          <a:prstGeom prst="rect">
            <a:avLst/>
          </a:prstGeom>
        </p:spPr>
      </p:pic>
      <p:pic>
        <p:nvPicPr>
          <p:cNvPr id="30" name="Picture 29">
            <a:extLst>
              <a:ext uri="{FF2B5EF4-FFF2-40B4-BE49-F238E27FC236}">
                <a16:creationId xmlns:a16="http://schemas.microsoft.com/office/drawing/2014/main" id="{6A3A2779-EA1A-8C14-EEB5-CBB611C3DDD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62764" y="4387707"/>
            <a:ext cx="692210" cy="692210"/>
          </a:xfrm>
          <a:prstGeom prst="rect">
            <a:avLst/>
          </a:prstGeom>
        </p:spPr>
      </p:pic>
    </p:spTree>
    <p:extLst>
      <p:ext uri="{BB962C8B-B14F-4D97-AF65-F5344CB8AC3E}">
        <p14:creationId xmlns:p14="http://schemas.microsoft.com/office/powerpoint/2010/main" val="1600300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F55D-0574-2D0F-4988-C7B845903B18}"/>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71EFEB7E-F1CC-1729-8BAC-7A39BAA8476C}"/>
              </a:ext>
            </a:extLst>
          </p:cNvPr>
          <p:cNvPicPr>
            <a:picLocks noChangeAspect="1"/>
          </p:cNvPicPr>
          <p:nvPr/>
        </p:nvPicPr>
        <p:blipFill>
          <a:blip r:embed="rId2"/>
          <a:stretch>
            <a:fillRect/>
          </a:stretch>
        </p:blipFill>
        <p:spPr>
          <a:xfrm>
            <a:off x="4963522" y="2931447"/>
            <a:ext cx="807381" cy="612264"/>
          </a:xfrm>
          <a:prstGeom prst="rect">
            <a:avLst/>
          </a:prstGeom>
        </p:spPr>
      </p:pic>
      <p:pic>
        <p:nvPicPr>
          <p:cNvPr id="36" name="Picture 35">
            <a:extLst>
              <a:ext uri="{FF2B5EF4-FFF2-40B4-BE49-F238E27FC236}">
                <a16:creationId xmlns:a16="http://schemas.microsoft.com/office/drawing/2014/main" id="{75E9B44C-6E00-FF51-5EB8-8ACF9D33F83E}"/>
              </a:ext>
            </a:extLst>
          </p:cNvPr>
          <p:cNvPicPr>
            <a:picLocks noChangeAspect="1"/>
          </p:cNvPicPr>
          <p:nvPr/>
        </p:nvPicPr>
        <p:blipFill>
          <a:blip r:embed="rId3"/>
          <a:stretch>
            <a:fillRect/>
          </a:stretch>
        </p:blipFill>
        <p:spPr>
          <a:xfrm>
            <a:off x="5000031" y="3760211"/>
            <a:ext cx="770872" cy="539610"/>
          </a:xfrm>
          <a:prstGeom prst="rect">
            <a:avLst/>
          </a:prstGeom>
        </p:spPr>
      </p:pic>
      <p:pic>
        <p:nvPicPr>
          <p:cNvPr id="37" name="Picture 36">
            <a:extLst>
              <a:ext uri="{FF2B5EF4-FFF2-40B4-BE49-F238E27FC236}">
                <a16:creationId xmlns:a16="http://schemas.microsoft.com/office/drawing/2014/main" id="{4786A67D-B811-6416-96C8-73DAD8B82B6B}"/>
              </a:ext>
            </a:extLst>
          </p:cNvPr>
          <p:cNvPicPr>
            <a:picLocks noChangeAspect="1"/>
          </p:cNvPicPr>
          <p:nvPr/>
        </p:nvPicPr>
        <p:blipFill>
          <a:blip r:embed="rId4"/>
          <a:stretch>
            <a:fillRect/>
          </a:stretch>
        </p:blipFill>
        <p:spPr>
          <a:xfrm>
            <a:off x="5062764" y="4497990"/>
            <a:ext cx="645405" cy="408710"/>
          </a:xfrm>
          <a:prstGeom prst="rect">
            <a:avLst/>
          </a:prstGeom>
        </p:spPr>
      </p:pic>
      <p:pic>
        <p:nvPicPr>
          <p:cNvPr id="16" name="Picture 15">
            <a:extLst>
              <a:ext uri="{FF2B5EF4-FFF2-40B4-BE49-F238E27FC236}">
                <a16:creationId xmlns:a16="http://schemas.microsoft.com/office/drawing/2014/main" id="{4A01C8F8-010F-5B64-E065-A607EF5E3090}"/>
              </a:ext>
            </a:extLst>
          </p:cNvPr>
          <p:cNvPicPr>
            <a:picLocks noChangeAspect="1"/>
          </p:cNvPicPr>
          <p:nvPr/>
        </p:nvPicPr>
        <p:blipFill>
          <a:blip r:embed="rId5">
            <a:extLst>
              <a:ext uri="{28A0092B-C50C-407E-A947-70E740481C1C}">
                <a14:useLocalDpi xmlns:a14="http://schemas.microsoft.com/office/drawing/2010/main" val="0"/>
              </a:ext>
            </a:extLst>
          </a:blip>
          <a:srcRect l="19851" t="18591" r="19085" b="18550"/>
          <a:stretch>
            <a:fillRect/>
          </a:stretch>
        </p:blipFill>
        <p:spPr>
          <a:xfrm>
            <a:off x="351779" y="3683921"/>
            <a:ext cx="898191" cy="667098"/>
          </a:xfrm>
          <a:prstGeom prst="rect">
            <a:avLst/>
          </a:prstGeom>
        </p:spPr>
      </p:pic>
      <p:sp>
        <p:nvSpPr>
          <p:cNvPr id="29" name="TextBox 28">
            <a:extLst>
              <a:ext uri="{FF2B5EF4-FFF2-40B4-BE49-F238E27FC236}">
                <a16:creationId xmlns:a16="http://schemas.microsoft.com/office/drawing/2014/main" id="{E53CDACB-72EA-0A3D-47A3-CBB702D69C95}"/>
              </a:ext>
            </a:extLst>
          </p:cNvPr>
          <p:cNvSpPr txBox="1"/>
          <p:nvPr/>
        </p:nvSpPr>
        <p:spPr>
          <a:xfrm>
            <a:off x="1074267" y="3808111"/>
            <a:ext cx="819986" cy="230832"/>
          </a:xfrm>
          <a:prstGeom prst="rect">
            <a:avLst/>
          </a:prstGeom>
          <a:noFill/>
        </p:spPr>
        <p:txBody>
          <a:bodyPr wrap="square">
            <a:spAutoFit/>
          </a:bodyPr>
          <a:lstStyle/>
          <a:p>
            <a:pPr algn="ctr"/>
            <a:r>
              <a:rPr lang="en-US" sz="900" dirty="0"/>
              <a:t>Use API</a:t>
            </a:r>
          </a:p>
        </p:txBody>
      </p:sp>
      <p:sp>
        <p:nvSpPr>
          <p:cNvPr id="3" name="TextBox 2">
            <a:extLst>
              <a:ext uri="{FF2B5EF4-FFF2-40B4-BE49-F238E27FC236}">
                <a16:creationId xmlns:a16="http://schemas.microsoft.com/office/drawing/2014/main" id="{A0A41B32-0498-4658-AE3E-B6155A31BEDA}"/>
              </a:ext>
            </a:extLst>
          </p:cNvPr>
          <p:cNvSpPr txBox="1"/>
          <p:nvPr/>
        </p:nvSpPr>
        <p:spPr>
          <a:xfrm>
            <a:off x="838200" y="1364568"/>
            <a:ext cx="9245367" cy="400110"/>
          </a:xfrm>
          <a:prstGeom prst="rect">
            <a:avLst/>
          </a:prstGeom>
          <a:noFill/>
        </p:spPr>
        <p:txBody>
          <a:bodyPr wrap="square">
            <a:spAutoFit/>
          </a:bodyPr>
          <a:lstStyle/>
          <a:p>
            <a:r>
              <a:rPr lang="en-US" sz="2000" dirty="0"/>
              <a:t>What can you do</a:t>
            </a:r>
          </a:p>
        </p:txBody>
      </p:sp>
      <p:pic>
        <p:nvPicPr>
          <p:cNvPr id="15" name="Picture 14">
            <a:extLst>
              <a:ext uri="{FF2B5EF4-FFF2-40B4-BE49-F238E27FC236}">
                <a16:creationId xmlns:a16="http://schemas.microsoft.com/office/drawing/2014/main" id="{E4890F01-F9B6-1D62-B36A-25742AB19442}"/>
              </a:ext>
            </a:extLst>
          </p:cNvPr>
          <p:cNvPicPr>
            <a:picLocks noChangeAspect="1"/>
          </p:cNvPicPr>
          <p:nvPr/>
        </p:nvPicPr>
        <p:blipFill>
          <a:blip r:embed="rId6"/>
          <a:srcRect l="3240"/>
          <a:stretch>
            <a:fillRect/>
          </a:stretch>
        </p:blipFill>
        <p:spPr>
          <a:xfrm rot="10800000">
            <a:off x="1805274" y="3662520"/>
            <a:ext cx="1193195" cy="709296"/>
          </a:xfrm>
          <a:prstGeom prst="rect">
            <a:avLst/>
          </a:prstGeom>
        </p:spPr>
      </p:pic>
      <p:cxnSp>
        <p:nvCxnSpPr>
          <p:cNvPr id="17" name="Straight Arrow Connector 16">
            <a:extLst>
              <a:ext uri="{FF2B5EF4-FFF2-40B4-BE49-F238E27FC236}">
                <a16:creationId xmlns:a16="http://schemas.microsoft.com/office/drawing/2014/main" id="{1B7AB8F8-906C-FAF6-68B0-12B5429C56E3}"/>
              </a:ext>
            </a:extLst>
          </p:cNvPr>
          <p:cNvCxnSpPr>
            <a:cxnSpLocks/>
            <a:stCxn id="16" idx="3"/>
            <a:endCxn id="15" idx="3"/>
          </p:cNvCxnSpPr>
          <p:nvPr/>
        </p:nvCxnSpPr>
        <p:spPr>
          <a:xfrm flipV="1">
            <a:off x="1249970" y="4017168"/>
            <a:ext cx="555304" cy="3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65F813D5-8DE2-986D-2D52-CE9E447D5B0F}"/>
              </a:ext>
            </a:extLst>
          </p:cNvPr>
          <p:cNvPicPr>
            <a:picLocks noChangeAspect="1"/>
          </p:cNvPicPr>
          <p:nvPr/>
        </p:nvPicPr>
        <p:blipFill>
          <a:blip r:embed="rId2"/>
          <a:stretch>
            <a:fillRect/>
          </a:stretch>
        </p:blipFill>
        <p:spPr>
          <a:xfrm>
            <a:off x="3547131" y="2940374"/>
            <a:ext cx="807381" cy="612264"/>
          </a:xfrm>
          <a:prstGeom prst="rect">
            <a:avLst/>
          </a:prstGeom>
        </p:spPr>
      </p:pic>
      <p:pic>
        <p:nvPicPr>
          <p:cNvPr id="22" name="Picture 21">
            <a:extLst>
              <a:ext uri="{FF2B5EF4-FFF2-40B4-BE49-F238E27FC236}">
                <a16:creationId xmlns:a16="http://schemas.microsoft.com/office/drawing/2014/main" id="{45C252AA-2355-6C6D-2CC3-D38EF910E5A2}"/>
              </a:ext>
            </a:extLst>
          </p:cNvPr>
          <p:cNvPicPr>
            <a:picLocks noChangeAspect="1"/>
          </p:cNvPicPr>
          <p:nvPr/>
        </p:nvPicPr>
        <p:blipFill>
          <a:blip r:embed="rId3"/>
          <a:stretch>
            <a:fillRect/>
          </a:stretch>
        </p:blipFill>
        <p:spPr>
          <a:xfrm>
            <a:off x="3583640" y="3769138"/>
            <a:ext cx="770872" cy="539610"/>
          </a:xfrm>
          <a:prstGeom prst="rect">
            <a:avLst/>
          </a:prstGeom>
        </p:spPr>
      </p:pic>
      <p:pic>
        <p:nvPicPr>
          <p:cNvPr id="24" name="Picture 23">
            <a:extLst>
              <a:ext uri="{FF2B5EF4-FFF2-40B4-BE49-F238E27FC236}">
                <a16:creationId xmlns:a16="http://schemas.microsoft.com/office/drawing/2014/main" id="{D80AEC74-5CAB-19D7-19DE-9DAA88B93658}"/>
              </a:ext>
            </a:extLst>
          </p:cNvPr>
          <p:cNvPicPr>
            <a:picLocks noChangeAspect="1"/>
          </p:cNvPicPr>
          <p:nvPr/>
        </p:nvPicPr>
        <p:blipFill>
          <a:blip r:embed="rId4"/>
          <a:stretch>
            <a:fillRect/>
          </a:stretch>
        </p:blipFill>
        <p:spPr>
          <a:xfrm>
            <a:off x="3646373" y="4506917"/>
            <a:ext cx="645405" cy="408710"/>
          </a:xfrm>
          <a:prstGeom prst="rect">
            <a:avLst/>
          </a:prstGeom>
        </p:spPr>
      </p:pic>
      <p:cxnSp>
        <p:nvCxnSpPr>
          <p:cNvPr id="25" name="Straight Arrow Connector 24">
            <a:extLst>
              <a:ext uri="{FF2B5EF4-FFF2-40B4-BE49-F238E27FC236}">
                <a16:creationId xmlns:a16="http://schemas.microsoft.com/office/drawing/2014/main" id="{D7830F54-FC97-C6EA-C9F3-9B265A9C20A9}"/>
              </a:ext>
            </a:extLst>
          </p:cNvPr>
          <p:cNvCxnSpPr>
            <a:cxnSpLocks/>
            <a:stCxn id="15" idx="1"/>
          </p:cNvCxnSpPr>
          <p:nvPr/>
        </p:nvCxnSpPr>
        <p:spPr>
          <a:xfrm>
            <a:off x="2998469" y="4017168"/>
            <a:ext cx="5851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8A258BBD-DC3E-DC90-E11F-AF46E53FEE03}"/>
              </a:ext>
            </a:extLst>
          </p:cNvPr>
          <p:cNvSpPr txBox="1"/>
          <p:nvPr/>
        </p:nvSpPr>
        <p:spPr>
          <a:xfrm>
            <a:off x="1701282" y="3447429"/>
            <a:ext cx="1439175" cy="261610"/>
          </a:xfrm>
          <a:prstGeom prst="rect">
            <a:avLst/>
          </a:prstGeom>
          <a:noFill/>
        </p:spPr>
        <p:txBody>
          <a:bodyPr wrap="square">
            <a:spAutoFit/>
          </a:bodyPr>
          <a:lstStyle/>
          <a:p>
            <a:pPr algn="ctr"/>
            <a:r>
              <a:rPr lang="en-US" sz="1050" dirty="0"/>
              <a:t>Deployed Model</a:t>
            </a:r>
          </a:p>
        </p:txBody>
      </p:sp>
      <p:sp>
        <p:nvSpPr>
          <p:cNvPr id="18" name="TextBox 17">
            <a:extLst>
              <a:ext uri="{FF2B5EF4-FFF2-40B4-BE49-F238E27FC236}">
                <a16:creationId xmlns:a16="http://schemas.microsoft.com/office/drawing/2014/main" id="{1D2FDE18-A79B-D154-7092-D38A87ED62E2}"/>
              </a:ext>
            </a:extLst>
          </p:cNvPr>
          <p:cNvSpPr txBox="1"/>
          <p:nvPr/>
        </p:nvSpPr>
        <p:spPr>
          <a:xfrm>
            <a:off x="1348789" y="3971229"/>
            <a:ext cx="346266" cy="246221"/>
          </a:xfrm>
          <a:prstGeom prst="rect">
            <a:avLst/>
          </a:prstGeom>
          <a:noFill/>
        </p:spPr>
        <p:txBody>
          <a:bodyPr wrap="square">
            <a:spAutoFit/>
          </a:bodyPr>
          <a:lstStyle/>
          <a:p>
            <a:pPr algn="ctr"/>
            <a:r>
              <a:rPr lang="en-US" sz="1000" dirty="0"/>
              <a:t>$5</a:t>
            </a:r>
          </a:p>
        </p:txBody>
      </p:sp>
      <p:pic>
        <p:nvPicPr>
          <p:cNvPr id="19" name="Picture 18">
            <a:extLst>
              <a:ext uri="{FF2B5EF4-FFF2-40B4-BE49-F238E27FC236}">
                <a16:creationId xmlns:a16="http://schemas.microsoft.com/office/drawing/2014/main" id="{3F6F6E38-0C5C-FCEE-3595-C01782B48A02}"/>
              </a:ext>
            </a:extLst>
          </p:cNvPr>
          <p:cNvPicPr>
            <a:picLocks noChangeAspect="1"/>
          </p:cNvPicPr>
          <p:nvPr/>
        </p:nvPicPr>
        <p:blipFill>
          <a:blip r:embed="rId6"/>
          <a:srcRect l="3240"/>
          <a:stretch>
            <a:fillRect/>
          </a:stretch>
        </p:blipFill>
        <p:spPr>
          <a:xfrm rot="10800000">
            <a:off x="8050883" y="3683921"/>
            <a:ext cx="1116957" cy="663976"/>
          </a:xfrm>
          <a:prstGeom prst="rect">
            <a:avLst/>
          </a:prstGeom>
        </p:spPr>
      </p:pic>
      <p:sp>
        <p:nvSpPr>
          <p:cNvPr id="21" name="TextBox 20">
            <a:extLst>
              <a:ext uri="{FF2B5EF4-FFF2-40B4-BE49-F238E27FC236}">
                <a16:creationId xmlns:a16="http://schemas.microsoft.com/office/drawing/2014/main" id="{C615A812-0FB2-FD9F-C7FE-107350004E24}"/>
              </a:ext>
            </a:extLst>
          </p:cNvPr>
          <p:cNvSpPr txBox="1"/>
          <p:nvPr/>
        </p:nvSpPr>
        <p:spPr>
          <a:xfrm>
            <a:off x="8299356" y="3462818"/>
            <a:ext cx="620009" cy="246221"/>
          </a:xfrm>
          <a:prstGeom prst="rect">
            <a:avLst/>
          </a:prstGeom>
          <a:noFill/>
        </p:spPr>
        <p:txBody>
          <a:bodyPr wrap="square">
            <a:spAutoFit/>
          </a:bodyPr>
          <a:lstStyle/>
          <a:p>
            <a:pPr algn="ctr"/>
            <a:r>
              <a:rPr lang="en-US" sz="1000" dirty="0"/>
              <a:t>Model</a:t>
            </a:r>
          </a:p>
        </p:txBody>
      </p:sp>
      <p:cxnSp>
        <p:nvCxnSpPr>
          <p:cNvPr id="26" name="Straight Arrow Connector 25">
            <a:extLst>
              <a:ext uri="{FF2B5EF4-FFF2-40B4-BE49-F238E27FC236}">
                <a16:creationId xmlns:a16="http://schemas.microsoft.com/office/drawing/2014/main" id="{98393FAF-AFD9-7072-E6F5-7FD882236D71}"/>
              </a:ext>
            </a:extLst>
          </p:cNvPr>
          <p:cNvCxnSpPr>
            <a:cxnSpLocks/>
            <a:endCxn id="19" idx="3"/>
          </p:cNvCxnSpPr>
          <p:nvPr/>
        </p:nvCxnSpPr>
        <p:spPr>
          <a:xfrm>
            <a:off x="7380784" y="4015909"/>
            <a:ext cx="67009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1B596C3F-3BB9-4518-07BC-72F0A9471F1A}"/>
              </a:ext>
            </a:extLst>
          </p:cNvPr>
          <p:cNvPicPr>
            <a:picLocks noChangeAspect="1"/>
          </p:cNvPicPr>
          <p:nvPr/>
        </p:nvPicPr>
        <p:blipFill>
          <a:blip r:embed="rId7"/>
          <a:stretch>
            <a:fillRect/>
          </a:stretch>
        </p:blipFill>
        <p:spPr>
          <a:xfrm>
            <a:off x="10041483" y="3769188"/>
            <a:ext cx="713679" cy="560216"/>
          </a:xfrm>
          <a:prstGeom prst="rect">
            <a:avLst/>
          </a:prstGeom>
        </p:spPr>
      </p:pic>
      <p:pic>
        <p:nvPicPr>
          <p:cNvPr id="40" name="Picture 39">
            <a:extLst>
              <a:ext uri="{FF2B5EF4-FFF2-40B4-BE49-F238E27FC236}">
                <a16:creationId xmlns:a16="http://schemas.microsoft.com/office/drawing/2014/main" id="{52781664-D483-22E9-43E7-8DA595DBB2D3}"/>
              </a:ext>
            </a:extLst>
          </p:cNvPr>
          <p:cNvPicPr>
            <a:picLocks noChangeAspect="1"/>
          </p:cNvPicPr>
          <p:nvPr/>
        </p:nvPicPr>
        <p:blipFill>
          <a:blip r:embed="rId8"/>
          <a:stretch>
            <a:fillRect/>
          </a:stretch>
        </p:blipFill>
        <p:spPr>
          <a:xfrm>
            <a:off x="9979228" y="4918658"/>
            <a:ext cx="780398" cy="574774"/>
          </a:xfrm>
          <a:prstGeom prst="rect">
            <a:avLst/>
          </a:prstGeom>
        </p:spPr>
      </p:pic>
      <p:pic>
        <p:nvPicPr>
          <p:cNvPr id="42" name="Picture 41">
            <a:extLst>
              <a:ext uri="{FF2B5EF4-FFF2-40B4-BE49-F238E27FC236}">
                <a16:creationId xmlns:a16="http://schemas.microsoft.com/office/drawing/2014/main" id="{EF1D4979-D515-6273-0660-2546AA785B87}"/>
              </a:ext>
            </a:extLst>
          </p:cNvPr>
          <p:cNvPicPr>
            <a:picLocks noChangeAspect="1"/>
          </p:cNvPicPr>
          <p:nvPr/>
        </p:nvPicPr>
        <p:blipFill>
          <a:blip r:embed="rId9"/>
          <a:stretch>
            <a:fillRect/>
          </a:stretch>
        </p:blipFill>
        <p:spPr>
          <a:xfrm>
            <a:off x="9979228" y="2470019"/>
            <a:ext cx="902181" cy="701070"/>
          </a:xfrm>
          <a:prstGeom prst="rect">
            <a:avLst/>
          </a:prstGeom>
        </p:spPr>
      </p:pic>
      <p:cxnSp>
        <p:nvCxnSpPr>
          <p:cNvPr id="43" name="Straight Arrow Connector 42">
            <a:extLst>
              <a:ext uri="{FF2B5EF4-FFF2-40B4-BE49-F238E27FC236}">
                <a16:creationId xmlns:a16="http://schemas.microsoft.com/office/drawing/2014/main" id="{4C140512-19C4-1546-1572-F505ABEC6FC1}"/>
              </a:ext>
            </a:extLst>
          </p:cNvPr>
          <p:cNvCxnSpPr>
            <a:cxnSpLocks/>
            <a:stCxn id="19" idx="1"/>
          </p:cNvCxnSpPr>
          <p:nvPr/>
        </p:nvCxnSpPr>
        <p:spPr>
          <a:xfrm>
            <a:off x="9167840" y="4015909"/>
            <a:ext cx="85216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E3755354-8B37-5AD5-711F-B0AE096E7F17}"/>
              </a:ext>
            </a:extLst>
          </p:cNvPr>
          <p:cNvSpPr txBox="1"/>
          <p:nvPr/>
        </p:nvSpPr>
        <p:spPr>
          <a:xfrm>
            <a:off x="7272064" y="3754299"/>
            <a:ext cx="819986" cy="630942"/>
          </a:xfrm>
          <a:prstGeom prst="rect">
            <a:avLst/>
          </a:prstGeom>
          <a:noFill/>
        </p:spPr>
        <p:txBody>
          <a:bodyPr wrap="square">
            <a:spAutoFit/>
          </a:bodyPr>
          <a:lstStyle/>
          <a:p>
            <a:pPr algn="ctr"/>
            <a:r>
              <a:rPr lang="en-US" sz="700" dirty="0"/>
              <a:t>Train substitute</a:t>
            </a:r>
          </a:p>
          <a:p>
            <a:pPr algn="ctr"/>
            <a:r>
              <a:rPr lang="en-US" sz="700" dirty="0"/>
              <a:t>Model on</a:t>
            </a:r>
          </a:p>
          <a:p>
            <a:pPr algn="ctr"/>
            <a:r>
              <a:rPr lang="en-US" sz="700" dirty="0"/>
              <a:t>Assuming it is not watermarked</a:t>
            </a:r>
          </a:p>
        </p:txBody>
      </p:sp>
      <p:sp>
        <p:nvSpPr>
          <p:cNvPr id="52" name="TextBox 51">
            <a:extLst>
              <a:ext uri="{FF2B5EF4-FFF2-40B4-BE49-F238E27FC236}">
                <a16:creationId xmlns:a16="http://schemas.microsoft.com/office/drawing/2014/main" id="{70D3ADB2-1513-A7E7-7303-09D714724CE1}"/>
              </a:ext>
            </a:extLst>
          </p:cNvPr>
          <p:cNvSpPr txBox="1"/>
          <p:nvPr/>
        </p:nvSpPr>
        <p:spPr>
          <a:xfrm>
            <a:off x="9183335" y="3866560"/>
            <a:ext cx="780398" cy="369332"/>
          </a:xfrm>
          <a:prstGeom prst="rect">
            <a:avLst/>
          </a:prstGeom>
          <a:noFill/>
        </p:spPr>
        <p:txBody>
          <a:bodyPr wrap="square">
            <a:spAutoFit/>
          </a:bodyPr>
          <a:lstStyle/>
          <a:p>
            <a:pPr algn="ctr"/>
            <a:r>
              <a:rPr lang="en-US" sz="600" dirty="0"/>
              <a:t>Generates</a:t>
            </a:r>
          </a:p>
          <a:p>
            <a:pPr algn="ctr"/>
            <a:r>
              <a:rPr lang="en-US" sz="600" dirty="0"/>
              <a:t>Watermarked images</a:t>
            </a:r>
          </a:p>
        </p:txBody>
      </p:sp>
      <p:cxnSp>
        <p:nvCxnSpPr>
          <p:cNvPr id="11" name="Straight Arrow Connector 10">
            <a:extLst>
              <a:ext uri="{FF2B5EF4-FFF2-40B4-BE49-F238E27FC236}">
                <a16:creationId xmlns:a16="http://schemas.microsoft.com/office/drawing/2014/main" id="{6B08DBCB-6F55-7671-735B-39356B1F6E63}"/>
              </a:ext>
            </a:extLst>
          </p:cNvPr>
          <p:cNvCxnSpPr>
            <a:cxnSpLocks/>
          </p:cNvCxnSpPr>
          <p:nvPr/>
        </p:nvCxnSpPr>
        <p:spPr>
          <a:xfrm>
            <a:off x="4396324" y="4030016"/>
            <a:ext cx="588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1E1E9E7-EF11-1317-26DB-3E3D340641B1}"/>
              </a:ext>
            </a:extLst>
          </p:cNvPr>
          <p:cNvSpPr txBox="1"/>
          <p:nvPr/>
        </p:nvSpPr>
        <p:spPr>
          <a:xfrm>
            <a:off x="4239511" y="3857283"/>
            <a:ext cx="902129" cy="307777"/>
          </a:xfrm>
          <a:prstGeom prst="rect">
            <a:avLst/>
          </a:prstGeom>
          <a:noFill/>
        </p:spPr>
        <p:txBody>
          <a:bodyPr wrap="square">
            <a:spAutoFit/>
          </a:bodyPr>
          <a:lstStyle/>
          <a:p>
            <a:pPr algn="ctr"/>
            <a:r>
              <a:rPr lang="en-US" sz="700" dirty="0"/>
              <a:t>Invisible</a:t>
            </a:r>
          </a:p>
          <a:p>
            <a:pPr algn="ctr"/>
            <a:r>
              <a:rPr lang="en-US" sz="700" dirty="0"/>
              <a:t>Watermark</a:t>
            </a:r>
          </a:p>
        </p:txBody>
      </p:sp>
      <p:sp>
        <p:nvSpPr>
          <p:cNvPr id="34" name="TextBox 33">
            <a:extLst>
              <a:ext uri="{FF2B5EF4-FFF2-40B4-BE49-F238E27FC236}">
                <a16:creationId xmlns:a16="http://schemas.microsoft.com/office/drawing/2014/main" id="{0919EF1E-8737-95FC-C3FB-D965B14276E7}"/>
              </a:ext>
            </a:extLst>
          </p:cNvPr>
          <p:cNvSpPr txBox="1"/>
          <p:nvPr/>
        </p:nvSpPr>
        <p:spPr>
          <a:xfrm>
            <a:off x="2864428" y="3820394"/>
            <a:ext cx="819986" cy="230832"/>
          </a:xfrm>
          <a:prstGeom prst="rect">
            <a:avLst/>
          </a:prstGeom>
          <a:noFill/>
        </p:spPr>
        <p:txBody>
          <a:bodyPr wrap="square">
            <a:spAutoFit/>
          </a:bodyPr>
          <a:lstStyle/>
          <a:p>
            <a:pPr algn="ctr"/>
            <a:r>
              <a:rPr lang="en-US" sz="900" dirty="0"/>
              <a:t>Generate</a:t>
            </a:r>
          </a:p>
        </p:txBody>
      </p:sp>
      <p:pic>
        <p:nvPicPr>
          <p:cNvPr id="4" name="Picture 3">
            <a:extLst>
              <a:ext uri="{FF2B5EF4-FFF2-40B4-BE49-F238E27FC236}">
                <a16:creationId xmlns:a16="http://schemas.microsoft.com/office/drawing/2014/main" id="{E6E94A81-1E30-7730-A103-109C2F11E648}"/>
              </a:ext>
            </a:extLst>
          </p:cNvPr>
          <p:cNvPicPr>
            <a:picLocks noChangeAspect="1"/>
          </p:cNvPicPr>
          <p:nvPr/>
        </p:nvPicPr>
        <p:blipFill>
          <a:blip r:embed="rId2"/>
          <a:stretch>
            <a:fillRect/>
          </a:stretch>
        </p:blipFill>
        <p:spPr>
          <a:xfrm>
            <a:off x="6449481" y="2940374"/>
            <a:ext cx="807381" cy="612264"/>
          </a:xfrm>
          <a:prstGeom prst="rect">
            <a:avLst/>
          </a:prstGeom>
        </p:spPr>
      </p:pic>
      <p:pic>
        <p:nvPicPr>
          <p:cNvPr id="5" name="Picture 4">
            <a:extLst>
              <a:ext uri="{FF2B5EF4-FFF2-40B4-BE49-F238E27FC236}">
                <a16:creationId xmlns:a16="http://schemas.microsoft.com/office/drawing/2014/main" id="{65158A30-34EC-8CD0-BBBA-E55EE37FF92A}"/>
              </a:ext>
            </a:extLst>
          </p:cNvPr>
          <p:cNvPicPr>
            <a:picLocks noChangeAspect="1"/>
          </p:cNvPicPr>
          <p:nvPr/>
        </p:nvPicPr>
        <p:blipFill>
          <a:blip r:embed="rId3"/>
          <a:stretch>
            <a:fillRect/>
          </a:stretch>
        </p:blipFill>
        <p:spPr>
          <a:xfrm>
            <a:off x="6485990" y="3769138"/>
            <a:ext cx="770872" cy="539610"/>
          </a:xfrm>
          <a:prstGeom prst="rect">
            <a:avLst/>
          </a:prstGeom>
        </p:spPr>
      </p:pic>
      <p:pic>
        <p:nvPicPr>
          <p:cNvPr id="6" name="Picture 5">
            <a:extLst>
              <a:ext uri="{FF2B5EF4-FFF2-40B4-BE49-F238E27FC236}">
                <a16:creationId xmlns:a16="http://schemas.microsoft.com/office/drawing/2014/main" id="{B03D74B5-FD7C-0343-451A-E65A23B3F4C0}"/>
              </a:ext>
            </a:extLst>
          </p:cNvPr>
          <p:cNvPicPr>
            <a:picLocks noChangeAspect="1"/>
          </p:cNvPicPr>
          <p:nvPr/>
        </p:nvPicPr>
        <p:blipFill>
          <a:blip r:embed="rId4"/>
          <a:stretch>
            <a:fillRect/>
          </a:stretch>
        </p:blipFill>
        <p:spPr>
          <a:xfrm>
            <a:off x="6548723" y="4506917"/>
            <a:ext cx="645405" cy="408710"/>
          </a:xfrm>
          <a:prstGeom prst="rect">
            <a:avLst/>
          </a:prstGeom>
        </p:spPr>
      </p:pic>
      <p:cxnSp>
        <p:nvCxnSpPr>
          <p:cNvPr id="7" name="Straight Arrow Connector 6">
            <a:extLst>
              <a:ext uri="{FF2B5EF4-FFF2-40B4-BE49-F238E27FC236}">
                <a16:creationId xmlns:a16="http://schemas.microsoft.com/office/drawing/2014/main" id="{276732CE-159D-9A16-906B-BB4CBFCC0DAB}"/>
              </a:ext>
            </a:extLst>
          </p:cNvPr>
          <p:cNvCxnSpPr>
            <a:cxnSpLocks/>
          </p:cNvCxnSpPr>
          <p:nvPr/>
        </p:nvCxnSpPr>
        <p:spPr>
          <a:xfrm>
            <a:off x="5882283" y="4038943"/>
            <a:ext cx="5885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F7EB290-1FF0-FCB1-4AF3-E43F904DDFDD}"/>
              </a:ext>
            </a:extLst>
          </p:cNvPr>
          <p:cNvSpPr txBox="1"/>
          <p:nvPr/>
        </p:nvSpPr>
        <p:spPr>
          <a:xfrm>
            <a:off x="5726347" y="3808111"/>
            <a:ext cx="770872" cy="461665"/>
          </a:xfrm>
          <a:prstGeom prst="rect">
            <a:avLst/>
          </a:prstGeom>
          <a:noFill/>
        </p:spPr>
        <p:txBody>
          <a:bodyPr wrap="square">
            <a:spAutoFit/>
          </a:bodyPr>
          <a:lstStyle/>
          <a:p>
            <a:pPr algn="ctr"/>
            <a:r>
              <a:rPr lang="en-US" sz="600" dirty="0"/>
              <a:t>Attacker can try to remove it, but they don't know what to look for.</a:t>
            </a:r>
            <a:endParaRPr lang="en-US" sz="500" dirty="0"/>
          </a:p>
        </p:txBody>
      </p:sp>
      <p:sp>
        <p:nvSpPr>
          <p:cNvPr id="14" name="TextBox 13">
            <a:extLst>
              <a:ext uri="{FF2B5EF4-FFF2-40B4-BE49-F238E27FC236}">
                <a16:creationId xmlns:a16="http://schemas.microsoft.com/office/drawing/2014/main" id="{E89254A2-791F-EB61-C580-6FCC9835C2B5}"/>
              </a:ext>
            </a:extLst>
          </p:cNvPr>
          <p:cNvSpPr txBox="1"/>
          <p:nvPr/>
        </p:nvSpPr>
        <p:spPr>
          <a:xfrm>
            <a:off x="9660585" y="5677388"/>
            <a:ext cx="1417683" cy="461665"/>
          </a:xfrm>
          <a:prstGeom prst="rect">
            <a:avLst/>
          </a:prstGeom>
          <a:noFill/>
        </p:spPr>
        <p:txBody>
          <a:bodyPr wrap="square">
            <a:spAutoFit/>
          </a:bodyPr>
          <a:lstStyle/>
          <a:p>
            <a:pPr algn="ctr"/>
            <a:r>
              <a:rPr lang="en-US" sz="800" dirty="0"/>
              <a:t>Watermark can be identified through forensic analysis, confirming theft.</a:t>
            </a:r>
            <a:endParaRPr lang="en-US" sz="600" dirty="0"/>
          </a:p>
        </p:txBody>
      </p:sp>
      <p:sp>
        <p:nvSpPr>
          <p:cNvPr id="12" name="Title 1">
            <a:extLst>
              <a:ext uri="{FF2B5EF4-FFF2-40B4-BE49-F238E27FC236}">
                <a16:creationId xmlns:a16="http://schemas.microsoft.com/office/drawing/2014/main" id="{77C6BF1D-4380-FF4D-F03A-74C8EEDBDD18}"/>
              </a:ext>
            </a:extLst>
          </p:cNvPr>
          <p:cNvSpPr>
            <a:spLocks noGrp="1"/>
          </p:cNvSpPr>
          <p:nvPr>
            <p:ph type="title"/>
          </p:nvPr>
        </p:nvSpPr>
        <p:spPr>
          <a:xfrm>
            <a:off x="838200" y="365125"/>
            <a:ext cx="10515600" cy="1325563"/>
          </a:xfrm>
        </p:spPr>
        <p:txBody>
          <a:bodyPr>
            <a:normAutofit/>
          </a:bodyPr>
          <a:lstStyle/>
          <a:p>
            <a:r>
              <a:rPr lang="en-US" sz="4000" dirty="0"/>
              <a:t>Understanding Model Theft Using an Image Model</a:t>
            </a:r>
          </a:p>
        </p:txBody>
      </p:sp>
    </p:spTree>
    <p:extLst>
      <p:ext uri="{BB962C8B-B14F-4D97-AF65-F5344CB8AC3E}">
        <p14:creationId xmlns:p14="http://schemas.microsoft.com/office/powerpoint/2010/main" val="2293292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06A0F-E6CC-2540-7918-64CD37C7F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B6882-B4B0-CC41-A863-60B5517FA92F}"/>
              </a:ext>
            </a:extLst>
          </p:cNvPr>
          <p:cNvSpPr>
            <a:spLocks noGrp="1"/>
          </p:cNvSpPr>
          <p:nvPr>
            <p:ph type="title"/>
          </p:nvPr>
        </p:nvSpPr>
        <p:spPr>
          <a:xfrm>
            <a:off x="838200" y="363825"/>
            <a:ext cx="10515600" cy="1325563"/>
          </a:xfrm>
        </p:spPr>
        <p:txBody>
          <a:bodyPr/>
          <a:lstStyle/>
          <a:p>
            <a:r>
              <a:rPr lang="en-US" dirty="0"/>
              <a:t>How this works in LLMs</a:t>
            </a:r>
          </a:p>
        </p:txBody>
      </p:sp>
      <p:pic>
        <p:nvPicPr>
          <p:cNvPr id="5" name="Picture 4">
            <a:extLst>
              <a:ext uri="{FF2B5EF4-FFF2-40B4-BE49-F238E27FC236}">
                <a16:creationId xmlns:a16="http://schemas.microsoft.com/office/drawing/2014/main" id="{6BFBFFE3-7D9A-92BD-5BE0-845126D85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906" y="2764774"/>
            <a:ext cx="1398494" cy="1398494"/>
          </a:xfrm>
          <a:prstGeom prst="rect">
            <a:avLst/>
          </a:prstGeom>
        </p:spPr>
      </p:pic>
      <p:sp>
        <p:nvSpPr>
          <p:cNvPr id="6" name="TextBox 5">
            <a:extLst>
              <a:ext uri="{FF2B5EF4-FFF2-40B4-BE49-F238E27FC236}">
                <a16:creationId xmlns:a16="http://schemas.microsoft.com/office/drawing/2014/main" id="{7D677D3D-C0F5-DC72-DB35-A77A36972B18}"/>
              </a:ext>
            </a:extLst>
          </p:cNvPr>
          <p:cNvSpPr txBox="1"/>
          <p:nvPr/>
        </p:nvSpPr>
        <p:spPr>
          <a:xfrm>
            <a:off x="1479176" y="4416214"/>
            <a:ext cx="2043953" cy="1323439"/>
          </a:xfrm>
          <a:prstGeom prst="rect">
            <a:avLst/>
          </a:prstGeom>
          <a:noFill/>
        </p:spPr>
        <p:txBody>
          <a:bodyPr wrap="square">
            <a:spAutoFit/>
          </a:bodyPr>
          <a:lstStyle/>
          <a:p>
            <a:pPr algn="ctr"/>
            <a:r>
              <a:rPr lang="en-US" sz="1600" dirty="0"/>
              <a:t>OpenAI spent hundreds of millions gathering and curating training data.</a:t>
            </a:r>
          </a:p>
        </p:txBody>
      </p:sp>
      <p:pic>
        <p:nvPicPr>
          <p:cNvPr id="8" name="Picture 7">
            <a:extLst>
              <a:ext uri="{FF2B5EF4-FFF2-40B4-BE49-F238E27FC236}">
                <a16:creationId xmlns:a16="http://schemas.microsoft.com/office/drawing/2014/main" id="{95838B30-5F9E-CAB8-5EB8-BDD6E3FD8D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2352" y="2764774"/>
            <a:ext cx="1398494" cy="1398494"/>
          </a:xfrm>
          <a:prstGeom prst="rect">
            <a:avLst/>
          </a:prstGeom>
        </p:spPr>
      </p:pic>
      <p:pic>
        <p:nvPicPr>
          <p:cNvPr id="10" name="Picture 9">
            <a:extLst>
              <a:ext uri="{FF2B5EF4-FFF2-40B4-BE49-F238E27FC236}">
                <a16:creationId xmlns:a16="http://schemas.microsoft.com/office/drawing/2014/main" id="{157DFDC9-CE6A-97AF-7309-CE3986CD03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2544" y="2834530"/>
            <a:ext cx="1258981" cy="1258981"/>
          </a:xfrm>
          <a:prstGeom prst="rect">
            <a:avLst/>
          </a:prstGeom>
        </p:spPr>
      </p:pic>
      <p:cxnSp>
        <p:nvCxnSpPr>
          <p:cNvPr id="12" name="Straight Arrow Connector 11">
            <a:extLst>
              <a:ext uri="{FF2B5EF4-FFF2-40B4-BE49-F238E27FC236}">
                <a16:creationId xmlns:a16="http://schemas.microsoft.com/office/drawing/2014/main" id="{59AA2857-CBCC-8F4F-F165-427B8BDD4C60}"/>
              </a:ext>
            </a:extLst>
          </p:cNvPr>
          <p:cNvCxnSpPr>
            <a:stCxn id="5" idx="3"/>
            <a:endCxn id="10" idx="1"/>
          </p:cNvCxnSpPr>
          <p:nvPr/>
        </p:nvCxnSpPr>
        <p:spPr>
          <a:xfrm>
            <a:off x="3200400" y="3464021"/>
            <a:ext cx="213214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2815F41-0708-9318-54BC-0871401A9D44}"/>
              </a:ext>
            </a:extLst>
          </p:cNvPr>
          <p:cNvSpPr txBox="1"/>
          <p:nvPr/>
        </p:nvSpPr>
        <p:spPr>
          <a:xfrm>
            <a:off x="5074023" y="4093511"/>
            <a:ext cx="2043953" cy="830997"/>
          </a:xfrm>
          <a:prstGeom prst="rect">
            <a:avLst/>
          </a:prstGeom>
          <a:noFill/>
        </p:spPr>
        <p:txBody>
          <a:bodyPr wrap="square">
            <a:spAutoFit/>
          </a:bodyPr>
          <a:lstStyle/>
          <a:p>
            <a:pPr algn="ctr"/>
            <a:r>
              <a:rPr lang="en-US" sz="1600" dirty="0"/>
              <a:t>Gather clean structured data from OpenAI API</a:t>
            </a:r>
          </a:p>
        </p:txBody>
      </p:sp>
      <p:sp>
        <p:nvSpPr>
          <p:cNvPr id="15" name="TextBox 14">
            <a:extLst>
              <a:ext uri="{FF2B5EF4-FFF2-40B4-BE49-F238E27FC236}">
                <a16:creationId xmlns:a16="http://schemas.microsoft.com/office/drawing/2014/main" id="{B0B0CF67-5C6A-18B5-3A76-31FE096E3D90}"/>
              </a:ext>
            </a:extLst>
          </p:cNvPr>
          <p:cNvSpPr txBox="1"/>
          <p:nvPr/>
        </p:nvSpPr>
        <p:spPr>
          <a:xfrm>
            <a:off x="3200400" y="3177965"/>
            <a:ext cx="2043953" cy="584775"/>
          </a:xfrm>
          <a:prstGeom prst="rect">
            <a:avLst/>
          </a:prstGeom>
          <a:noFill/>
        </p:spPr>
        <p:txBody>
          <a:bodyPr wrap="square">
            <a:spAutoFit/>
          </a:bodyPr>
          <a:lstStyle/>
          <a:p>
            <a:pPr algn="ctr"/>
            <a:r>
              <a:rPr lang="en-US" sz="1600" dirty="0"/>
              <a:t>Query the </a:t>
            </a:r>
          </a:p>
          <a:p>
            <a:pPr algn="ctr"/>
            <a:r>
              <a:rPr lang="en-US" sz="1600" dirty="0"/>
              <a:t>API</a:t>
            </a:r>
          </a:p>
        </p:txBody>
      </p:sp>
      <p:cxnSp>
        <p:nvCxnSpPr>
          <p:cNvPr id="17" name="Straight Arrow Connector 16">
            <a:extLst>
              <a:ext uri="{FF2B5EF4-FFF2-40B4-BE49-F238E27FC236}">
                <a16:creationId xmlns:a16="http://schemas.microsoft.com/office/drawing/2014/main" id="{E48C6BDA-A956-ED4D-4191-83C7AB1D0B6F}"/>
              </a:ext>
            </a:extLst>
          </p:cNvPr>
          <p:cNvCxnSpPr>
            <a:cxnSpLocks/>
            <a:stCxn id="10" idx="3"/>
            <a:endCxn id="8" idx="1"/>
          </p:cNvCxnSpPr>
          <p:nvPr/>
        </p:nvCxnSpPr>
        <p:spPr>
          <a:xfrm>
            <a:off x="6591525" y="3464021"/>
            <a:ext cx="17008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34698873-9E01-9E28-D75E-E77C72612DA5}"/>
              </a:ext>
            </a:extLst>
          </p:cNvPr>
          <p:cNvSpPr txBox="1"/>
          <p:nvPr/>
        </p:nvSpPr>
        <p:spPr>
          <a:xfrm>
            <a:off x="7969622" y="4000715"/>
            <a:ext cx="2043953" cy="830997"/>
          </a:xfrm>
          <a:prstGeom prst="rect">
            <a:avLst/>
          </a:prstGeom>
          <a:noFill/>
        </p:spPr>
        <p:txBody>
          <a:bodyPr wrap="square">
            <a:spAutoFit/>
          </a:bodyPr>
          <a:lstStyle/>
          <a:p>
            <a:pPr algn="ctr"/>
            <a:r>
              <a:rPr lang="en-US" sz="1600" dirty="0"/>
              <a:t>DeepSeek achieves comparable performance</a:t>
            </a:r>
          </a:p>
        </p:txBody>
      </p:sp>
      <p:sp>
        <p:nvSpPr>
          <p:cNvPr id="22" name="TextBox 21">
            <a:extLst>
              <a:ext uri="{FF2B5EF4-FFF2-40B4-BE49-F238E27FC236}">
                <a16:creationId xmlns:a16="http://schemas.microsoft.com/office/drawing/2014/main" id="{B23B31BB-D69F-F29E-B9E6-510CC531D641}"/>
              </a:ext>
            </a:extLst>
          </p:cNvPr>
          <p:cNvSpPr txBox="1"/>
          <p:nvPr/>
        </p:nvSpPr>
        <p:spPr>
          <a:xfrm>
            <a:off x="6419962" y="3177965"/>
            <a:ext cx="2043953" cy="584775"/>
          </a:xfrm>
          <a:prstGeom prst="rect">
            <a:avLst/>
          </a:prstGeom>
          <a:noFill/>
        </p:spPr>
        <p:txBody>
          <a:bodyPr wrap="square">
            <a:spAutoFit/>
          </a:bodyPr>
          <a:lstStyle/>
          <a:p>
            <a:pPr algn="ctr"/>
            <a:r>
              <a:rPr lang="en-US" sz="1600" dirty="0"/>
              <a:t>Train DeepSeek</a:t>
            </a:r>
          </a:p>
          <a:p>
            <a:pPr algn="ctr"/>
            <a:r>
              <a:rPr lang="en-US" sz="1600" dirty="0"/>
              <a:t>On queried data</a:t>
            </a:r>
          </a:p>
        </p:txBody>
      </p:sp>
      <p:sp>
        <p:nvSpPr>
          <p:cNvPr id="4" name="TextBox 3">
            <a:extLst>
              <a:ext uri="{FF2B5EF4-FFF2-40B4-BE49-F238E27FC236}">
                <a16:creationId xmlns:a16="http://schemas.microsoft.com/office/drawing/2014/main" id="{C5D1D0E6-27B6-9557-944D-30F8125394FC}"/>
              </a:ext>
            </a:extLst>
          </p:cNvPr>
          <p:cNvSpPr txBox="1"/>
          <p:nvPr/>
        </p:nvSpPr>
        <p:spPr>
          <a:xfrm>
            <a:off x="838200" y="1375418"/>
            <a:ext cx="9245367" cy="400110"/>
          </a:xfrm>
          <a:prstGeom prst="rect">
            <a:avLst/>
          </a:prstGeom>
          <a:noFill/>
        </p:spPr>
        <p:txBody>
          <a:bodyPr wrap="square">
            <a:spAutoFit/>
          </a:bodyPr>
          <a:lstStyle/>
          <a:p>
            <a:r>
              <a:rPr lang="en-US" sz="2000" dirty="0"/>
              <a:t>How does theft of LLMs work</a:t>
            </a:r>
          </a:p>
        </p:txBody>
      </p:sp>
    </p:spTree>
    <p:extLst>
      <p:ext uri="{BB962C8B-B14F-4D97-AF65-F5344CB8AC3E}">
        <p14:creationId xmlns:p14="http://schemas.microsoft.com/office/powerpoint/2010/main" val="287334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6F8F5-597A-B93B-9792-3AA1B91D6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B13B4-BA4E-269C-660D-FB04568DB703}"/>
              </a:ext>
            </a:extLst>
          </p:cNvPr>
          <p:cNvSpPr>
            <a:spLocks noGrp="1"/>
          </p:cNvSpPr>
          <p:nvPr>
            <p:ph type="title"/>
          </p:nvPr>
        </p:nvSpPr>
        <p:spPr>
          <a:xfrm>
            <a:off x="838200" y="363825"/>
            <a:ext cx="10515600" cy="1325563"/>
          </a:xfrm>
        </p:spPr>
        <p:txBody>
          <a:bodyPr/>
          <a:lstStyle/>
          <a:p>
            <a:r>
              <a:rPr lang="en-US" dirty="0"/>
              <a:t>How this works in LLMs</a:t>
            </a:r>
          </a:p>
        </p:txBody>
      </p:sp>
      <p:sp>
        <p:nvSpPr>
          <p:cNvPr id="4" name="TextBox 3">
            <a:extLst>
              <a:ext uri="{FF2B5EF4-FFF2-40B4-BE49-F238E27FC236}">
                <a16:creationId xmlns:a16="http://schemas.microsoft.com/office/drawing/2014/main" id="{A546EAE9-91B7-98DB-AEB6-32156D451FB4}"/>
              </a:ext>
            </a:extLst>
          </p:cNvPr>
          <p:cNvSpPr txBox="1"/>
          <p:nvPr/>
        </p:nvSpPr>
        <p:spPr>
          <a:xfrm>
            <a:off x="838200" y="1375418"/>
            <a:ext cx="9245367" cy="400110"/>
          </a:xfrm>
          <a:prstGeom prst="rect">
            <a:avLst/>
          </a:prstGeom>
          <a:noFill/>
        </p:spPr>
        <p:txBody>
          <a:bodyPr wrap="square">
            <a:spAutoFit/>
          </a:bodyPr>
          <a:lstStyle/>
          <a:p>
            <a:r>
              <a:rPr lang="en-US" sz="2000" dirty="0"/>
              <a:t>LLMs don't output images — so what does a watermark look like?</a:t>
            </a:r>
          </a:p>
        </p:txBody>
      </p:sp>
      <p:sp>
        <p:nvSpPr>
          <p:cNvPr id="9" name="TextBox 8">
            <a:extLst>
              <a:ext uri="{FF2B5EF4-FFF2-40B4-BE49-F238E27FC236}">
                <a16:creationId xmlns:a16="http://schemas.microsoft.com/office/drawing/2014/main" id="{E9635983-E6E5-E424-D1C9-D43AAFFC4025}"/>
              </a:ext>
            </a:extLst>
          </p:cNvPr>
          <p:cNvSpPr txBox="1"/>
          <p:nvPr/>
        </p:nvSpPr>
        <p:spPr>
          <a:xfrm>
            <a:off x="838200" y="1893713"/>
            <a:ext cx="10248900" cy="3693319"/>
          </a:xfrm>
          <a:prstGeom prst="rect">
            <a:avLst/>
          </a:prstGeom>
          <a:noFill/>
        </p:spPr>
        <p:txBody>
          <a:bodyPr wrap="square">
            <a:spAutoFit/>
          </a:bodyPr>
          <a:lstStyle/>
          <a:p>
            <a:pPr marL="285750" indent="-285750">
              <a:buFont typeface="Arial" panose="020B0604020202020204" pitchFamily="34" charset="0"/>
              <a:buChar char="•"/>
            </a:pPr>
            <a:r>
              <a:rPr lang="en-US" dirty="0"/>
              <a:t>When generating text, the model chooses from thousands of possible next tokens</a:t>
            </a:r>
          </a:p>
          <a:p>
            <a:pPr marL="285750" indent="-285750">
              <a:buFont typeface="Arial" panose="020B0604020202020204" pitchFamily="34" charset="0"/>
              <a:buChar char="•"/>
            </a:pPr>
            <a:r>
              <a:rPr lang="en-US" dirty="0"/>
              <a:t>A watermark biases those choices, nudging the model toward specific "green list" tokens when multiple options are equally valid</a:t>
            </a:r>
          </a:p>
          <a:p>
            <a:pPr marL="285750" indent="-285750">
              <a:buFont typeface="Arial" panose="020B0604020202020204" pitchFamily="34" charset="0"/>
              <a:buChar char="•"/>
            </a:pPr>
            <a:r>
              <a:rPr lang="en-US" dirty="0"/>
              <a:t>"The cat sat on the couch" vs "The cat sat on the sofa“, both are correct, but the watermarked model consistently picks one</a:t>
            </a:r>
          </a:p>
          <a:p>
            <a:pPr marL="285750" indent="-285750">
              <a:buFont typeface="Arial" panose="020B0604020202020204" pitchFamily="34" charset="0"/>
              <a:buChar char="•"/>
            </a:pPr>
            <a:r>
              <a:rPr lang="en-US" dirty="0"/>
              <a:t>Over hundreds of outputs, this statistical bias becomes detectable but invisible to a human reader</a:t>
            </a:r>
          </a:p>
          <a:p>
            <a:pPr marL="285750" indent="-285750">
              <a:buFont typeface="Arial" panose="020B0604020202020204" pitchFamily="34" charset="0"/>
              <a:buChar char="•"/>
            </a:pPr>
            <a:r>
              <a:rPr lang="en-US" dirty="0"/>
              <a:t>If a competitor trains on your watermarked outputs, the bias transfers to their model</a:t>
            </a:r>
          </a:p>
          <a:p>
            <a:pPr marL="285750" indent="-285750">
              <a:buFont typeface="Arial" panose="020B0604020202020204" pitchFamily="34" charset="0"/>
              <a:buChar char="•"/>
            </a:pPr>
            <a:r>
              <a:rPr lang="en-US" dirty="0"/>
              <a:t>You can then test the suspect model: generate thousands of responses and check for your token distribution pattern</a:t>
            </a:r>
          </a:p>
          <a:p>
            <a:pPr marL="285750" indent="-285750">
              <a:buFont typeface="Arial" panose="020B0604020202020204" pitchFamily="34" charset="0"/>
              <a:buChar char="•"/>
            </a:pPr>
            <a:r>
              <a:rPr lang="en-US" dirty="0"/>
              <a:t>This is the LLM equivalent of the invisible watermark you just saw with images, except the signal lives in word choice, not pixels</a:t>
            </a:r>
          </a:p>
          <a:p>
            <a:pPr marL="285750" indent="-285750">
              <a:buFont typeface="Arial" panose="020B0604020202020204" pitchFamily="34" charset="0"/>
              <a:buChar char="•"/>
            </a:pPr>
            <a:r>
              <a:rPr lang="en-US" dirty="0"/>
              <a:t>Limitation: watermarks can degrade through paraphrasing or retraining on mixed data, this is still an active area of research</a:t>
            </a:r>
          </a:p>
        </p:txBody>
      </p:sp>
    </p:spTree>
    <p:extLst>
      <p:ext uri="{BB962C8B-B14F-4D97-AF65-F5344CB8AC3E}">
        <p14:creationId xmlns:p14="http://schemas.microsoft.com/office/powerpoint/2010/main" val="3738810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86AB4-C31D-E81F-DDC8-F3C69D8BE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C0DF9-6CFE-F4C1-A7F1-96AA578A0166}"/>
              </a:ext>
            </a:extLst>
          </p:cNvPr>
          <p:cNvSpPr>
            <a:spLocks noGrp="1"/>
          </p:cNvSpPr>
          <p:nvPr>
            <p:ph type="title"/>
          </p:nvPr>
        </p:nvSpPr>
        <p:spPr>
          <a:xfrm>
            <a:off x="838200" y="363825"/>
            <a:ext cx="10515600" cy="1325563"/>
          </a:xfrm>
        </p:spPr>
        <p:txBody>
          <a:bodyPr>
            <a:normAutofit/>
          </a:bodyPr>
          <a:lstStyle/>
          <a:p>
            <a:r>
              <a:rPr lang="en-US" sz="4000" dirty="0"/>
              <a:t>AI agent vulnerabilities mapped to NIST SP 800-53</a:t>
            </a:r>
          </a:p>
        </p:txBody>
      </p:sp>
      <p:graphicFrame>
        <p:nvGraphicFramePr>
          <p:cNvPr id="3" name="Table 2">
            <a:extLst>
              <a:ext uri="{FF2B5EF4-FFF2-40B4-BE49-F238E27FC236}">
                <a16:creationId xmlns:a16="http://schemas.microsoft.com/office/drawing/2014/main" id="{7A9ACEFD-8A53-854B-D88D-4EB37B51E364}"/>
              </a:ext>
            </a:extLst>
          </p:cNvPr>
          <p:cNvGraphicFramePr>
            <a:graphicFrameLocks noGrp="1"/>
          </p:cNvGraphicFramePr>
          <p:nvPr>
            <p:extLst>
              <p:ext uri="{D42A27DB-BD31-4B8C-83A1-F6EECF244321}">
                <p14:modId xmlns:p14="http://schemas.microsoft.com/office/powerpoint/2010/main" val="6866552"/>
              </p:ext>
            </p:extLst>
          </p:nvPr>
        </p:nvGraphicFramePr>
        <p:xfrm>
          <a:off x="838200" y="2035334"/>
          <a:ext cx="10515600" cy="4480560"/>
        </p:xfrm>
        <a:graphic>
          <a:graphicData uri="http://schemas.openxmlformats.org/drawingml/2006/table">
            <a:tbl>
              <a:tblPr/>
              <a:tblGrid>
                <a:gridCol w="2265727">
                  <a:extLst>
                    <a:ext uri="{9D8B030D-6E8A-4147-A177-3AD203B41FA5}">
                      <a16:colId xmlns:a16="http://schemas.microsoft.com/office/drawing/2014/main" val="1054020360"/>
                    </a:ext>
                  </a:extLst>
                </a:gridCol>
                <a:gridCol w="2992073">
                  <a:extLst>
                    <a:ext uri="{9D8B030D-6E8A-4147-A177-3AD203B41FA5}">
                      <a16:colId xmlns:a16="http://schemas.microsoft.com/office/drawing/2014/main" val="1058121889"/>
                    </a:ext>
                  </a:extLst>
                </a:gridCol>
                <a:gridCol w="1915486">
                  <a:extLst>
                    <a:ext uri="{9D8B030D-6E8A-4147-A177-3AD203B41FA5}">
                      <a16:colId xmlns:a16="http://schemas.microsoft.com/office/drawing/2014/main" val="3909148287"/>
                    </a:ext>
                  </a:extLst>
                </a:gridCol>
                <a:gridCol w="3342314">
                  <a:extLst>
                    <a:ext uri="{9D8B030D-6E8A-4147-A177-3AD203B41FA5}">
                      <a16:colId xmlns:a16="http://schemas.microsoft.com/office/drawing/2014/main" val="3141594885"/>
                    </a:ext>
                  </a:extLst>
                </a:gridCol>
              </a:tblGrid>
              <a:tr h="0">
                <a:tc>
                  <a:txBody>
                    <a:bodyPr/>
                    <a:lstStyle/>
                    <a:p>
                      <a:pPr>
                        <a:buNone/>
                      </a:pPr>
                      <a:r>
                        <a:rPr lang="en-US" dirty="0"/>
                        <a:t>Vulnerability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a:t>What happens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a:t>NIST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a:t>What it requires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158526403"/>
                  </a:ext>
                </a:extLst>
              </a:tr>
              <a:tr h="0">
                <a:tc>
                  <a:txBody>
                    <a:bodyPr/>
                    <a:lstStyle/>
                    <a:p>
                      <a:pPr>
                        <a:buNone/>
                      </a:pPr>
                      <a:r>
                        <a:rPr lang="en-US"/>
                        <a:t>Unrestricted API query volume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Attacker makes millions of API calls to systematically extract model behavior into a synthetic training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SI-11: Error handling</a:t>
                      </a:r>
                      <a:r>
                        <a:rPr lang="en-US"/>
                        <a:t> / </a:t>
                      </a:r>
                      <a:r>
                        <a:rPr lang="en-US" b="1"/>
                        <a:t>SC-7: Boundary protection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Rate-limit API calls per user/key, throttle high-volume systematic query patterns that resemble distillation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249353"/>
                  </a:ext>
                </a:extLst>
              </a:tr>
              <a:tr h="0">
                <a:tc>
                  <a:txBody>
                    <a:bodyPr/>
                    <a:lstStyle/>
                    <a:p>
                      <a:pPr>
                        <a:buNone/>
                      </a:pPr>
                      <a:r>
                        <a:rPr lang="en-US"/>
                        <a:t>No output obfuscation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API returns full probability distributions, logits, or high-confidence outputs that make distillation trivially effective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SC-28: Confidentiality of information at rest</a:t>
                      </a:r>
                      <a:r>
                        <a:rPr lang="en-US"/>
                        <a:t> (applied to model internals)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Return only top-k tokens, add calibrated noise to outputs, withhold logits and confidence scores from API responses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187552"/>
                  </a:ext>
                </a:extLst>
              </a:tr>
              <a:tr h="0">
                <a:tc>
                  <a:txBody>
                    <a:bodyPr/>
                    <a:lstStyle/>
                    <a:p>
                      <a:pPr>
                        <a:buNone/>
                      </a:pPr>
                      <a:r>
                        <a:rPr lang="en-US"/>
                        <a:t>No terms-of-service enforcement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API terms prohibit using outputs to train competing models, but there is no technical mechanism to detect or prevent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PL-4: Rules of behavior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Enforce </a:t>
                      </a:r>
                      <a:r>
                        <a:rPr lang="en-US" dirty="0" err="1"/>
                        <a:t>ToS</a:t>
                      </a:r>
                      <a:r>
                        <a:rPr lang="en-US" dirty="0"/>
                        <a:t> with technical controls — embed output watermarks, monitor for bulk extraction patterns, require API key identity verification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274346"/>
                  </a:ext>
                </a:extLst>
              </a:tr>
            </a:tbl>
          </a:graphicData>
        </a:graphic>
      </p:graphicFrame>
      <p:sp>
        <p:nvSpPr>
          <p:cNvPr id="4" name="Rectangle 1">
            <a:extLst>
              <a:ext uri="{FF2B5EF4-FFF2-40B4-BE49-F238E27FC236}">
                <a16:creationId xmlns:a16="http://schemas.microsoft.com/office/drawing/2014/main" id="{59CF9491-06AF-DAB9-8CEC-A5FB38044B06}"/>
              </a:ext>
            </a:extLst>
          </p:cNvPr>
          <p:cNvSpPr>
            <a:spLocks noChangeArrowheads="1"/>
          </p:cNvSpPr>
          <p:nvPr/>
        </p:nvSpPr>
        <p:spPr bwMode="auto">
          <a:xfrm>
            <a:off x="838200" y="1539196"/>
            <a:ext cx="495039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t>NIST mapping — API access &amp; output controls</a:t>
            </a:r>
          </a:p>
          <a:p>
            <a:pPr lvl="0" eaLnBrk="0" fontAlgn="base" hangingPunct="0">
              <a:spcBef>
                <a:spcPct val="0"/>
              </a:spcBef>
              <a:spcAft>
                <a:spcPct val="0"/>
              </a:spcAf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9732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06D54-4261-E076-45ED-CDABF2030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8CB75-5422-6D08-38D2-4972F5795A4D}"/>
              </a:ext>
            </a:extLst>
          </p:cNvPr>
          <p:cNvSpPr>
            <a:spLocks noGrp="1"/>
          </p:cNvSpPr>
          <p:nvPr>
            <p:ph type="title"/>
          </p:nvPr>
        </p:nvSpPr>
        <p:spPr>
          <a:xfrm>
            <a:off x="838200" y="363825"/>
            <a:ext cx="10515600" cy="1325563"/>
          </a:xfrm>
        </p:spPr>
        <p:txBody>
          <a:bodyPr>
            <a:normAutofit/>
          </a:bodyPr>
          <a:lstStyle/>
          <a:p>
            <a:r>
              <a:rPr lang="en-US" sz="4000" dirty="0"/>
              <a:t>AI agent vulnerabilities mapped to NIST SP 800-53</a:t>
            </a:r>
          </a:p>
        </p:txBody>
      </p:sp>
      <p:graphicFrame>
        <p:nvGraphicFramePr>
          <p:cNvPr id="3" name="Table 2">
            <a:extLst>
              <a:ext uri="{FF2B5EF4-FFF2-40B4-BE49-F238E27FC236}">
                <a16:creationId xmlns:a16="http://schemas.microsoft.com/office/drawing/2014/main" id="{62F3FEF2-9A61-70C8-025C-74DA015074E6}"/>
              </a:ext>
            </a:extLst>
          </p:cNvPr>
          <p:cNvGraphicFramePr>
            <a:graphicFrameLocks noGrp="1"/>
          </p:cNvGraphicFramePr>
          <p:nvPr>
            <p:extLst>
              <p:ext uri="{D42A27DB-BD31-4B8C-83A1-F6EECF244321}">
                <p14:modId xmlns:p14="http://schemas.microsoft.com/office/powerpoint/2010/main" val="3053745385"/>
              </p:ext>
            </p:extLst>
          </p:nvPr>
        </p:nvGraphicFramePr>
        <p:xfrm>
          <a:off x="838200" y="2035334"/>
          <a:ext cx="10515600" cy="4267200"/>
        </p:xfrm>
        <a:graphic>
          <a:graphicData uri="http://schemas.openxmlformats.org/drawingml/2006/table">
            <a:tbl>
              <a:tblPr/>
              <a:tblGrid>
                <a:gridCol w="1670108">
                  <a:extLst>
                    <a:ext uri="{9D8B030D-6E8A-4147-A177-3AD203B41FA5}">
                      <a16:colId xmlns:a16="http://schemas.microsoft.com/office/drawing/2014/main" val="1054020360"/>
                    </a:ext>
                  </a:extLst>
                </a:gridCol>
                <a:gridCol w="3078760">
                  <a:extLst>
                    <a:ext uri="{9D8B030D-6E8A-4147-A177-3AD203B41FA5}">
                      <a16:colId xmlns:a16="http://schemas.microsoft.com/office/drawing/2014/main" val="1058121889"/>
                    </a:ext>
                  </a:extLst>
                </a:gridCol>
                <a:gridCol w="1963024">
                  <a:extLst>
                    <a:ext uri="{9D8B030D-6E8A-4147-A177-3AD203B41FA5}">
                      <a16:colId xmlns:a16="http://schemas.microsoft.com/office/drawing/2014/main" val="3909148287"/>
                    </a:ext>
                  </a:extLst>
                </a:gridCol>
                <a:gridCol w="3803708">
                  <a:extLst>
                    <a:ext uri="{9D8B030D-6E8A-4147-A177-3AD203B41FA5}">
                      <a16:colId xmlns:a16="http://schemas.microsoft.com/office/drawing/2014/main" val="3141594885"/>
                    </a:ext>
                  </a:extLst>
                </a:gridCol>
              </a:tblGrid>
              <a:tr h="0">
                <a:tc>
                  <a:txBody>
                    <a:bodyPr/>
                    <a:lstStyle/>
                    <a:p>
                      <a:pPr>
                        <a:buNone/>
                      </a:pPr>
                      <a:r>
                        <a:rPr lang="en-US" sz="1600" dirty="0"/>
                        <a:t>Vulnerability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sz="1600"/>
                        <a:t>What happens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sz="1600"/>
                        <a:t>NIST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sz="1600"/>
                        <a:t>What it requires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158526403"/>
                  </a:ext>
                </a:extLst>
              </a:tr>
              <a:tr h="0">
                <a:tc>
                  <a:txBody>
                    <a:bodyPr/>
                    <a:lstStyle/>
                    <a:p>
                      <a:pPr>
                        <a:buNone/>
                      </a:pPr>
                      <a:r>
                        <a:rPr lang="en-US" sz="1600"/>
                        <a:t>No output watermarking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Model outputs carry no provenance signal — if a competitor trains on them, there is no forensic evidence of theft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AU-10: Non-repudiation</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Embed invisible watermarks in model outputs (statistical patterns in token selection, steganographic signals in generated content) that survive retraining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249353"/>
                  </a:ext>
                </a:extLst>
              </a:tr>
              <a:tr h="0">
                <a:tc>
                  <a:txBody>
                    <a:bodyPr/>
                    <a:lstStyle/>
                    <a:p>
                      <a:pPr>
                        <a:buNone/>
                      </a:pPr>
                      <a:r>
                        <a:rPr lang="en-US" sz="1600"/>
                        <a:t>Watermarks are visible or removable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Attacker detects and strips watermarks from the synthetic dataset before training their substitute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SC-13: Cryptographic protection</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Use cryptographic or statistical watermarks that are imperceptible and survive common removal techniques — distribute the signal across many outputs, not concentrated in any single 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187552"/>
                  </a:ext>
                </a:extLst>
              </a:tr>
              <a:tr h="0">
                <a:tc>
                  <a:txBody>
                    <a:bodyPr/>
                    <a:lstStyle/>
                    <a:p>
                      <a:pPr>
                        <a:buNone/>
                      </a:pPr>
                      <a:r>
                        <a:rPr lang="en-US" sz="1600"/>
                        <a:t>No model fingerprinting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You suspect a competitor cloned your model but have no way to prove behavioral similarity came from your outputs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600" b="1"/>
                        <a:t>AU-10: Non-repudiation</a:t>
                      </a:r>
                      <a:r>
                        <a:rPr lang="fr-FR" sz="1600"/>
                        <a:t> / </a:t>
                      </a:r>
                      <a:r>
                        <a:rPr lang="fr-FR" sz="1600" b="1"/>
                        <a:t>SA-10: Developer configuration management</a:t>
                      </a:r>
                      <a:endParaRPr lang="fr-FR"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Embed canary inputs — unique prompt-response pairs that only your model would produce — and test suspected clones against them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274346"/>
                  </a:ext>
                </a:extLst>
              </a:tr>
            </a:tbl>
          </a:graphicData>
        </a:graphic>
      </p:graphicFrame>
      <p:sp>
        <p:nvSpPr>
          <p:cNvPr id="4" name="Rectangle 1">
            <a:extLst>
              <a:ext uri="{FF2B5EF4-FFF2-40B4-BE49-F238E27FC236}">
                <a16:creationId xmlns:a16="http://schemas.microsoft.com/office/drawing/2014/main" id="{33C8732D-52CE-6EA7-42A9-AF20B835609B}"/>
              </a:ext>
            </a:extLst>
          </p:cNvPr>
          <p:cNvSpPr>
            <a:spLocks noChangeArrowheads="1"/>
          </p:cNvSpPr>
          <p:nvPr/>
        </p:nvSpPr>
        <p:spPr bwMode="auto">
          <a:xfrm>
            <a:off x="838200" y="1539196"/>
            <a:ext cx="48980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t>NIST mapping — Watermarking &amp; provenance</a:t>
            </a:r>
          </a:p>
          <a:p>
            <a:pPr lvl="0" eaLnBrk="0" fontAlgn="base" hangingPunct="0">
              <a:spcBef>
                <a:spcPct val="0"/>
              </a:spcBef>
              <a:spcAft>
                <a:spcPct val="0"/>
              </a:spcAf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9746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B1B44-A27C-AC60-5398-9D6E7DE34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1C869-A3B7-EE42-5DCE-CA847FBA4F20}"/>
              </a:ext>
            </a:extLst>
          </p:cNvPr>
          <p:cNvSpPr>
            <a:spLocks noGrp="1"/>
          </p:cNvSpPr>
          <p:nvPr>
            <p:ph type="title"/>
          </p:nvPr>
        </p:nvSpPr>
        <p:spPr>
          <a:xfrm>
            <a:off x="838200" y="363825"/>
            <a:ext cx="10515600" cy="1325563"/>
          </a:xfrm>
        </p:spPr>
        <p:txBody>
          <a:bodyPr>
            <a:normAutofit/>
          </a:bodyPr>
          <a:lstStyle/>
          <a:p>
            <a:r>
              <a:rPr lang="en-US" sz="4000" dirty="0"/>
              <a:t>AI agent vulnerabilities mapped to NIST SP 800-53</a:t>
            </a:r>
          </a:p>
        </p:txBody>
      </p:sp>
      <p:graphicFrame>
        <p:nvGraphicFramePr>
          <p:cNvPr id="3" name="Table 2">
            <a:extLst>
              <a:ext uri="{FF2B5EF4-FFF2-40B4-BE49-F238E27FC236}">
                <a16:creationId xmlns:a16="http://schemas.microsoft.com/office/drawing/2014/main" id="{124F011A-23EE-5BC6-63F3-FA56FED955E4}"/>
              </a:ext>
            </a:extLst>
          </p:cNvPr>
          <p:cNvGraphicFramePr>
            <a:graphicFrameLocks noGrp="1"/>
          </p:cNvGraphicFramePr>
          <p:nvPr>
            <p:extLst>
              <p:ext uri="{D42A27DB-BD31-4B8C-83A1-F6EECF244321}">
                <p14:modId xmlns:p14="http://schemas.microsoft.com/office/powerpoint/2010/main" val="493210172"/>
              </p:ext>
            </p:extLst>
          </p:nvPr>
        </p:nvGraphicFramePr>
        <p:xfrm>
          <a:off x="838200" y="2035334"/>
          <a:ext cx="10515600" cy="4023360"/>
        </p:xfrm>
        <a:graphic>
          <a:graphicData uri="http://schemas.openxmlformats.org/drawingml/2006/table">
            <a:tbl>
              <a:tblPr/>
              <a:tblGrid>
                <a:gridCol w="1938867">
                  <a:extLst>
                    <a:ext uri="{9D8B030D-6E8A-4147-A177-3AD203B41FA5}">
                      <a16:colId xmlns:a16="http://schemas.microsoft.com/office/drawing/2014/main" val="1054020360"/>
                    </a:ext>
                  </a:extLst>
                </a:gridCol>
                <a:gridCol w="3103033">
                  <a:extLst>
                    <a:ext uri="{9D8B030D-6E8A-4147-A177-3AD203B41FA5}">
                      <a16:colId xmlns:a16="http://schemas.microsoft.com/office/drawing/2014/main" val="1058121889"/>
                    </a:ext>
                  </a:extLst>
                </a:gridCol>
                <a:gridCol w="1498600">
                  <a:extLst>
                    <a:ext uri="{9D8B030D-6E8A-4147-A177-3AD203B41FA5}">
                      <a16:colId xmlns:a16="http://schemas.microsoft.com/office/drawing/2014/main" val="3909148287"/>
                    </a:ext>
                  </a:extLst>
                </a:gridCol>
                <a:gridCol w="3975100">
                  <a:extLst>
                    <a:ext uri="{9D8B030D-6E8A-4147-A177-3AD203B41FA5}">
                      <a16:colId xmlns:a16="http://schemas.microsoft.com/office/drawing/2014/main" val="3141594885"/>
                    </a:ext>
                  </a:extLst>
                </a:gridCol>
              </a:tblGrid>
              <a:tr h="0">
                <a:tc>
                  <a:txBody>
                    <a:bodyPr/>
                    <a:lstStyle/>
                    <a:p>
                      <a:pPr>
                        <a:buNone/>
                      </a:pPr>
                      <a:r>
                        <a:rPr lang="en-US" sz="1600"/>
                        <a:t>Vulnerability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sz="1600"/>
                        <a:t>What happens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sz="1600"/>
                        <a:t>NIST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buNone/>
                      </a:pPr>
                      <a:r>
                        <a:rPr lang="en-US" sz="1600"/>
                        <a:t>What it requires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158526403"/>
                  </a:ext>
                </a:extLst>
              </a:tr>
              <a:tr h="0">
                <a:tc>
                  <a:txBody>
                    <a:bodyPr/>
                    <a:lstStyle/>
                    <a:p>
                      <a:pPr>
                        <a:buNone/>
                      </a:pPr>
                      <a:r>
                        <a:rPr lang="en-US" sz="1600" dirty="0"/>
                        <a:t>No API usage anomaly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Attacker queries millions of structured prompts over weeks and the pattern goes unnoticed because no baseline exists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SI-4: System monitoring</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Establish baseline API usage patterns — alert on anomalies like systematic prompt sweeps, unusually high volume from a single key, or uniform prompt structure suggesting automated extraction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249353"/>
                  </a:ext>
                </a:extLst>
              </a:tr>
              <a:tr h="0">
                <a:tc>
                  <a:txBody>
                    <a:bodyPr/>
                    <a:lstStyle/>
                    <a:p>
                      <a:pPr>
                        <a:buNone/>
                      </a:pPr>
                      <a:r>
                        <a:rPr lang="en-US" sz="1600"/>
                        <a:t>No audit trail of API outputs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Theft is suspected but you cannot prove what data was served to which API key or 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600" b="1"/>
                        <a:t>AU-2 / AU-3: Audit events &amp; content</a:t>
                      </a:r>
                      <a:endParaRPr lang="fr-FR"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Log every API request and response (or a hash of the response) tied to the authenticated identity — retain logs long enough for forensic investigation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187552"/>
                  </a:ext>
                </a:extLst>
              </a:tr>
              <a:tr h="0">
                <a:tc>
                  <a:txBody>
                    <a:bodyPr/>
                    <a:lstStyle/>
                    <a:p>
                      <a:pPr>
                        <a:buNone/>
                      </a:pPr>
                      <a:r>
                        <a:rPr lang="en-US" sz="1600"/>
                        <a:t>No incident playbook for model theft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Team discovers a cloned model in production but has no defined process to prove theft, pursue legal action, or revoke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IR-4: Incident handling</a:t>
                      </a:r>
                      <a:endParaRPr lang="en-US"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Define runbooks for model theft incidents — run canary tests against the suspected clone, preserve API logs as evidence, engage legal, revoke the attacker's API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274346"/>
                  </a:ext>
                </a:extLst>
              </a:tr>
            </a:tbl>
          </a:graphicData>
        </a:graphic>
      </p:graphicFrame>
      <p:sp>
        <p:nvSpPr>
          <p:cNvPr id="4" name="Rectangle 1">
            <a:extLst>
              <a:ext uri="{FF2B5EF4-FFF2-40B4-BE49-F238E27FC236}">
                <a16:creationId xmlns:a16="http://schemas.microsoft.com/office/drawing/2014/main" id="{001FE516-5695-525F-DFDF-B23D5E692C17}"/>
              </a:ext>
            </a:extLst>
          </p:cNvPr>
          <p:cNvSpPr>
            <a:spLocks noChangeArrowheads="1"/>
          </p:cNvSpPr>
          <p:nvPr/>
        </p:nvSpPr>
        <p:spPr bwMode="auto">
          <a:xfrm>
            <a:off x="838200" y="1539196"/>
            <a:ext cx="40167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NIST mapping — Detection &amp; response</a:t>
            </a:r>
          </a:p>
          <a:p>
            <a:pPr lvl="0" eaLnBrk="0" fontAlgn="base" hangingPunct="0">
              <a:spcBef>
                <a:spcPct val="0"/>
              </a:spcBef>
              <a:spcAft>
                <a:spcPct val="0"/>
              </a:spcAf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3396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E9888-6AB7-5E2E-91BA-DBEF587166F0}"/>
              </a:ext>
            </a:extLst>
          </p:cNvPr>
          <p:cNvSpPr>
            <a:spLocks noGrp="1"/>
          </p:cNvSpPr>
          <p:nvPr>
            <p:ph type="title"/>
          </p:nvPr>
        </p:nvSpPr>
        <p:spPr/>
        <p:txBody>
          <a:bodyPr/>
          <a:lstStyle/>
          <a:p>
            <a:r>
              <a:rPr lang="en-US" dirty="0"/>
              <a:t>Recap</a:t>
            </a:r>
          </a:p>
        </p:txBody>
      </p:sp>
      <p:sp>
        <p:nvSpPr>
          <p:cNvPr id="3" name="Rectangle 1">
            <a:extLst>
              <a:ext uri="{FF2B5EF4-FFF2-40B4-BE49-F238E27FC236}">
                <a16:creationId xmlns:a16="http://schemas.microsoft.com/office/drawing/2014/main" id="{818150F2-B24D-5F15-4C14-5AC743C1F2A2}"/>
              </a:ext>
            </a:extLst>
          </p:cNvPr>
          <p:cNvSpPr>
            <a:spLocks noGrp="1" noChangeArrowheads="1"/>
          </p:cNvSpPr>
          <p:nvPr>
            <p:ph idx="1"/>
          </p:nvPr>
        </p:nvSpPr>
        <p:spPr bwMode="auto">
          <a:xfrm>
            <a:off x="838200" y="1601065"/>
            <a:ext cx="9626600" cy="4353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Model theft exploits the gap between the cost to train and the cost to query — millions to build, pennies to extract</a:t>
            </a:r>
          </a:p>
          <a:p>
            <a:r>
              <a:rPr lang="en-US" sz="1800" dirty="0"/>
              <a:t>Distillation through API queries lets attackers train comparable models without the original training data</a:t>
            </a:r>
          </a:p>
          <a:p>
            <a:r>
              <a:rPr lang="en-US" sz="1800" dirty="0"/>
              <a:t>Visible watermarks are easily removed — invisible, statistical watermarks embedded across many outputs are harder to strip</a:t>
            </a:r>
          </a:p>
          <a:p>
            <a:r>
              <a:rPr lang="en-US" sz="1800" dirty="0"/>
              <a:t>Rate limiting and output obfuscation (withholding logits, adding noise) raise the cost of extraction</a:t>
            </a:r>
          </a:p>
          <a:p>
            <a:r>
              <a:rPr lang="en-US" sz="1800" dirty="0"/>
              <a:t>Canary inputs give you forensic proof — unique prompt-response pairs that only your model would produce</a:t>
            </a:r>
          </a:p>
          <a:p>
            <a:r>
              <a:rPr lang="en-US" sz="1800" dirty="0"/>
              <a:t>Log everything: every API call, every key, every response hash — if you can't prove what was served, you can't prove theft</a:t>
            </a:r>
          </a:p>
          <a:p>
            <a:r>
              <a:rPr lang="en-US" sz="1800" dirty="0"/>
              <a:t>The DeepSeek scenario shows this isn't theoretical — model theft is an economic attack on your training investment</a:t>
            </a:r>
          </a:p>
        </p:txBody>
      </p:sp>
    </p:spTree>
    <p:extLst>
      <p:ext uri="{BB962C8B-B14F-4D97-AF65-F5344CB8AC3E}">
        <p14:creationId xmlns:p14="http://schemas.microsoft.com/office/powerpoint/2010/main" val="3088051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4784</TotalTime>
  <Words>1605</Words>
  <Application>Microsoft Office PowerPoint</Application>
  <PresentationFormat>Widescreen</PresentationFormat>
  <Paragraphs>222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Model Theft You do the hard work, someone else piggybacks off it.</vt:lpstr>
      <vt:lpstr>Imagine This Scenario</vt:lpstr>
      <vt:lpstr>Imagine This Scenario</vt:lpstr>
      <vt:lpstr>Imagine This Scenario</vt:lpstr>
      <vt:lpstr>The Deep Seek Scenario</vt:lpstr>
      <vt:lpstr>Understanding Model Theft Using an Image Model</vt:lpstr>
      <vt:lpstr>Understanding Model Theft Using an Image Model</vt:lpstr>
      <vt:lpstr>Understanding Model Theft Using an Image Model</vt:lpstr>
      <vt:lpstr>Understanding Model Theft Using an Image Model</vt:lpstr>
      <vt:lpstr>Understanding Model Theft Using an Image Model</vt:lpstr>
      <vt:lpstr>Understanding Model Theft Using an Image Model</vt:lpstr>
      <vt:lpstr>Understanding Model Theft Using an Image Model</vt:lpstr>
      <vt:lpstr>How this works in LLMs</vt:lpstr>
      <vt:lpstr>How this works in LLMs</vt:lpstr>
      <vt:lpstr>AI agent vulnerabilities mapped to NIST SP 800-53</vt:lpstr>
      <vt:lpstr>AI agent vulnerabilities mapped to NIST SP 800-53</vt:lpstr>
      <vt:lpstr>AI agent vulnerabilities mapped to NIST SP 800-53</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Pavan Reddy</dc:creator>
  <cp:lastModifiedBy>pavanmreddymanage@gmail.com</cp:lastModifiedBy>
  <cp:revision>53</cp:revision>
  <dcterms:created xsi:type="dcterms:W3CDTF">2026-01-27T03:52:05Z</dcterms:created>
  <dcterms:modified xsi:type="dcterms:W3CDTF">2026-03-19T05:13:55Z</dcterms:modified>
</cp:coreProperties>
</file>